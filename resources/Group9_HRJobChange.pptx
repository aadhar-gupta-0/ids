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1E"/>
                </a:solidFill>
                <a:latin typeface="Arial"/>
              </a:defRPr>
            </a:pPr>
            <a:r>
              <a:rPr sz="1300" b="0" i="0" u="none" strike="noStrike">
                <a:solidFill>
                  <a:srgbClr val="16201E"/>
                </a:solidFill>
                <a:latin typeface="Arial"/>
              </a:rPr>
              <a:t>Job-change rate by city development index</a:t>
            </a:r>
          </a:p>
        </c:rich>
      </c:tx>
      <c:layout/>
      <c:overlay val="0"/>
    </c:title>
    <c:autoTitleDeleted val="0"/>
    <c:plotArea>
      <c:layout/>
      <c:barChart>
        <c:barDir val="col"/>
        <c:grouping val="clustered"/>
        <c:varyColors val="0"/>
        <c:ser>
          <c:idx val="0"/>
          <c:order val="0"/>
          <c:tx>
            <c:strRef>
              <c:f>Sheet1!$B$1</c:f>
              <c:strCache>
                <c:ptCount val="1"/>
                <c:pt idx="0">
                  <c:v>Job-change rate</c:v>
                </c:pt>
              </c:strCache>
            </c:strRef>
          </c:tx>
          <c:spPr>
            <a:solidFill>
              <a:srgbClr val="E4572E"/>
            </a:solidFill>
            <a:effectLst/>
          </c:spPr>
          <c:invertIfNegative val="0"/>
          <c:dLbls>
            <c:numFmt formatCode="0%" sourceLinked="0"/>
            <c:txPr>
              <a:bodyPr/>
              <a:lstStyle/>
              <a:p>
                <a:pPr>
                  <a:defRPr b="0" i="0" strike="noStrike" sz="1000" u="none">
                    <a:solidFill>
                      <a:srgbClr val="16201E"/>
                    </a:solidFill>
                    <a:latin typeface="Arial"/>
                  </a:defRPr>
                </a:pPr>
              </a:p>
            </c:txPr>
            <c:showLegendKey val="0"/>
            <c:showVal val="1"/>
            <c:showCatName val="0"/>
            <c:showSerName val="0"/>
            <c:showPercent val="0"/>
            <c:showBubbleSize val="0"/>
            <c:showLeaderLines val="0"/>
          </c:dLbls>
          <c:cat>
            <c:multiLvlStrRef>
              <c:f>Sheet1!$A$2:$A$6</c:f>
              <c:multiLvlStrCache>
                <c:ptCount val="5"/>
                <c:lvl>
                  <c:pt idx="0">
                    <c:v>Below 0.60</c:v>
                  </c:pt>
                  <c:pt idx="1">
                    <c:v>0.60 to 0.70</c:v>
                  </c:pt>
                  <c:pt idx="2">
                    <c:v>0.70 to 0.80</c:v>
                  </c:pt>
                  <c:pt idx="3">
                    <c:v>0.80 to 0.90</c:v>
                  </c:pt>
                  <c:pt idx="4">
                    <c:v>0.90 and up</c:v>
                  </c:pt>
                </c:lvl>
              </c:multiLvlStrCache>
            </c:multiLvlStrRef>
          </c:cat>
          <c:val>
            <c:numRef>
              <c:f>Sheet1!$B$2:$B$6</c:f>
              <c:numCache>
                <c:formatCode>General</c:formatCode>
                <c:ptCount val="5"/>
                <c:pt idx="0">
                  <c:v>0.579</c:v>
                </c:pt>
                <c:pt idx="1">
                  <c:v>0.497</c:v>
                </c:pt>
                <c:pt idx="2">
                  <c:v>0.247</c:v>
                </c:pt>
                <c:pt idx="3">
                  <c:v>0.136</c:v>
                </c:pt>
                <c:pt idx="4">
                  <c:v>0.168</c:v>
                </c:pt>
              </c:numCache>
            </c:numRef>
          </c:val>
        </c:ser>
        <c:dLbls>
          <c:numFmt formatCode="0%" sourceLinked="0"/>
          <c:txPr>
            <a:bodyPr/>
            <a:lstStyle/>
            <a:p>
              <a:pPr>
                <a:defRPr b="0" i="0" strike="noStrike" sz="1000" u="none">
                  <a:solidFill>
                    <a:srgbClr val="16201E"/>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DFDC"/>
            </a:solidFill>
            <a:prstDash val="solid"/>
            <a:round/>
          </a:ln>
        </c:spPr>
        <c:txPr>
          <a:bodyPr/>
          <a:lstStyle/>
          <a:p>
            <a:pPr>
              <a:defRPr sz="1000" b="0" i="0" u="none" strike="noStrike">
                <a:solidFill>
                  <a:srgbClr val="5B6663"/>
                </a:solidFill>
                <a:latin typeface="Arial"/>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D9DFDC"/>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Arial"/>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1E"/>
                </a:solidFill>
                <a:latin typeface="Arial"/>
              </a:defRPr>
            </a:pPr>
            <a:r>
              <a:rPr sz="1300" b="0" i="0" u="none" strike="noStrike">
                <a:solidFill>
                  <a:srgbClr val="16201E"/>
                </a:solidFill>
                <a:latin typeface="Arial"/>
              </a:rPr>
              <a:t>Job-change rate when a value is missing vs present</a:t>
            </a:r>
          </a:p>
        </c:rich>
      </c:tx>
      <c:layout/>
      <c:overlay val="0"/>
    </c:title>
    <c:autoTitleDeleted val="0"/>
    <c:plotArea>
      <c:layout/>
      <c:barChart>
        <c:barDir val="bar"/>
        <c:grouping val="clustered"/>
        <c:varyColors val="0"/>
        <c:ser>
          <c:idx val="0"/>
          <c:order val="0"/>
          <c:tx>
            <c:strRef>
              <c:f>Sheet1!$B$1</c:f>
              <c:strCache>
                <c:ptCount val="1"/>
                <c:pt idx="0">
                  <c:v>Value missing</c:v>
                </c:pt>
              </c:strCache>
            </c:strRef>
          </c:tx>
          <c:spPr>
            <a:solidFill>
              <a:srgbClr val="E4572E"/>
            </a:solidFill>
            <a:effectLst/>
          </c:spPr>
          <c:invertIfNegative val="0"/>
          <c:dLbls>
            <c:numFmt formatCode="0%" sourceLinked="0"/>
            <c:txPr>
              <a:bodyPr/>
              <a:lstStyle/>
              <a:p>
                <a:pPr>
                  <a:defRPr b="0" i="0" strike="noStrike" sz="900" u="none">
                    <a:solidFill>
                      <a:srgbClr val="16201E"/>
                    </a:solidFill>
                    <a:latin typeface="Arial"/>
                  </a:defRPr>
                </a:pPr>
              </a:p>
            </c:txPr>
            <c:showLegendKey val="0"/>
            <c:showVal val="1"/>
            <c:showCatName val="0"/>
            <c:showSerName val="0"/>
            <c:showPercent val="0"/>
            <c:showBubbleSize val="0"/>
            <c:showLeaderLines val="0"/>
          </c:dLbls>
          <c:cat>
            <c:multiLvlStrRef>
              <c:f>Sheet1!$A$2:$A$9</c:f>
              <c:multiLvlStrCache>
                <c:ptCount val="8"/>
                <c:lvl>
                  <c:pt idx="0">
                    <c:v>company_size (31% missing)</c:v>
                  </c:pt>
                  <c:pt idx="1">
                    <c:v>company_type (32%)</c:v>
                  </c:pt>
                  <c:pt idx="2">
                    <c:v>last_new_job (2.2%)</c:v>
                  </c:pt>
                  <c:pt idx="3">
                    <c:v>experience (0.3%)</c:v>
                  </c:pt>
                  <c:pt idx="4">
                    <c:v>enrolled_university (2.0%)</c:v>
                  </c:pt>
                  <c:pt idx="5">
                    <c:v>gender (23.5%)</c:v>
                  </c:pt>
                  <c:pt idx="6">
                    <c:v>education_level (2.4%)</c:v>
                  </c:pt>
                  <c:pt idx="7">
                    <c:v>major_discipline (14.7%)</c:v>
                  </c:pt>
                </c:lvl>
              </c:multiLvlStrCache>
            </c:multiLvlStrRef>
          </c:cat>
          <c:val>
            <c:numRef>
              <c:f>Sheet1!$B$2:$B$9</c:f>
              <c:numCache>
                <c:formatCode>General</c:formatCode>
                <c:ptCount val="8"/>
                <c:pt idx="0">
                  <c:v>0.406</c:v>
                </c:pt>
                <c:pt idx="1">
                  <c:v>0.388</c:v>
                </c:pt>
                <c:pt idx="2">
                  <c:v>0.364</c:v>
                </c:pt>
                <c:pt idx="3">
                  <c:v>0.354</c:v>
                </c:pt>
                <c:pt idx="4">
                  <c:v>0.319</c:v>
                </c:pt>
                <c:pt idx="5">
                  <c:v>0.308</c:v>
                </c:pt>
                <c:pt idx="6">
                  <c:v>0.226</c:v>
                </c:pt>
                <c:pt idx="7">
                  <c:v>0.195</c:v>
                </c:pt>
              </c:numCache>
            </c:numRef>
          </c:val>
        </c:ser>
        <c:ser>
          <c:idx val="1"/>
          <c:order val="1"/>
          <c:tx>
            <c:strRef>
              <c:f>Sheet1!$C$1</c:f>
              <c:strCache>
                <c:ptCount val="1"/>
                <c:pt idx="0">
                  <c:v>Value present</c:v>
                </c:pt>
              </c:strCache>
            </c:strRef>
          </c:tx>
          <c:spPr>
            <a:solidFill>
              <a:srgbClr val="2E6B5E"/>
            </a:solidFill>
            <a:effectLst/>
          </c:spPr>
          <c:invertIfNegative val="0"/>
          <c:dLbls>
            <c:numFmt formatCode="0%" sourceLinked="0"/>
            <c:txPr>
              <a:bodyPr/>
              <a:lstStyle/>
              <a:p>
                <a:pPr>
                  <a:defRPr b="0" i="0" strike="noStrike" sz="900" u="none">
                    <a:solidFill>
                      <a:srgbClr val="16201E"/>
                    </a:solidFill>
                    <a:latin typeface="Arial"/>
                  </a:defRPr>
                </a:pPr>
              </a:p>
            </c:txPr>
            <c:showLegendKey val="0"/>
            <c:showVal val="1"/>
            <c:showCatName val="0"/>
            <c:showSerName val="0"/>
            <c:showPercent val="0"/>
            <c:showBubbleSize val="0"/>
            <c:showLeaderLines val="0"/>
          </c:dLbls>
          <c:cat>
            <c:multiLvlStrRef>
              <c:f>Sheet1!$A$2:$A$9</c:f>
              <c:multiLvlStrCache>
                <c:ptCount val="8"/>
                <c:lvl>
                  <c:pt idx="0">
                    <c:v>company_size (31% missing)</c:v>
                  </c:pt>
                  <c:pt idx="1">
                    <c:v>company_type (32%)</c:v>
                  </c:pt>
                  <c:pt idx="2">
                    <c:v>last_new_job (2.2%)</c:v>
                  </c:pt>
                  <c:pt idx="3">
                    <c:v>experience (0.3%)</c:v>
                  </c:pt>
                  <c:pt idx="4">
                    <c:v>enrolled_university (2.0%)</c:v>
                  </c:pt>
                  <c:pt idx="5">
                    <c:v>gender (23.5%)</c:v>
                  </c:pt>
                  <c:pt idx="6">
                    <c:v>education_level (2.4%)</c:v>
                  </c:pt>
                  <c:pt idx="7">
                    <c:v>major_discipline (14.7%)</c:v>
                  </c:pt>
                </c:lvl>
              </c:multiLvlStrCache>
            </c:multiLvlStrRef>
          </c:cat>
          <c:val>
            <c:numRef>
              <c:f>Sheet1!$C$2:$C$9</c:f>
              <c:numCache>
                <c:formatCode>General</c:formatCode>
                <c:ptCount val="8"/>
                <c:pt idx="0">
                  <c:v>0.179</c:v>
                </c:pt>
                <c:pt idx="1">
                  <c:v>0.184</c:v>
                </c:pt>
                <c:pt idx="2">
                  <c:v>0.247</c:v>
                </c:pt>
                <c:pt idx="3">
                  <c:v>0.249</c:v>
                </c:pt>
                <c:pt idx="4">
                  <c:v>0.248</c:v>
                </c:pt>
                <c:pt idx="5">
                  <c:v>0.231</c:v>
                </c:pt>
                <c:pt idx="6">
                  <c:v>0.25</c:v>
                </c:pt>
                <c:pt idx="7">
                  <c:v>0.259</c:v>
                </c:pt>
              </c:numCache>
            </c:numRef>
          </c:val>
        </c:ser>
        <c:dLbls>
          <c:numFmt formatCode="0%" sourceLinked="0"/>
          <c:txPr>
            <a:bodyPr/>
            <a:lstStyle/>
            <a:p>
              <a:pPr>
                <a:defRPr b="0" i="0" strike="noStrike" sz="900" u="none">
                  <a:solidFill>
                    <a:srgbClr val="16201E"/>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9DFDC"/>
            </a:solidFill>
            <a:prstDash val="solid"/>
            <a:round/>
          </a:ln>
        </c:spPr>
        <c:txPr>
          <a:bodyPr/>
          <a:lstStyle/>
          <a:p>
            <a:pPr>
              <a:defRPr sz="1000" b="0" i="0" u="none" strike="noStrike">
                <a:solidFill>
                  <a:srgbClr val="5B6663"/>
                </a:solidFill>
                <a:latin typeface="Arial"/>
              </a:defRPr>
            </a:pPr>
            <a:endParaRPr lang="en-US"/>
          </a:p>
        </c:txPr>
        <c:crossAx val="2094734552"/>
        <c:crosses val="autoZero"/>
        <c:auto val="1"/>
        <c:lblAlgn val="ctr"/>
        <c:noMultiLvlLbl val="1"/>
      </c:catAx>
      <c:valAx>
        <c:axId val="2094734552"/>
        <c:scaling>
          <c:orientation val="minMax"/>
          <c:max val="0.5"/>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B66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6201E"/>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1E"/>
                </a:solidFill>
                <a:latin typeface="Arial"/>
              </a:defRPr>
            </a:pPr>
            <a:r>
              <a:rPr sz="1300" b="0" i="0" u="none" strike="noStrike">
                <a:solidFill>
                  <a:srgbClr val="16201E"/>
                </a:solidFill>
                <a:latin typeface="Arial"/>
              </a:rPr>
              <a:t>5-fold stratified cross-validation on the training set</a:t>
            </a:r>
          </a:p>
        </c:rich>
      </c:tx>
      <c:layout/>
      <c:overlay val="0"/>
    </c:title>
    <c:autoTitleDeleted val="0"/>
    <c:plotArea>
      <c:layout/>
      <c:barChart>
        <c:barDir val="bar"/>
        <c:grouping val="clustered"/>
        <c:varyColors val="0"/>
        <c:ser>
          <c:idx val="0"/>
          <c:order val="0"/>
          <c:tx>
            <c:strRef>
              <c:f>Sheet1!$B$1</c:f>
              <c:strCache>
                <c:ptCount val="1"/>
                <c:pt idx="0">
                  <c:v>ROC-AUC</c:v>
                </c:pt>
              </c:strCache>
            </c:strRef>
          </c:tx>
          <c:spPr>
            <a:solidFill>
              <a:srgbClr val="2E6B5E"/>
            </a:solidFill>
            <a:effectLst/>
          </c:spPr>
          <c:invertIfNegative val="0"/>
          <c:dLbls>
            <c:numFmt formatCode="0.000" sourceLinked="0"/>
            <c:txPr>
              <a:bodyPr/>
              <a:lstStyle/>
              <a:p>
                <a:pPr>
                  <a:defRPr b="0" i="0" strike="noStrike" sz="1000" u="none">
                    <a:solidFill>
                      <a:srgbClr val="16201E"/>
                    </a:solidFill>
                    <a:latin typeface="Arial"/>
                  </a:defRPr>
                </a:pPr>
              </a:p>
            </c:txPr>
            <c:showLegendKey val="0"/>
            <c:showVal val="1"/>
            <c:showCatName val="0"/>
            <c:showSerName val="0"/>
            <c:showPercent val="0"/>
            <c:showBubbleSize val="0"/>
            <c:showLeaderLines val="0"/>
          </c:dLbls>
          <c:cat>
            <c:multiLvlStrRef>
              <c:f>Sheet1!$A$2:$A$6</c:f>
              <c:multiLvlStrCache>
                <c:ptCount val="5"/>
                <c:lvl>
                  <c:pt idx="0">
                    <c:v>Logistic Regression</c:v>
                  </c:pt>
                  <c:pt idx="1">
                    <c:v>KNN</c:v>
                  </c:pt>
                  <c:pt idx="2">
                    <c:v>Random Forest</c:v>
                  </c:pt>
                  <c:pt idx="3">
                    <c:v>Decision Tree</c:v>
                  </c:pt>
                  <c:pt idx="4">
                    <c:v>Dummy baseline</c:v>
                  </c:pt>
                </c:lvl>
              </c:multiLvlStrCache>
            </c:multiLvlStrRef>
          </c:cat>
          <c:val>
            <c:numRef>
              <c:f>Sheet1!$B$2:$B$6</c:f>
              <c:numCache>
                <c:formatCode>General</c:formatCode>
                <c:ptCount val="5"/>
                <c:pt idx="0">
                  <c:v>0.789</c:v>
                </c:pt>
                <c:pt idx="1">
                  <c:v>0.783</c:v>
                </c:pt>
                <c:pt idx="2">
                  <c:v>0.783</c:v>
                </c:pt>
                <c:pt idx="3">
                  <c:v>0.616</c:v>
                </c:pt>
                <c:pt idx="4">
                  <c:v>0.5</c:v>
                </c:pt>
              </c:numCache>
            </c:numRef>
          </c:val>
        </c:ser>
        <c:ser>
          <c:idx val="1"/>
          <c:order val="1"/>
          <c:tx>
            <c:strRef>
              <c:f>Sheet1!$C$1</c:f>
              <c:strCache>
                <c:ptCount val="1"/>
                <c:pt idx="0">
                  <c:v>F1</c:v>
                </c:pt>
              </c:strCache>
            </c:strRef>
          </c:tx>
          <c:spPr>
            <a:solidFill>
              <a:srgbClr val="E4572E"/>
            </a:solidFill>
            <a:effectLst/>
          </c:spPr>
          <c:invertIfNegative val="0"/>
          <c:dLbls>
            <c:numFmt formatCode="0.000" sourceLinked="0"/>
            <c:txPr>
              <a:bodyPr/>
              <a:lstStyle/>
              <a:p>
                <a:pPr>
                  <a:defRPr b="0" i="0" strike="noStrike" sz="1000" u="none">
                    <a:solidFill>
                      <a:srgbClr val="16201E"/>
                    </a:solidFill>
                    <a:latin typeface="Arial"/>
                  </a:defRPr>
                </a:pPr>
              </a:p>
            </c:txPr>
            <c:showLegendKey val="0"/>
            <c:showVal val="1"/>
            <c:showCatName val="0"/>
            <c:showSerName val="0"/>
            <c:showPercent val="0"/>
            <c:showBubbleSize val="0"/>
            <c:showLeaderLines val="0"/>
          </c:dLbls>
          <c:cat>
            <c:multiLvlStrRef>
              <c:f>Sheet1!$A$2:$A$6</c:f>
              <c:multiLvlStrCache>
                <c:ptCount val="5"/>
                <c:lvl>
                  <c:pt idx="0">
                    <c:v>Logistic Regression</c:v>
                  </c:pt>
                  <c:pt idx="1">
                    <c:v>KNN</c:v>
                  </c:pt>
                  <c:pt idx="2">
                    <c:v>Random Forest</c:v>
                  </c:pt>
                  <c:pt idx="3">
                    <c:v>Decision Tree</c:v>
                  </c:pt>
                  <c:pt idx="4">
                    <c:v>Dummy baseline</c:v>
                  </c:pt>
                </c:lvl>
              </c:multiLvlStrCache>
            </c:multiLvlStrRef>
          </c:cat>
          <c:val>
            <c:numRef>
              <c:f>Sheet1!$C$2:$C$6</c:f>
              <c:numCache>
                <c:formatCode>General</c:formatCode>
                <c:ptCount val="5"/>
                <c:pt idx="0">
                  <c:v>0.607</c:v>
                </c:pt>
                <c:pt idx="1">
                  <c:v>0.545</c:v>
                </c:pt>
                <c:pt idx="2">
                  <c:v>0.588</c:v>
                </c:pt>
                <c:pt idx="3">
                  <c:v>0.424</c:v>
                </c:pt>
                <c:pt idx="4">
                  <c:v>0</c:v>
                </c:pt>
              </c:numCache>
            </c:numRef>
          </c:val>
        </c:ser>
        <c:dLbls>
          <c:numFmt formatCode="0.000" sourceLinked="0"/>
          <c:txPr>
            <a:bodyPr/>
            <a:lstStyle/>
            <a:p>
              <a:pPr>
                <a:defRPr b="0" i="0" strike="noStrike" sz="1000" u="none">
                  <a:solidFill>
                    <a:srgbClr val="16201E"/>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9DFDC"/>
            </a:solidFill>
            <a:prstDash val="solid"/>
            <a:round/>
          </a:ln>
        </c:spPr>
        <c:txPr>
          <a:bodyPr/>
          <a:lstStyle/>
          <a:p>
            <a:pPr>
              <a:defRPr sz="1200" b="0" i="0" u="none" strike="noStrike">
                <a:solidFill>
                  <a:srgbClr val="5B6663"/>
                </a:solidFill>
                <a:latin typeface="Arial"/>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B66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6201E"/>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Recall (job hunters found)</c:v>
                </c:pt>
              </c:strCache>
            </c:strRef>
          </c:tx>
          <c:spPr>
            <a:solidFill>
              <a:srgbClr val="E4572E"/>
            </a:solidFill>
            <a:ln w="31750" cap="flat">
              <a:solidFill>
                <a:srgbClr val="E4572E"/>
              </a:solidFill>
              <a:prstDash val="solid"/>
              <a:round/>
            </a:ln>
            <a:effectLst/>
          </c:spPr>
          <c:invertIfNegative val="0"/>
          <c:dLbls>
            <c:numFmt formatCode="#,##0" sourceLinked="0"/>
            <c:txPr>
              <a:bodyPr/>
              <a:lstStyle/>
              <a:p>
                <a:pPr>
                  <a:defRPr b="0" i="0" strike="noStrike" sz="1000" u="none">
                    <a:solidFill>
                      <a:srgbClr val="16201E"/>
                    </a:solidFill>
                    <a:latin typeface="Arial"/>
                  </a:defRPr>
                </a:pPr>
              </a:p>
            </c:txPr>
            <c:showLegendKey val="0"/>
            <c:showVal val="0"/>
            <c:showCatName val="0"/>
            <c:showSerName val="0"/>
            <c:showPercent val="0"/>
            <c:showBubbleSize val="0"/>
            <c:showLeaderLines val="0"/>
          </c:dLbls>
          <c:marker>
            <c:symbol val="circle"/>
            <c:size val="7"/>
            <c:spPr>
              <a:solidFill>
                <a:srgbClr val="E4572E"/>
              </a:solidFill>
              <a:ln w="9525" cap="flat">
                <a:solidFill>
                  <a:srgbClr val="E4572E"/>
                </a:solidFill>
                <a:prstDash val="solid"/>
                <a:round/>
              </a:ln>
              <a:effectLst/>
            </c:spPr>
          </c:marker>
          <c:cat>
            <c:multiLvlStrRef>
              <c:f>Sheet1!$A$2:$A$7</c:f>
              <c:multiLvlStrCache>
                <c:ptCount val="6"/>
                <c:lvl>
                  <c:pt idx="0">
                    <c:v>0.3</c:v>
                  </c:pt>
                  <c:pt idx="1">
                    <c:v>0.4</c:v>
                  </c:pt>
                  <c:pt idx="2">
                    <c:v>0.5</c:v>
                  </c:pt>
                  <c:pt idx="3">
                    <c:v>0.6</c:v>
                  </c:pt>
                  <c:pt idx="4">
                    <c:v>0.7</c:v>
                  </c:pt>
                  <c:pt idx="5">
                    <c:v>0.8</c:v>
                  </c:pt>
                </c:lvl>
              </c:multiLvlStrCache>
            </c:multiLvlStrRef>
          </c:cat>
          <c:val>
            <c:numRef>
              <c:f>Sheet1!$B$2:$B$7</c:f>
              <c:numCache>
                <c:formatCode>General</c:formatCode>
                <c:ptCount val="6"/>
                <c:pt idx="0">
                  <c:v>0.907</c:v>
                </c:pt>
                <c:pt idx="1">
                  <c:v>0.845</c:v>
                </c:pt>
                <c:pt idx="2">
                  <c:v>0.783</c:v>
                </c:pt>
                <c:pt idx="3">
                  <c:v>0.688</c:v>
                </c:pt>
                <c:pt idx="4">
                  <c:v>0.506</c:v>
                </c:pt>
                <c:pt idx="5">
                  <c:v>0.236</c:v>
                </c:pt>
              </c:numCache>
            </c:numRef>
          </c:val>
          <c:smooth val="0"/>
        </c:ser>
        <c:ser>
          <c:idx val="1"/>
          <c:order val="1"/>
          <c:tx>
            <c:strRef>
              <c:f>Sheet1!$C$1</c:f>
              <c:strCache>
                <c:ptCount val="1"/>
                <c:pt idx="0">
                  <c:v>Precision (flags that are right)</c:v>
                </c:pt>
              </c:strCache>
            </c:strRef>
          </c:tx>
          <c:spPr>
            <a:solidFill>
              <a:srgbClr val="2E6B5E"/>
            </a:solidFill>
            <a:ln w="31750" cap="flat">
              <a:solidFill>
                <a:srgbClr val="2E6B5E"/>
              </a:solidFill>
              <a:prstDash val="solid"/>
              <a:round/>
            </a:ln>
            <a:effectLst/>
          </c:spPr>
          <c:invertIfNegative val="0"/>
          <c:dLbls>
            <c:numFmt formatCode="#,##0" sourceLinked="0"/>
            <c:txPr>
              <a:bodyPr/>
              <a:lstStyle/>
              <a:p>
                <a:pPr>
                  <a:defRPr b="0" i="0" strike="noStrike" sz="1000" u="none">
                    <a:solidFill>
                      <a:srgbClr val="16201E"/>
                    </a:solidFill>
                    <a:latin typeface="Arial"/>
                  </a:defRPr>
                </a:pPr>
              </a:p>
            </c:txPr>
            <c:showLegendKey val="0"/>
            <c:showVal val="0"/>
            <c:showCatName val="0"/>
            <c:showSerName val="0"/>
            <c:showPercent val="0"/>
            <c:showBubbleSize val="0"/>
            <c:showLeaderLines val="0"/>
          </c:dLbls>
          <c:marker>
            <c:symbol val="circle"/>
            <c:size val="7"/>
            <c:spPr>
              <a:solidFill>
                <a:srgbClr val="2E6B5E"/>
              </a:solidFill>
              <a:ln w="9525" cap="flat">
                <a:solidFill>
                  <a:srgbClr val="2E6B5E"/>
                </a:solidFill>
                <a:prstDash val="solid"/>
                <a:round/>
              </a:ln>
              <a:effectLst/>
            </c:spPr>
          </c:marker>
          <c:cat>
            <c:multiLvlStrRef>
              <c:f>Sheet1!$A$2:$A$7</c:f>
              <c:multiLvlStrCache>
                <c:ptCount val="6"/>
                <c:lvl>
                  <c:pt idx="0">
                    <c:v>0.3</c:v>
                  </c:pt>
                  <c:pt idx="1">
                    <c:v>0.4</c:v>
                  </c:pt>
                  <c:pt idx="2">
                    <c:v>0.5</c:v>
                  </c:pt>
                  <c:pt idx="3">
                    <c:v>0.6</c:v>
                  </c:pt>
                  <c:pt idx="4">
                    <c:v>0.7</c:v>
                  </c:pt>
                  <c:pt idx="5">
                    <c:v>0.8</c:v>
                  </c:pt>
                </c:lvl>
              </c:multiLvlStrCache>
            </c:multiLvlStrRef>
          </c:cat>
          <c:val>
            <c:numRef>
              <c:f>Sheet1!$C$2:$C$7</c:f>
              <c:numCache>
                <c:formatCode>General</c:formatCode>
                <c:ptCount val="6"/>
                <c:pt idx="0">
                  <c:v>0.355</c:v>
                </c:pt>
                <c:pt idx="1">
                  <c:v>0.446</c:v>
                </c:pt>
                <c:pt idx="2">
                  <c:v>0.524</c:v>
                </c:pt>
                <c:pt idx="3">
                  <c:v>0.565</c:v>
                </c:pt>
                <c:pt idx="4">
                  <c:v>0.597</c:v>
                </c:pt>
                <c:pt idx="5">
                  <c:v>0.627</c:v>
                </c:pt>
              </c:numCache>
            </c:numRef>
          </c:val>
          <c:smooth val="0"/>
        </c:ser>
        <c:ser>
          <c:idx val="2"/>
          <c:order val="2"/>
          <c:tx>
            <c:strRef>
              <c:f>Sheet1!$D$1</c:f>
              <c:strCache>
                <c:ptCount val="1"/>
                <c:pt idx="0">
                  <c:v>Share of trainees flagged</c:v>
                </c:pt>
              </c:strCache>
            </c:strRef>
          </c:tx>
          <c:spPr>
            <a:solidFill>
              <a:srgbClr val="8A9491"/>
            </a:solidFill>
            <a:ln w="31750" cap="flat">
              <a:solidFill>
                <a:srgbClr val="8A9491"/>
              </a:solidFill>
              <a:prstDash val="solid"/>
              <a:round/>
            </a:ln>
            <a:effectLst/>
          </c:spPr>
          <c:invertIfNegative val="0"/>
          <c:dLbls>
            <c:numFmt formatCode="#,##0" sourceLinked="0"/>
            <c:txPr>
              <a:bodyPr/>
              <a:lstStyle/>
              <a:p>
                <a:pPr>
                  <a:defRPr b="0" i="0" strike="noStrike" sz="1000" u="none">
                    <a:solidFill>
                      <a:srgbClr val="16201E"/>
                    </a:solidFill>
                    <a:latin typeface="Arial"/>
                  </a:defRPr>
                </a:pPr>
              </a:p>
            </c:txPr>
            <c:showLegendKey val="0"/>
            <c:showVal val="0"/>
            <c:showCatName val="0"/>
            <c:showSerName val="0"/>
            <c:showPercent val="0"/>
            <c:showBubbleSize val="0"/>
            <c:showLeaderLines val="0"/>
          </c:dLbls>
          <c:marker>
            <c:symbol val="circle"/>
            <c:size val="7"/>
            <c:spPr>
              <a:solidFill>
                <a:srgbClr val="8A9491"/>
              </a:solidFill>
              <a:ln w="9525" cap="flat">
                <a:solidFill>
                  <a:srgbClr val="8A9491"/>
                </a:solidFill>
                <a:prstDash val="solid"/>
                <a:round/>
              </a:ln>
              <a:effectLst/>
            </c:spPr>
          </c:marker>
          <c:cat>
            <c:multiLvlStrRef>
              <c:f>Sheet1!$A$2:$A$7</c:f>
              <c:multiLvlStrCache>
                <c:ptCount val="6"/>
                <c:lvl>
                  <c:pt idx="0">
                    <c:v>0.3</c:v>
                  </c:pt>
                  <c:pt idx="1">
                    <c:v>0.4</c:v>
                  </c:pt>
                  <c:pt idx="2">
                    <c:v>0.5</c:v>
                  </c:pt>
                  <c:pt idx="3">
                    <c:v>0.6</c:v>
                  </c:pt>
                  <c:pt idx="4">
                    <c:v>0.7</c:v>
                  </c:pt>
                  <c:pt idx="5">
                    <c:v>0.8</c:v>
                  </c:pt>
                </c:lvl>
              </c:multiLvlStrCache>
            </c:multiLvlStrRef>
          </c:cat>
          <c:val>
            <c:numRef>
              <c:f>Sheet1!$D$2:$D$7</c:f>
              <c:numCache>
                <c:formatCode>General</c:formatCode>
                <c:ptCount val="6"/>
                <c:pt idx="0">
                  <c:v>0.637</c:v>
                </c:pt>
                <c:pt idx="1">
                  <c:v>0.473</c:v>
                </c:pt>
                <c:pt idx="2">
                  <c:v>0.373</c:v>
                </c:pt>
                <c:pt idx="3">
                  <c:v>0.303</c:v>
                </c:pt>
                <c:pt idx="4">
                  <c:v>0.211</c:v>
                </c:pt>
                <c:pt idx="5">
                  <c:v>0.094</c:v>
                </c:pt>
              </c:numCache>
            </c:numRef>
          </c:val>
          <c:smooth val="0"/>
        </c:ser>
        <c:dLbls>
          <c:numFmt formatCode="#,##0" sourceLinked="0"/>
          <c:txPr>
            <a:bodyPr/>
            <a:lstStyle/>
            <a:p>
              <a:pPr>
                <a:defRPr b="0" i="0" strike="noStrike" sz="1000" u="none">
                  <a:solidFill>
                    <a:srgbClr val="16201E"/>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50" b="0" i="0" u="none" strike="noStrike">
                    <a:solidFill>
                      <a:srgbClr val="5B6663"/>
                    </a:solidFill>
                    <a:latin typeface="Arial"/>
                  </a:defRPr>
                </a:pPr>
                <a:r>
                  <a:rPr sz="1050" b="0" i="0" u="none" strike="noStrike">
                    <a:solidFill>
                      <a:srgbClr val="5B6663"/>
                    </a:solidFill>
                    <a:latin typeface="Arial"/>
                  </a:rPr>
                  <a:t>Probability threshold</a:t>
                </a:r>
              </a:p>
            </c:rich>
          </c:tx>
          <c:layout/>
          <c:overlay val="0"/>
        </c:title>
        <c:numFmt formatCode="General" sourceLinked="1"/>
        <c:majorTickMark val="out"/>
        <c:minorTickMark val="none"/>
        <c:tickLblPos val="low"/>
        <c:spPr>
          <a:ln w="12700" cap="flat">
            <a:solidFill>
              <a:srgbClr val="D9DFDC"/>
            </a:solidFill>
            <a:prstDash val="solid"/>
            <a:round/>
          </a:ln>
        </c:spPr>
        <c:txPr>
          <a:bodyPr/>
          <a:lstStyle/>
          <a:p>
            <a:pPr>
              <a:defRPr sz="1100" b="0" i="0" u="none" strike="noStrike">
                <a:solidFill>
                  <a:srgbClr val="5B6663"/>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FDC"/>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Arial"/>
              </a:defRPr>
            </a:pPr>
            <a:endParaRPr lang="en-US"/>
          </a:p>
        </c:txPr>
        <c:crossAx val="2094734554"/>
        <c:crosses val="autoZero"/>
        <c:crossBetween val="between"/>
        <c:majorUnit val="0.25"/>
      </c:valAx>
      <c:spPr>
        <a:noFill/>
        <a:ln>
          <a:noFill/>
        </a:ln>
        <a:effectLst/>
      </c:spPr>
    </c:plotArea>
    <c:legend>
      <c:legendPos val="r"/>
      <c:overlay val="0"/>
      <c:txPr>
        <a:bodyPr/>
        <a:lstStyle/>
        <a:p>
          <a:pPr>
            <a:defRPr sz="1050">
              <a:solidFill>
                <a:srgbClr val="16201E"/>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1E"/>
                </a:solidFill>
                <a:latin typeface="Arial"/>
              </a:defRPr>
            </a:pPr>
            <a:r>
              <a:rPr sz="1300" b="0" i="0" u="none" strike="noStrike">
                <a:solidFill>
                  <a:srgbClr val="16201E"/>
                </a:solidFill>
                <a:latin typeface="Arial"/>
              </a:rPr>
              <a:t>Drop in test ROC-AUC when each column is shuffled</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2E6B5E"/>
            </a:solidFill>
            <a:effectLst/>
          </c:spPr>
          <c:invertIfNegative val="0"/>
          <c:dLbls>
            <c:numFmt formatCode="0.0000" sourceLinked="0"/>
            <c:txPr>
              <a:bodyPr/>
              <a:lstStyle/>
              <a:p>
                <a:pPr>
                  <a:defRPr b="0" i="0" strike="noStrike" sz="900" u="none">
                    <a:solidFill>
                      <a:srgbClr val="16201E"/>
                    </a:solidFill>
                    <a:latin typeface="Arial"/>
                  </a:defRPr>
                </a:pPr>
              </a:p>
            </c:txPr>
            <c:showLegendKey val="0"/>
            <c:showVal val="1"/>
            <c:showCatName val="0"/>
            <c:showSerName val="0"/>
            <c:showPercent val="0"/>
            <c:showBubbleSize val="0"/>
            <c:showLeaderLines val="0"/>
          </c:dLbls>
          <c:cat>
            <c:multiLvlStrRef>
              <c:f>Sheet1!$A$2:$A$13</c:f>
              <c:multiLvlStrCache>
                <c:ptCount val="12"/>
                <c:lvl>
                  <c:pt idx="0">
                    <c:v>city_development_index</c:v>
                  </c:pt>
                  <c:pt idx="1">
                    <c:v>company_type</c:v>
                  </c:pt>
                  <c:pt idx="2">
                    <c:v>city</c:v>
                  </c:pt>
                  <c:pt idx="3">
                    <c:v>major_discipline</c:v>
                  </c:pt>
                  <c:pt idx="4">
                    <c:v>company_size</c:v>
                  </c:pt>
                  <c:pt idx="5">
                    <c:v>experience_num</c:v>
                  </c:pt>
                  <c:pt idx="6">
                    <c:v>enrolled_university</c:v>
                  </c:pt>
                  <c:pt idx="7">
                    <c:v>relevent_experience</c:v>
                  </c:pt>
                  <c:pt idx="8">
                    <c:v>education_level</c:v>
                  </c:pt>
                  <c:pt idx="9">
                    <c:v>training_hours</c:v>
                  </c:pt>
                  <c:pt idx="10">
                    <c:v>last_new_job_num</c:v>
                  </c:pt>
                  <c:pt idx="11">
                    <c:v>gender</c:v>
                  </c:pt>
                </c:lvl>
              </c:multiLvlStrCache>
            </c:multiLvlStrRef>
          </c:cat>
          <c:val>
            <c:numRef>
              <c:f>Sheet1!$B$2:$B$13</c:f>
              <c:numCache>
                <c:formatCode>General</c:formatCode>
                <c:ptCount val="12"/>
                <c:pt idx="0">
                  <c:v>0.0975</c:v>
                </c:pt>
                <c:pt idx="1">
                  <c:v>0.0503</c:v>
                </c:pt>
                <c:pt idx="2">
                  <c:v>0.0475</c:v>
                </c:pt>
                <c:pt idx="3">
                  <c:v>0.0167</c:v>
                </c:pt>
                <c:pt idx="4">
                  <c:v>0.0104</c:v>
                </c:pt>
                <c:pt idx="5">
                  <c:v>0.0043</c:v>
                </c:pt>
                <c:pt idx="6">
                  <c:v>0.0036</c:v>
                </c:pt>
                <c:pt idx="7">
                  <c:v>0.0035</c:v>
                </c:pt>
                <c:pt idx="8">
                  <c:v>0.0009</c:v>
                </c:pt>
                <c:pt idx="9">
                  <c:v>0.0008</c:v>
                </c:pt>
                <c:pt idx="10">
                  <c:v>0.0008</c:v>
                </c:pt>
                <c:pt idx="11">
                  <c:v>0.0006</c:v>
                </c:pt>
              </c:numCache>
            </c:numRef>
          </c:val>
        </c:ser>
        <c:dLbls>
          <c:numFmt formatCode="0.0000" sourceLinked="0"/>
          <c:txPr>
            <a:bodyPr/>
            <a:lstStyle/>
            <a:p>
              <a:pPr>
                <a:defRPr b="0" i="0" strike="noStrike" sz="900" u="none">
                  <a:solidFill>
                    <a:srgbClr val="16201E"/>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9DFDC"/>
            </a:solidFill>
            <a:prstDash val="solid"/>
            <a:round/>
          </a:ln>
        </c:spPr>
        <c:txPr>
          <a:bodyPr/>
          <a:lstStyle/>
          <a:p>
            <a:pPr>
              <a:defRPr sz="1000" b="0" i="0" u="none" strike="noStrike">
                <a:solidFill>
                  <a:srgbClr val="5B6663"/>
                </a:solidFill>
                <a:latin typeface="Arial"/>
              </a:defRPr>
            </a:pPr>
            <a:endParaRPr lang="en-US"/>
          </a:p>
        </c:txPr>
        <c:crossAx val="2094734552"/>
        <c:crosses val="autoZero"/>
        <c:auto val="1"/>
        <c:lblAlgn val="ctr"/>
        <c:noMultiLvlLbl val="1"/>
      </c:catAx>
      <c:valAx>
        <c:axId val="2094734552"/>
        <c:scaling>
          <c:orientation val="minMax"/>
          <c:max val="0.125"/>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B666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(The detective), about 1:00
Hi everyone, we're Group 9. Before we explain anything, a quick game.
Each of these 100 dots is a trainee at a company that teaches data science. Some of them are quietly looking for a new job. How many? Just shout out a number.
[Pause. Take two or three guesses and react to them: "Optimistic." "Ooh, bold."]
[CLICK]
Twenty-five. One in four.
That's our whole project in one picture. This company wants to hire the people it trains, so it needs to find that one in four before somebody else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(The detective), about 1:00
Here's HR's problem. Just over nineteen thousand trainees in our data, and a handful of recruiters.
Drake has the right idea. Nobody wants to call nineteen thousand people one by one. We'd rather have a model rank them, so recruiters start at the top of the list.
So our question is: from someone's education, experience, current employer and city, can we predict whether they're looking for a job change?
One thing before we go on, because it catches everyone out. Only a quarter of people are looking. So a lazy model that says "nobody's leaving" is right 75% of the time. Sounds great. Finds zero people.
That's why we judge our models on ROC-AUC and F1, not accuracy. Hold on to that, it comes back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(The detective), about 1:30
Another game. These are two real trainees from the test file. Both are graduates, both studied STEM.
Trainee A has over twenty years of experience, works at a huge private company, and hasn't changed jobs in more than four years.
Trainee B has less than a year of experience, no employer on record, is doing a full-time course, and lives in city 21.
Hands up if you think it's A... and hands up for B.
[CLICK]
The model gives A a 26% chance of moving, and B 96%.
The chart shows the biggest reason. This is the job-change rate by how developed a trainee's city is. In the least developed cities it's close to 60%. In the most developed ones, under 20%.
Experience matters too: 45% of people with under a year are looking, against 15% after twenty years. And training hours, which you'd think a training company cares about? A correlation of minus 0.02. Basically nothing.
Hand-off: Which brings us to the messy part. [Speaker 2], over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(The cleaner), about 1:00
Thanks. So, real data is messy. Some of our columns were missing a third of their values.
The textbook move is to drop every row with a missing value. Nice and clean.
We checked what that would actually do first. It deletes 53% of the data, and the job-change rate in what's left falls from 25% to 17%. Pikachu's face is our face.
The chart shows why. When company size is missing, 41% of those people are job hunting. When it's filled in, it's 18%. The job hunters are hiding in the missing rows, probably because a lot of them don't have an employer to write down.
So we kept every row. A missing category became its own "Unknown" category, and missing numbers got the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(The cleaner), about 1:00
Models only speak numbers, so this is how our text turned into numbers.
We start with 13 columns. The ID goes first, because an ID number tells you nothing about a person. Experience and years since the last job change were text, like "less than 1" or "more than 20", so we turned them into actual numbers of years.
Then each type of column gets its own treatment. Categories with no order, like city or gender, get one-hot encoded: one yes-or-no column for each category. Things with a real order, like education level and company size, get ordered codes. Numbers get scaled, so no column shouts louder than the others.
End result: 152 features. And all of this lives inside one pipeline, so it only ever learns from the training data. No peeking at the test set.
Hand-off: [Speaker 3], take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(The trainer), about 1:15
Right. We took five models and made them compete: logistic regression, KNN, random forest, a decision tree, and a dummy model that always says "not leaving". Place your bets. Who wins?
[Pause for a guess or two.]
[CLICK]
Logistic regression, the simplest real model on the list. Random forest and KNN finished within 0.007 of it, which is about the normal wobble between folds. The decision tree basically memorised its homework and scored 0.62.
[CLICK]
So yes: corporate needs you to find the difference between a 300-tree random forest and one equation, and there isn't one.
When it's a tie, we keep the simple one, because when HR asks "why was this person flagged?", logistic regression can actually answer. Then we tuned it with grid search: C of 0.1 with L2 regularisation, which nudged it from 0.789 to 0.791.
Hand-off: Now let's see how it did on data it had never seen. [Speaker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(The judge), about 1:15
Report card time. We kept 20% of the data locked away for the whole project and opened it once, right at the end.
ROC-AUC of 0.81. In plain English: pick one person who's job hunting and one who isn't, and 81% of the time the model ranks the job hunter higher.
Recall is 78%, so out of everyone who's actually looking, we find almost four in five. Precision is 52%: about half the people we flag really are looking. That might sound low, but if you called people at random you'd hit one in four. So we're twice as good as guessing.
In the grid: 748 job hunters caught, 207 missed, and 680 false alarms.
[CLICK]
And remember the dummy model? 75% accuracy, zero job hunters found, sitting in a burning room saying this is fine. That's exactly why we never trusted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(The judge), about 1:00
Now you're HR, and you've got two recruiters. The model gives every trainee a probability, and you decide the cut-off. Do you want to catch more job hunters, or waste fewer calls?
[Pause. Let someone answer.]
[CLICK]
Cut-off at 0.5: you call 37% of trainees and reach 78% of the job hunters. That's the wide net.
[CLICK]
Cut-off at 0.7: you call only 21%, you reach about half the job hunters, but 60% of your calls land. That's the short list.
Neither one is wrong. It depends on how many recruiters you have and how bad it is to miss someone. That's a business decision, not a maths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(The judge), about 1:00
So what is the model actually looking at? We shuffled one column at a time and watched how much the score dropped. The bigger the drop, the more the model depends on that column.
And the model only has eyes for one thing: city development index. Company type and city come next. Training hours, the one you'd expect a training company to care about, barely gets a glance. Hence the meme.
Two numbers to remember: in the least developed cities 58% are job hunting, against 17% in the most developed. And gender? Taking it out of the model costs 0.0003. Basically nothing, so we'd remove it.
Hand-off: [Speaker 5], bring it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(The storyteller), about 1:00
So, the big question: can we tell HR who's about to leave? Yes, well enough to rank people.
ROC-AUC of 0.81, and when we re-ran the whole thing with five different random splits, it stayed between 0.78 and 0.81. So it wasn't a lucky split.
Three things we'd tell HR. One: rank, don't label. Use the score to decide who to call first, never to decide anything about a person. Two: pick the cut-off based on how many recruiters you've got. Three: focus campaigns on trainees from less developed cities and people early in their careers, because that's where the movers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(The storyteller), about 1:00
Now the honest bit. Our model isn't perfect.
About half the people it flags aren't actually looking. Some people just like free courses. So a person should always check the list before anyone picks up the phone.
City and gender could act as stand-ins for someone's background, so before anyone used this for real we'd want a proper fairness check. And this is one programme at one point in time, so it needs re-checking on new groups.
With more time, we'd try gradient boosting, which usually does a bit better on data like this. We'd drop gender and compare errors between groups, calibrate the probabilities, and retrain with every new batch of trainees.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(The storyteller), about 0:30
And that's who did what.
[Point to each card, or have each person give a quick wave when their card is mentioned.]
Thanks for listening. We're happy to take questions. And yes, we can explain the memes.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4-1.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6-1.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8-1.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9-1.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1F"/>
        </a:solidFill>
      </p:bgPr>
    </p:bg>
    <p:spTree>
      <p:nvGrpSpPr>
        <p:cNvPr id="1" name=""/>
        <p:cNvGrpSpPr/>
        <p:nvPr/>
      </p:nvGrpSpPr>
      <p:grpSpPr>
        <a:xfrm>
          <a:off x="0" y="0"/>
          <a:ext cx="0" cy="0"/>
          <a:chOff x="0" y="0"/>
          <a:chExt cx="0" cy="0"/>
        </a:xfrm>
      </p:grpSpPr>
      <p:sp>
        <p:nvSpPr>
          <p:cNvPr id="2" name="Shape 0"/>
          <p:cNvSpPr/>
          <p:nvPr/>
        </p:nvSpPr>
        <p:spPr>
          <a:xfrm>
            <a:off x="548640" y="640080"/>
            <a:ext cx="2534717" cy="310896"/>
          </a:xfrm>
          <a:prstGeom prst="roundRect">
            <a:avLst>
              <a:gd name="adj" fmla="val 50000"/>
            </a:avLst>
          </a:prstGeom>
          <a:solidFill>
            <a:srgbClr val="FFFFFF"/>
          </a:solidFill>
          <a:ln w="12700">
            <a:solidFill>
              <a:srgbClr val="FFFFFF"/>
            </a:solidFill>
            <a:prstDash val="solid"/>
          </a:ln>
        </p:spPr>
      </p:sp>
      <p:sp>
        <p:nvSpPr>
          <p:cNvPr id="3" name="Text 1"/>
          <p:cNvSpPr txBox="1"/>
          <p:nvPr/>
        </p:nvSpPr>
        <p:spPr>
          <a:xfrm>
            <a:off x="548640" y="640080"/>
            <a:ext cx="2534717" cy="310896"/>
          </a:xfrm>
          <a:prstGeom prst="rect">
            <a:avLst/>
          </a:prstGeom>
          <a:noFill/>
          <a:ln/>
        </p:spPr>
        <p:txBody>
          <a:bodyPr wrap="square" lIns="0" tIns="0" rIns="0" bIns="0" rtlCol="0" anchor="ctr"/>
          <a:lstStyle/>
          <a:p>
            <a:pPr algn="ctr" indent="0" marL="0">
              <a:buNone/>
            </a:pPr>
            <a:r>
              <a:rPr lang="en-US" sz="1050" b="1" spc="200" kern="0" dirty="0">
                <a:solidFill>
                  <a:srgbClr val="12211F"/>
                </a:solidFill>
                <a:latin typeface="Arial" pitchFamily="34" charset="0"/>
                <a:ea typeface="Arial" pitchFamily="34" charset="-122"/>
                <a:cs typeface="Arial" pitchFamily="34" charset="-120"/>
              </a:rPr>
              <a:t>GROUP 9  ·  HR ANALYTICS</a:t>
            </a:r>
            <a:endParaRPr lang="en-US" sz="1050" dirty="0"/>
          </a:p>
        </p:txBody>
      </p:sp>
      <p:sp>
        <p:nvSpPr>
          <p:cNvPr id="4" name="Text 2"/>
          <p:cNvSpPr txBox="1"/>
          <p:nvPr/>
        </p:nvSpPr>
        <p:spPr>
          <a:xfrm>
            <a:off x="548640" y="1737360"/>
            <a:ext cx="6217920" cy="2103120"/>
          </a:xfrm>
          <a:prstGeom prst="rect">
            <a:avLst/>
          </a:prstGeom>
          <a:noFill/>
          <a:ln/>
        </p:spPr>
        <p:txBody>
          <a:bodyPr wrap="square" lIns="0" tIns="0" rIns="0" bIns="0" rtlCol="0" anchor="b"/>
          <a:lstStyle/>
          <a:p>
            <a:pPr indent="0" marL="0">
              <a:buNone/>
            </a:pPr>
            <a:r>
              <a:rPr lang="en-US" sz="6000" b="1" dirty="0">
                <a:solidFill>
                  <a:srgbClr val="FFFFFF"/>
                </a:solidFill>
                <a:latin typeface="Georgia" pitchFamily="34" charset="0"/>
                <a:ea typeface="Georgia" pitchFamily="34" charset="-122"/>
                <a:cs typeface="Georgia" pitchFamily="34" charset="-120"/>
              </a:rPr>
              <a:t>Who is about to leave?</a:t>
            </a:r>
            <a:endParaRPr lang="en-US" sz="6000" dirty="0"/>
          </a:p>
        </p:txBody>
      </p:sp>
      <p:sp>
        <p:nvSpPr>
          <p:cNvPr id="5" name="Text 3"/>
          <p:cNvSpPr txBox="1"/>
          <p:nvPr/>
        </p:nvSpPr>
        <p:spPr>
          <a:xfrm>
            <a:off x="548640" y="4023360"/>
            <a:ext cx="5760720" cy="914400"/>
          </a:xfrm>
          <a:prstGeom prst="rect">
            <a:avLst/>
          </a:prstGeom>
          <a:noFill/>
          <a:ln/>
        </p:spPr>
        <p:txBody>
          <a:bodyPr wrap="square" lIns="0" tIns="0" rIns="0" bIns="0" rtlCol="0" anchor="t"/>
          <a:lstStyle/>
          <a:p>
            <a:pPr indent="0" marL="0">
              <a:buNone/>
            </a:pPr>
            <a:r>
              <a:rPr lang="en-US" sz="2000" dirty="0">
                <a:solidFill>
                  <a:srgbClr val="B9C6C2"/>
                </a:solidFill>
                <a:latin typeface="Arial" pitchFamily="34" charset="0"/>
                <a:ea typeface="Arial" pitchFamily="34" charset="-122"/>
                <a:cs typeface="Arial" pitchFamily="34" charset="-120"/>
              </a:rPr>
              <a:t>Predicting which data-science trainees are looking for a job change</a:t>
            </a:r>
            <a:endParaRPr lang="en-US" sz="2000" dirty="0"/>
          </a:p>
        </p:txBody>
      </p:sp>
      <p:sp>
        <p:nvSpPr>
          <p:cNvPr id="6" name="Text 4"/>
          <p:cNvSpPr txBox="1"/>
          <p:nvPr/>
        </p:nvSpPr>
        <p:spPr>
          <a:xfrm>
            <a:off x="548640" y="6172200"/>
            <a:ext cx="6583680" cy="274320"/>
          </a:xfrm>
          <a:prstGeom prst="rect">
            <a:avLst/>
          </a:prstGeom>
          <a:noFill/>
          <a:ln/>
        </p:spPr>
        <p:txBody>
          <a:bodyPr wrap="square" lIns="0" tIns="0" rIns="0" bIns="0" rtlCol="0" anchor="t"/>
          <a:lstStyle/>
          <a:p>
            <a:pPr indent="0" marL="0">
              <a:buNone/>
            </a:pPr>
            <a:r>
              <a:rPr lang="en-US" sz="1100" dirty="0">
                <a:solidFill>
                  <a:srgbClr val="B9C6C2"/>
                </a:solidFill>
                <a:latin typeface="Arial" pitchFamily="34" charset="0"/>
                <a:ea typeface="Arial" pitchFamily="34" charset="-122"/>
                <a:cs typeface="Arial" pitchFamily="34" charset="-120"/>
              </a:rPr>
              <a:t>Data: Kaggle, HR Analytics: Job Change of Data Scientists  ·  19,158 candidates</a:t>
            </a:r>
            <a:endParaRPr lang="en-US" sz="1100" dirty="0"/>
          </a:p>
        </p:txBody>
      </p:sp>
      <p:sp>
        <p:nvSpPr>
          <p:cNvPr id="7" name="Shape 5"/>
          <p:cNvSpPr/>
          <p:nvPr/>
        </p:nvSpPr>
        <p:spPr>
          <a:xfrm>
            <a:off x="7543800" y="640080"/>
            <a:ext cx="1369771" cy="310896"/>
          </a:xfrm>
          <a:prstGeom prst="roundRect">
            <a:avLst>
              <a:gd name="adj" fmla="val 50000"/>
            </a:avLst>
          </a:prstGeom>
          <a:solidFill>
            <a:srgbClr val="FFD23F"/>
          </a:solidFill>
          <a:ln w="12700">
            <a:solidFill>
              <a:srgbClr val="FFD23F"/>
            </a:solidFill>
            <a:prstDash val="solid"/>
          </a:ln>
        </p:spPr>
      </p:sp>
      <p:sp>
        <p:nvSpPr>
          <p:cNvPr id="8" name="Text 6"/>
          <p:cNvSpPr txBox="1"/>
          <p:nvPr/>
        </p:nvSpPr>
        <p:spPr>
          <a:xfrm>
            <a:off x="7543800" y="640080"/>
            <a:ext cx="1369771" cy="310896"/>
          </a:xfrm>
          <a:prstGeom prst="rect">
            <a:avLst/>
          </a:prstGeom>
          <a:noFill/>
          <a:ln/>
        </p:spPr>
        <p:txBody>
          <a:bodyPr wrap="square" lIns="0" tIns="0" rIns="0" bIns="0" rtlCol="0" anchor="ctr"/>
          <a:lstStyle/>
          <a:p>
            <a:pPr algn="ctr" indent="0" marL="0">
              <a:buNone/>
            </a:pPr>
            <a:r>
              <a:rPr lang="en-US" sz="1050" b="1" spc="200" kern="0" dirty="0">
                <a:solidFill>
                  <a:srgbClr val="12211F"/>
                </a:solidFill>
                <a:latin typeface="Arial" pitchFamily="34" charset="0"/>
                <a:ea typeface="Arial" pitchFamily="34" charset="-122"/>
                <a:cs typeface="Arial" pitchFamily="34" charset="-120"/>
              </a:rPr>
              <a:t>GUESS FIRST</a:t>
            </a:r>
            <a:endParaRPr lang="en-US" sz="1050" dirty="0"/>
          </a:p>
        </p:txBody>
      </p:sp>
      <p:sp>
        <p:nvSpPr>
          <p:cNvPr id="9" name="Text 7"/>
          <p:cNvSpPr txBox="1"/>
          <p:nvPr/>
        </p:nvSpPr>
        <p:spPr>
          <a:xfrm>
            <a:off x="7543800" y="1033272"/>
            <a:ext cx="4206240" cy="54864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Out of these 100 trainees, how many are job hunting?</a:t>
            </a:r>
            <a:endParaRPr lang="en-US" sz="1400" dirty="0"/>
          </a:p>
        </p:txBody>
      </p:sp>
      <p:sp>
        <p:nvSpPr>
          <p:cNvPr id="10" name="Shape 8"/>
          <p:cNvSpPr/>
          <p:nvPr/>
        </p:nvSpPr>
        <p:spPr>
          <a:xfrm>
            <a:off x="7543800" y="1737360"/>
            <a:ext cx="274320" cy="274320"/>
          </a:xfrm>
          <a:prstGeom prst="ellipse">
            <a:avLst/>
          </a:prstGeom>
          <a:solidFill>
            <a:srgbClr val="2C3F3B"/>
          </a:solidFill>
          <a:ln w="12700">
            <a:solidFill>
              <a:srgbClr val="2C3F3B"/>
            </a:solidFill>
            <a:prstDash val="solid"/>
          </a:ln>
        </p:spPr>
      </p:sp>
      <p:sp>
        <p:nvSpPr>
          <p:cNvPr id="11" name="Shape 9"/>
          <p:cNvSpPr/>
          <p:nvPr/>
        </p:nvSpPr>
        <p:spPr>
          <a:xfrm>
            <a:off x="7927848" y="1737360"/>
            <a:ext cx="274320" cy="274320"/>
          </a:xfrm>
          <a:prstGeom prst="ellipse">
            <a:avLst/>
          </a:prstGeom>
          <a:solidFill>
            <a:srgbClr val="2C3F3B"/>
          </a:solidFill>
          <a:ln w="12700">
            <a:solidFill>
              <a:srgbClr val="2C3F3B"/>
            </a:solidFill>
            <a:prstDash val="solid"/>
          </a:ln>
        </p:spPr>
      </p:sp>
      <p:sp>
        <p:nvSpPr>
          <p:cNvPr id="12" name="r1_dot1"/>
          <p:cNvSpPr/>
          <p:nvPr/>
        </p:nvSpPr>
        <p:spPr>
          <a:xfrm>
            <a:off x="7927848" y="1737360"/>
            <a:ext cx="274320" cy="274320"/>
          </a:xfrm>
          <a:prstGeom prst="ellipse">
            <a:avLst/>
          </a:prstGeom>
          <a:solidFill>
            <a:srgbClr val="E4572E"/>
          </a:solidFill>
          <a:ln w="12700">
            <a:solidFill>
              <a:srgbClr val="E4572E"/>
            </a:solidFill>
            <a:prstDash val="solid"/>
          </a:ln>
        </p:spPr>
      </p:sp>
      <p:sp>
        <p:nvSpPr>
          <p:cNvPr id="13" name="Shape 11"/>
          <p:cNvSpPr/>
          <p:nvPr/>
        </p:nvSpPr>
        <p:spPr>
          <a:xfrm>
            <a:off x="8311896" y="1737360"/>
            <a:ext cx="274320" cy="274320"/>
          </a:xfrm>
          <a:prstGeom prst="ellipse">
            <a:avLst/>
          </a:prstGeom>
          <a:solidFill>
            <a:srgbClr val="2C3F3B"/>
          </a:solidFill>
          <a:ln w="12700">
            <a:solidFill>
              <a:srgbClr val="2C3F3B"/>
            </a:solidFill>
            <a:prstDash val="solid"/>
          </a:ln>
        </p:spPr>
      </p:sp>
      <p:sp>
        <p:nvSpPr>
          <p:cNvPr id="14" name="r1_dot2"/>
          <p:cNvSpPr/>
          <p:nvPr/>
        </p:nvSpPr>
        <p:spPr>
          <a:xfrm>
            <a:off x="8311896" y="1737360"/>
            <a:ext cx="274320" cy="274320"/>
          </a:xfrm>
          <a:prstGeom prst="ellipse">
            <a:avLst/>
          </a:prstGeom>
          <a:solidFill>
            <a:srgbClr val="E4572E"/>
          </a:solidFill>
          <a:ln w="12700">
            <a:solidFill>
              <a:srgbClr val="E4572E"/>
            </a:solidFill>
            <a:prstDash val="solid"/>
          </a:ln>
        </p:spPr>
      </p:sp>
      <p:sp>
        <p:nvSpPr>
          <p:cNvPr id="15" name="Shape 13"/>
          <p:cNvSpPr/>
          <p:nvPr/>
        </p:nvSpPr>
        <p:spPr>
          <a:xfrm>
            <a:off x="8695944" y="1737360"/>
            <a:ext cx="274320" cy="274320"/>
          </a:xfrm>
          <a:prstGeom prst="ellipse">
            <a:avLst/>
          </a:prstGeom>
          <a:solidFill>
            <a:srgbClr val="2C3F3B"/>
          </a:solidFill>
          <a:ln w="12700">
            <a:solidFill>
              <a:srgbClr val="2C3F3B"/>
            </a:solidFill>
            <a:prstDash val="solid"/>
          </a:ln>
        </p:spPr>
      </p:sp>
      <p:sp>
        <p:nvSpPr>
          <p:cNvPr id="16" name="r1_dot3"/>
          <p:cNvSpPr/>
          <p:nvPr/>
        </p:nvSpPr>
        <p:spPr>
          <a:xfrm>
            <a:off x="8695944" y="1737360"/>
            <a:ext cx="274320" cy="274320"/>
          </a:xfrm>
          <a:prstGeom prst="ellipse">
            <a:avLst/>
          </a:prstGeom>
          <a:solidFill>
            <a:srgbClr val="E4572E"/>
          </a:solidFill>
          <a:ln w="12700">
            <a:solidFill>
              <a:srgbClr val="E4572E"/>
            </a:solidFill>
            <a:prstDash val="solid"/>
          </a:ln>
        </p:spPr>
      </p:sp>
      <p:sp>
        <p:nvSpPr>
          <p:cNvPr id="17" name="Shape 15"/>
          <p:cNvSpPr/>
          <p:nvPr/>
        </p:nvSpPr>
        <p:spPr>
          <a:xfrm>
            <a:off x="9079992" y="1737360"/>
            <a:ext cx="274320" cy="274320"/>
          </a:xfrm>
          <a:prstGeom prst="ellipse">
            <a:avLst/>
          </a:prstGeom>
          <a:solidFill>
            <a:srgbClr val="2C3F3B"/>
          </a:solidFill>
          <a:ln w="12700">
            <a:solidFill>
              <a:srgbClr val="2C3F3B"/>
            </a:solidFill>
            <a:prstDash val="solid"/>
          </a:ln>
        </p:spPr>
      </p:sp>
      <p:sp>
        <p:nvSpPr>
          <p:cNvPr id="18" name="Shape 16"/>
          <p:cNvSpPr/>
          <p:nvPr/>
        </p:nvSpPr>
        <p:spPr>
          <a:xfrm>
            <a:off x="9464040" y="1737360"/>
            <a:ext cx="274320" cy="274320"/>
          </a:xfrm>
          <a:prstGeom prst="ellipse">
            <a:avLst/>
          </a:prstGeom>
          <a:solidFill>
            <a:srgbClr val="2C3F3B"/>
          </a:solidFill>
          <a:ln w="12700">
            <a:solidFill>
              <a:srgbClr val="2C3F3B"/>
            </a:solidFill>
            <a:prstDash val="solid"/>
          </a:ln>
        </p:spPr>
      </p:sp>
      <p:sp>
        <p:nvSpPr>
          <p:cNvPr id="19" name="r1_dot5"/>
          <p:cNvSpPr/>
          <p:nvPr/>
        </p:nvSpPr>
        <p:spPr>
          <a:xfrm>
            <a:off x="9464040" y="1737360"/>
            <a:ext cx="274320" cy="274320"/>
          </a:xfrm>
          <a:prstGeom prst="ellipse">
            <a:avLst/>
          </a:prstGeom>
          <a:solidFill>
            <a:srgbClr val="E4572E"/>
          </a:solidFill>
          <a:ln w="12700">
            <a:solidFill>
              <a:srgbClr val="E4572E"/>
            </a:solidFill>
            <a:prstDash val="solid"/>
          </a:ln>
        </p:spPr>
      </p:sp>
      <p:sp>
        <p:nvSpPr>
          <p:cNvPr id="20" name="Shape 18"/>
          <p:cNvSpPr/>
          <p:nvPr/>
        </p:nvSpPr>
        <p:spPr>
          <a:xfrm>
            <a:off x="9848088" y="1737360"/>
            <a:ext cx="274320" cy="274320"/>
          </a:xfrm>
          <a:prstGeom prst="ellipse">
            <a:avLst/>
          </a:prstGeom>
          <a:solidFill>
            <a:srgbClr val="2C3F3B"/>
          </a:solidFill>
          <a:ln w="12700">
            <a:solidFill>
              <a:srgbClr val="2C3F3B"/>
            </a:solidFill>
            <a:prstDash val="solid"/>
          </a:ln>
        </p:spPr>
      </p:sp>
      <p:sp>
        <p:nvSpPr>
          <p:cNvPr id="21" name="Shape 19"/>
          <p:cNvSpPr/>
          <p:nvPr/>
        </p:nvSpPr>
        <p:spPr>
          <a:xfrm>
            <a:off x="10232136" y="1737360"/>
            <a:ext cx="274320" cy="274320"/>
          </a:xfrm>
          <a:prstGeom prst="ellipse">
            <a:avLst/>
          </a:prstGeom>
          <a:solidFill>
            <a:srgbClr val="2C3F3B"/>
          </a:solidFill>
          <a:ln w="12700">
            <a:solidFill>
              <a:srgbClr val="2C3F3B"/>
            </a:solidFill>
            <a:prstDash val="solid"/>
          </a:ln>
        </p:spPr>
      </p:sp>
      <p:sp>
        <p:nvSpPr>
          <p:cNvPr id="22" name="Shape 20"/>
          <p:cNvSpPr/>
          <p:nvPr/>
        </p:nvSpPr>
        <p:spPr>
          <a:xfrm>
            <a:off x="10616184" y="1737360"/>
            <a:ext cx="274320" cy="274320"/>
          </a:xfrm>
          <a:prstGeom prst="ellipse">
            <a:avLst/>
          </a:prstGeom>
          <a:solidFill>
            <a:srgbClr val="2C3F3B"/>
          </a:solidFill>
          <a:ln w="12700">
            <a:solidFill>
              <a:srgbClr val="2C3F3B"/>
            </a:solidFill>
            <a:prstDash val="solid"/>
          </a:ln>
        </p:spPr>
      </p:sp>
      <p:sp>
        <p:nvSpPr>
          <p:cNvPr id="23" name="Shape 21"/>
          <p:cNvSpPr/>
          <p:nvPr/>
        </p:nvSpPr>
        <p:spPr>
          <a:xfrm>
            <a:off x="11000232" y="1737360"/>
            <a:ext cx="274320" cy="274320"/>
          </a:xfrm>
          <a:prstGeom prst="ellipse">
            <a:avLst/>
          </a:prstGeom>
          <a:solidFill>
            <a:srgbClr val="2C3F3B"/>
          </a:solidFill>
          <a:ln w="12700">
            <a:solidFill>
              <a:srgbClr val="2C3F3B"/>
            </a:solidFill>
            <a:prstDash val="solid"/>
          </a:ln>
        </p:spPr>
      </p:sp>
      <p:sp>
        <p:nvSpPr>
          <p:cNvPr id="24" name="r1_dot9"/>
          <p:cNvSpPr/>
          <p:nvPr/>
        </p:nvSpPr>
        <p:spPr>
          <a:xfrm>
            <a:off x="11000232" y="1737360"/>
            <a:ext cx="274320" cy="274320"/>
          </a:xfrm>
          <a:prstGeom prst="ellipse">
            <a:avLst/>
          </a:prstGeom>
          <a:solidFill>
            <a:srgbClr val="E4572E"/>
          </a:solidFill>
          <a:ln w="12700">
            <a:solidFill>
              <a:srgbClr val="E4572E"/>
            </a:solidFill>
            <a:prstDash val="solid"/>
          </a:ln>
        </p:spPr>
      </p:sp>
      <p:sp>
        <p:nvSpPr>
          <p:cNvPr id="25" name="Shape 23"/>
          <p:cNvSpPr/>
          <p:nvPr/>
        </p:nvSpPr>
        <p:spPr>
          <a:xfrm>
            <a:off x="7543800" y="2121408"/>
            <a:ext cx="274320" cy="274320"/>
          </a:xfrm>
          <a:prstGeom prst="ellipse">
            <a:avLst/>
          </a:prstGeom>
          <a:solidFill>
            <a:srgbClr val="2C3F3B"/>
          </a:solidFill>
          <a:ln w="12700">
            <a:solidFill>
              <a:srgbClr val="2C3F3B"/>
            </a:solidFill>
            <a:prstDash val="solid"/>
          </a:ln>
        </p:spPr>
      </p:sp>
      <p:sp>
        <p:nvSpPr>
          <p:cNvPr id="26" name="Shape 24"/>
          <p:cNvSpPr/>
          <p:nvPr/>
        </p:nvSpPr>
        <p:spPr>
          <a:xfrm>
            <a:off x="7927848" y="2121408"/>
            <a:ext cx="274320" cy="274320"/>
          </a:xfrm>
          <a:prstGeom prst="ellipse">
            <a:avLst/>
          </a:prstGeom>
          <a:solidFill>
            <a:srgbClr val="2C3F3B"/>
          </a:solidFill>
          <a:ln w="12700">
            <a:solidFill>
              <a:srgbClr val="2C3F3B"/>
            </a:solidFill>
            <a:prstDash val="solid"/>
          </a:ln>
        </p:spPr>
      </p:sp>
      <p:sp>
        <p:nvSpPr>
          <p:cNvPr id="27" name="Shape 25"/>
          <p:cNvSpPr/>
          <p:nvPr/>
        </p:nvSpPr>
        <p:spPr>
          <a:xfrm>
            <a:off x="8311896" y="2121408"/>
            <a:ext cx="274320" cy="274320"/>
          </a:xfrm>
          <a:prstGeom prst="ellipse">
            <a:avLst/>
          </a:prstGeom>
          <a:solidFill>
            <a:srgbClr val="2C3F3B"/>
          </a:solidFill>
          <a:ln w="12700">
            <a:solidFill>
              <a:srgbClr val="2C3F3B"/>
            </a:solidFill>
            <a:prstDash val="solid"/>
          </a:ln>
        </p:spPr>
      </p:sp>
      <p:sp>
        <p:nvSpPr>
          <p:cNvPr id="28" name="Shape 26"/>
          <p:cNvSpPr/>
          <p:nvPr/>
        </p:nvSpPr>
        <p:spPr>
          <a:xfrm>
            <a:off x="8695944" y="2121408"/>
            <a:ext cx="274320" cy="274320"/>
          </a:xfrm>
          <a:prstGeom prst="ellipse">
            <a:avLst/>
          </a:prstGeom>
          <a:solidFill>
            <a:srgbClr val="2C3F3B"/>
          </a:solidFill>
          <a:ln w="12700">
            <a:solidFill>
              <a:srgbClr val="2C3F3B"/>
            </a:solidFill>
            <a:prstDash val="solid"/>
          </a:ln>
        </p:spPr>
      </p:sp>
      <p:sp>
        <p:nvSpPr>
          <p:cNvPr id="29" name="r1_dot13"/>
          <p:cNvSpPr/>
          <p:nvPr/>
        </p:nvSpPr>
        <p:spPr>
          <a:xfrm>
            <a:off x="8695944" y="2121408"/>
            <a:ext cx="274320" cy="274320"/>
          </a:xfrm>
          <a:prstGeom prst="ellipse">
            <a:avLst/>
          </a:prstGeom>
          <a:solidFill>
            <a:srgbClr val="E4572E"/>
          </a:solidFill>
          <a:ln w="12700">
            <a:solidFill>
              <a:srgbClr val="E4572E"/>
            </a:solidFill>
            <a:prstDash val="solid"/>
          </a:ln>
        </p:spPr>
      </p:sp>
      <p:sp>
        <p:nvSpPr>
          <p:cNvPr id="30" name="Shape 28"/>
          <p:cNvSpPr/>
          <p:nvPr/>
        </p:nvSpPr>
        <p:spPr>
          <a:xfrm>
            <a:off x="9079992" y="2121408"/>
            <a:ext cx="274320" cy="274320"/>
          </a:xfrm>
          <a:prstGeom prst="ellipse">
            <a:avLst/>
          </a:prstGeom>
          <a:solidFill>
            <a:srgbClr val="2C3F3B"/>
          </a:solidFill>
          <a:ln w="12700">
            <a:solidFill>
              <a:srgbClr val="2C3F3B"/>
            </a:solidFill>
            <a:prstDash val="solid"/>
          </a:ln>
        </p:spPr>
      </p:sp>
      <p:sp>
        <p:nvSpPr>
          <p:cNvPr id="31" name="Shape 29"/>
          <p:cNvSpPr/>
          <p:nvPr/>
        </p:nvSpPr>
        <p:spPr>
          <a:xfrm>
            <a:off x="9464040" y="2121408"/>
            <a:ext cx="274320" cy="274320"/>
          </a:xfrm>
          <a:prstGeom prst="ellipse">
            <a:avLst/>
          </a:prstGeom>
          <a:solidFill>
            <a:srgbClr val="2C3F3B"/>
          </a:solidFill>
          <a:ln w="12700">
            <a:solidFill>
              <a:srgbClr val="2C3F3B"/>
            </a:solidFill>
            <a:prstDash val="solid"/>
          </a:ln>
        </p:spPr>
      </p:sp>
      <p:sp>
        <p:nvSpPr>
          <p:cNvPr id="32" name="Shape 30"/>
          <p:cNvSpPr/>
          <p:nvPr/>
        </p:nvSpPr>
        <p:spPr>
          <a:xfrm>
            <a:off x="9848088" y="2121408"/>
            <a:ext cx="274320" cy="274320"/>
          </a:xfrm>
          <a:prstGeom prst="ellipse">
            <a:avLst/>
          </a:prstGeom>
          <a:solidFill>
            <a:srgbClr val="2C3F3B"/>
          </a:solidFill>
          <a:ln w="12700">
            <a:solidFill>
              <a:srgbClr val="2C3F3B"/>
            </a:solidFill>
            <a:prstDash val="solid"/>
          </a:ln>
        </p:spPr>
      </p:sp>
      <p:sp>
        <p:nvSpPr>
          <p:cNvPr id="33" name="Shape 31"/>
          <p:cNvSpPr/>
          <p:nvPr/>
        </p:nvSpPr>
        <p:spPr>
          <a:xfrm>
            <a:off x="10232136" y="2121408"/>
            <a:ext cx="274320" cy="274320"/>
          </a:xfrm>
          <a:prstGeom prst="ellipse">
            <a:avLst/>
          </a:prstGeom>
          <a:solidFill>
            <a:srgbClr val="2C3F3B"/>
          </a:solidFill>
          <a:ln w="12700">
            <a:solidFill>
              <a:srgbClr val="2C3F3B"/>
            </a:solidFill>
            <a:prstDash val="solid"/>
          </a:ln>
        </p:spPr>
      </p:sp>
      <p:sp>
        <p:nvSpPr>
          <p:cNvPr id="34" name="Shape 32"/>
          <p:cNvSpPr/>
          <p:nvPr/>
        </p:nvSpPr>
        <p:spPr>
          <a:xfrm>
            <a:off x="10616184" y="2121408"/>
            <a:ext cx="274320" cy="274320"/>
          </a:xfrm>
          <a:prstGeom prst="ellipse">
            <a:avLst/>
          </a:prstGeom>
          <a:solidFill>
            <a:srgbClr val="2C3F3B"/>
          </a:solidFill>
          <a:ln w="12700">
            <a:solidFill>
              <a:srgbClr val="2C3F3B"/>
            </a:solidFill>
            <a:prstDash val="solid"/>
          </a:ln>
        </p:spPr>
      </p:sp>
      <p:sp>
        <p:nvSpPr>
          <p:cNvPr id="35" name="Shape 33"/>
          <p:cNvSpPr/>
          <p:nvPr/>
        </p:nvSpPr>
        <p:spPr>
          <a:xfrm>
            <a:off x="11000232" y="2121408"/>
            <a:ext cx="274320" cy="274320"/>
          </a:xfrm>
          <a:prstGeom prst="ellipse">
            <a:avLst/>
          </a:prstGeom>
          <a:solidFill>
            <a:srgbClr val="2C3F3B"/>
          </a:solidFill>
          <a:ln w="12700">
            <a:solidFill>
              <a:srgbClr val="2C3F3B"/>
            </a:solidFill>
            <a:prstDash val="solid"/>
          </a:ln>
        </p:spPr>
      </p:sp>
      <p:sp>
        <p:nvSpPr>
          <p:cNvPr id="36" name="Shape 34"/>
          <p:cNvSpPr/>
          <p:nvPr/>
        </p:nvSpPr>
        <p:spPr>
          <a:xfrm>
            <a:off x="7543800" y="2505456"/>
            <a:ext cx="274320" cy="274320"/>
          </a:xfrm>
          <a:prstGeom prst="ellipse">
            <a:avLst/>
          </a:prstGeom>
          <a:solidFill>
            <a:srgbClr val="2C3F3B"/>
          </a:solidFill>
          <a:ln w="12700">
            <a:solidFill>
              <a:srgbClr val="2C3F3B"/>
            </a:solidFill>
            <a:prstDash val="solid"/>
          </a:ln>
        </p:spPr>
      </p:sp>
      <p:sp>
        <p:nvSpPr>
          <p:cNvPr id="37" name="Shape 35"/>
          <p:cNvSpPr/>
          <p:nvPr/>
        </p:nvSpPr>
        <p:spPr>
          <a:xfrm>
            <a:off x="7927848" y="2505456"/>
            <a:ext cx="274320" cy="274320"/>
          </a:xfrm>
          <a:prstGeom prst="ellipse">
            <a:avLst/>
          </a:prstGeom>
          <a:solidFill>
            <a:srgbClr val="2C3F3B"/>
          </a:solidFill>
          <a:ln w="12700">
            <a:solidFill>
              <a:srgbClr val="2C3F3B"/>
            </a:solidFill>
            <a:prstDash val="solid"/>
          </a:ln>
        </p:spPr>
      </p:sp>
      <p:sp>
        <p:nvSpPr>
          <p:cNvPr id="38" name="Shape 36"/>
          <p:cNvSpPr/>
          <p:nvPr/>
        </p:nvSpPr>
        <p:spPr>
          <a:xfrm>
            <a:off x="8311896" y="2505456"/>
            <a:ext cx="274320" cy="274320"/>
          </a:xfrm>
          <a:prstGeom prst="ellipse">
            <a:avLst/>
          </a:prstGeom>
          <a:solidFill>
            <a:srgbClr val="2C3F3B"/>
          </a:solidFill>
          <a:ln w="12700">
            <a:solidFill>
              <a:srgbClr val="2C3F3B"/>
            </a:solidFill>
            <a:prstDash val="solid"/>
          </a:ln>
        </p:spPr>
      </p:sp>
      <p:sp>
        <p:nvSpPr>
          <p:cNvPr id="39" name="Shape 37"/>
          <p:cNvSpPr/>
          <p:nvPr/>
        </p:nvSpPr>
        <p:spPr>
          <a:xfrm>
            <a:off x="8695944" y="2505456"/>
            <a:ext cx="274320" cy="274320"/>
          </a:xfrm>
          <a:prstGeom prst="ellipse">
            <a:avLst/>
          </a:prstGeom>
          <a:solidFill>
            <a:srgbClr val="2C3F3B"/>
          </a:solidFill>
          <a:ln w="12700">
            <a:solidFill>
              <a:srgbClr val="2C3F3B"/>
            </a:solidFill>
            <a:prstDash val="solid"/>
          </a:ln>
        </p:spPr>
      </p:sp>
      <p:sp>
        <p:nvSpPr>
          <p:cNvPr id="40" name="Shape 38"/>
          <p:cNvSpPr/>
          <p:nvPr/>
        </p:nvSpPr>
        <p:spPr>
          <a:xfrm>
            <a:off x="9079992" y="2505456"/>
            <a:ext cx="274320" cy="274320"/>
          </a:xfrm>
          <a:prstGeom prst="ellipse">
            <a:avLst/>
          </a:prstGeom>
          <a:solidFill>
            <a:srgbClr val="2C3F3B"/>
          </a:solidFill>
          <a:ln w="12700">
            <a:solidFill>
              <a:srgbClr val="2C3F3B"/>
            </a:solidFill>
            <a:prstDash val="solid"/>
          </a:ln>
        </p:spPr>
      </p:sp>
      <p:sp>
        <p:nvSpPr>
          <p:cNvPr id="41" name="Shape 39"/>
          <p:cNvSpPr/>
          <p:nvPr/>
        </p:nvSpPr>
        <p:spPr>
          <a:xfrm>
            <a:off x="9464040" y="2505456"/>
            <a:ext cx="274320" cy="274320"/>
          </a:xfrm>
          <a:prstGeom prst="ellipse">
            <a:avLst/>
          </a:prstGeom>
          <a:solidFill>
            <a:srgbClr val="2C3F3B"/>
          </a:solidFill>
          <a:ln w="12700">
            <a:solidFill>
              <a:srgbClr val="2C3F3B"/>
            </a:solidFill>
            <a:prstDash val="solid"/>
          </a:ln>
        </p:spPr>
      </p:sp>
      <p:sp>
        <p:nvSpPr>
          <p:cNvPr id="42" name="r1_dot25"/>
          <p:cNvSpPr/>
          <p:nvPr/>
        </p:nvSpPr>
        <p:spPr>
          <a:xfrm>
            <a:off x="9464040" y="2505456"/>
            <a:ext cx="274320" cy="274320"/>
          </a:xfrm>
          <a:prstGeom prst="ellipse">
            <a:avLst/>
          </a:prstGeom>
          <a:solidFill>
            <a:srgbClr val="E4572E"/>
          </a:solidFill>
          <a:ln w="12700">
            <a:solidFill>
              <a:srgbClr val="E4572E"/>
            </a:solidFill>
            <a:prstDash val="solid"/>
          </a:ln>
        </p:spPr>
      </p:sp>
      <p:sp>
        <p:nvSpPr>
          <p:cNvPr id="43" name="Shape 41"/>
          <p:cNvSpPr/>
          <p:nvPr/>
        </p:nvSpPr>
        <p:spPr>
          <a:xfrm>
            <a:off x="9848088" y="2505456"/>
            <a:ext cx="274320" cy="274320"/>
          </a:xfrm>
          <a:prstGeom prst="ellipse">
            <a:avLst/>
          </a:prstGeom>
          <a:solidFill>
            <a:srgbClr val="2C3F3B"/>
          </a:solidFill>
          <a:ln w="12700">
            <a:solidFill>
              <a:srgbClr val="2C3F3B"/>
            </a:solidFill>
            <a:prstDash val="solid"/>
          </a:ln>
        </p:spPr>
      </p:sp>
      <p:sp>
        <p:nvSpPr>
          <p:cNvPr id="44" name="r1_dot26"/>
          <p:cNvSpPr/>
          <p:nvPr/>
        </p:nvSpPr>
        <p:spPr>
          <a:xfrm>
            <a:off x="9848088" y="2505456"/>
            <a:ext cx="274320" cy="274320"/>
          </a:xfrm>
          <a:prstGeom prst="ellipse">
            <a:avLst/>
          </a:prstGeom>
          <a:solidFill>
            <a:srgbClr val="E4572E"/>
          </a:solidFill>
          <a:ln w="12700">
            <a:solidFill>
              <a:srgbClr val="E4572E"/>
            </a:solidFill>
            <a:prstDash val="solid"/>
          </a:ln>
        </p:spPr>
      </p:sp>
      <p:sp>
        <p:nvSpPr>
          <p:cNvPr id="45" name="Shape 43"/>
          <p:cNvSpPr/>
          <p:nvPr/>
        </p:nvSpPr>
        <p:spPr>
          <a:xfrm>
            <a:off x="10232136" y="2505456"/>
            <a:ext cx="274320" cy="274320"/>
          </a:xfrm>
          <a:prstGeom prst="ellipse">
            <a:avLst/>
          </a:prstGeom>
          <a:solidFill>
            <a:srgbClr val="2C3F3B"/>
          </a:solidFill>
          <a:ln w="12700">
            <a:solidFill>
              <a:srgbClr val="2C3F3B"/>
            </a:solidFill>
            <a:prstDash val="solid"/>
          </a:ln>
        </p:spPr>
      </p:sp>
      <p:sp>
        <p:nvSpPr>
          <p:cNvPr id="46" name="Shape 44"/>
          <p:cNvSpPr/>
          <p:nvPr/>
        </p:nvSpPr>
        <p:spPr>
          <a:xfrm>
            <a:off x="10616184" y="2505456"/>
            <a:ext cx="274320" cy="274320"/>
          </a:xfrm>
          <a:prstGeom prst="ellipse">
            <a:avLst/>
          </a:prstGeom>
          <a:solidFill>
            <a:srgbClr val="2C3F3B"/>
          </a:solidFill>
          <a:ln w="12700">
            <a:solidFill>
              <a:srgbClr val="2C3F3B"/>
            </a:solidFill>
            <a:prstDash val="solid"/>
          </a:ln>
        </p:spPr>
      </p:sp>
      <p:sp>
        <p:nvSpPr>
          <p:cNvPr id="47" name="r1_dot28"/>
          <p:cNvSpPr/>
          <p:nvPr/>
        </p:nvSpPr>
        <p:spPr>
          <a:xfrm>
            <a:off x="10616184" y="2505456"/>
            <a:ext cx="274320" cy="274320"/>
          </a:xfrm>
          <a:prstGeom prst="ellipse">
            <a:avLst/>
          </a:prstGeom>
          <a:solidFill>
            <a:srgbClr val="E4572E"/>
          </a:solidFill>
          <a:ln w="12700">
            <a:solidFill>
              <a:srgbClr val="E4572E"/>
            </a:solidFill>
            <a:prstDash val="solid"/>
          </a:ln>
        </p:spPr>
      </p:sp>
      <p:sp>
        <p:nvSpPr>
          <p:cNvPr id="48" name="Shape 46"/>
          <p:cNvSpPr/>
          <p:nvPr/>
        </p:nvSpPr>
        <p:spPr>
          <a:xfrm>
            <a:off x="11000232" y="2505456"/>
            <a:ext cx="274320" cy="274320"/>
          </a:xfrm>
          <a:prstGeom prst="ellipse">
            <a:avLst/>
          </a:prstGeom>
          <a:solidFill>
            <a:srgbClr val="2C3F3B"/>
          </a:solidFill>
          <a:ln w="12700">
            <a:solidFill>
              <a:srgbClr val="2C3F3B"/>
            </a:solidFill>
            <a:prstDash val="solid"/>
          </a:ln>
        </p:spPr>
      </p:sp>
      <p:sp>
        <p:nvSpPr>
          <p:cNvPr id="49" name="Shape 47"/>
          <p:cNvSpPr/>
          <p:nvPr/>
        </p:nvSpPr>
        <p:spPr>
          <a:xfrm>
            <a:off x="7543800" y="2889504"/>
            <a:ext cx="274320" cy="274320"/>
          </a:xfrm>
          <a:prstGeom prst="ellipse">
            <a:avLst/>
          </a:prstGeom>
          <a:solidFill>
            <a:srgbClr val="2C3F3B"/>
          </a:solidFill>
          <a:ln w="12700">
            <a:solidFill>
              <a:srgbClr val="2C3F3B"/>
            </a:solidFill>
            <a:prstDash val="solid"/>
          </a:ln>
        </p:spPr>
      </p:sp>
      <p:sp>
        <p:nvSpPr>
          <p:cNvPr id="50" name="r1_dot30"/>
          <p:cNvSpPr/>
          <p:nvPr/>
        </p:nvSpPr>
        <p:spPr>
          <a:xfrm>
            <a:off x="7543800" y="2889504"/>
            <a:ext cx="274320" cy="274320"/>
          </a:xfrm>
          <a:prstGeom prst="ellipse">
            <a:avLst/>
          </a:prstGeom>
          <a:solidFill>
            <a:srgbClr val="E4572E"/>
          </a:solidFill>
          <a:ln w="12700">
            <a:solidFill>
              <a:srgbClr val="E4572E"/>
            </a:solidFill>
            <a:prstDash val="solid"/>
          </a:ln>
        </p:spPr>
      </p:sp>
      <p:sp>
        <p:nvSpPr>
          <p:cNvPr id="51" name="Shape 49"/>
          <p:cNvSpPr/>
          <p:nvPr/>
        </p:nvSpPr>
        <p:spPr>
          <a:xfrm>
            <a:off x="7927848" y="2889504"/>
            <a:ext cx="274320" cy="274320"/>
          </a:xfrm>
          <a:prstGeom prst="ellipse">
            <a:avLst/>
          </a:prstGeom>
          <a:solidFill>
            <a:srgbClr val="2C3F3B"/>
          </a:solidFill>
          <a:ln w="12700">
            <a:solidFill>
              <a:srgbClr val="2C3F3B"/>
            </a:solidFill>
            <a:prstDash val="solid"/>
          </a:ln>
        </p:spPr>
      </p:sp>
      <p:sp>
        <p:nvSpPr>
          <p:cNvPr id="52" name="Shape 50"/>
          <p:cNvSpPr/>
          <p:nvPr/>
        </p:nvSpPr>
        <p:spPr>
          <a:xfrm>
            <a:off x="8311896" y="2889504"/>
            <a:ext cx="274320" cy="274320"/>
          </a:xfrm>
          <a:prstGeom prst="ellipse">
            <a:avLst/>
          </a:prstGeom>
          <a:solidFill>
            <a:srgbClr val="2C3F3B"/>
          </a:solidFill>
          <a:ln w="12700">
            <a:solidFill>
              <a:srgbClr val="2C3F3B"/>
            </a:solidFill>
            <a:prstDash val="solid"/>
          </a:ln>
        </p:spPr>
      </p:sp>
      <p:sp>
        <p:nvSpPr>
          <p:cNvPr id="53" name="Shape 51"/>
          <p:cNvSpPr/>
          <p:nvPr/>
        </p:nvSpPr>
        <p:spPr>
          <a:xfrm>
            <a:off x="8695944" y="2889504"/>
            <a:ext cx="274320" cy="274320"/>
          </a:xfrm>
          <a:prstGeom prst="ellipse">
            <a:avLst/>
          </a:prstGeom>
          <a:solidFill>
            <a:srgbClr val="2C3F3B"/>
          </a:solidFill>
          <a:ln w="12700">
            <a:solidFill>
              <a:srgbClr val="2C3F3B"/>
            </a:solidFill>
            <a:prstDash val="solid"/>
          </a:ln>
        </p:spPr>
      </p:sp>
      <p:sp>
        <p:nvSpPr>
          <p:cNvPr id="54" name="Shape 52"/>
          <p:cNvSpPr/>
          <p:nvPr/>
        </p:nvSpPr>
        <p:spPr>
          <a:xfrm>
            <a:off x="9079992" y="2889504"/>
            <a:ext cx="274320" cy="274320"/>
          </a:xfrm>
          <a:prstGeom prst="ellipse">
            <a:avLst/>
          </a:prstGeom>
          <a:solidFill>
            <a:srgbClr val="2C3F3B"/>
          </a:solidFill>
          <a:ln w="12700">
            <a:solidFill>
              <a:srgbClr val="2C3F3B"/>
            </a:solidFill>
            <a:prstDash val="solid"/>
          </a:ln>
        </p:spPr>
      </p:sp>
      <p:sp>
        <p:nvSpPr>
          <p:cNvPr id="55" name="Shape 53"/>
          <p:cNvSpPr/>
          <p:nvPr/>
        </p:nvSpPr>
        <p:spPr>
          <a:xfrm>
            <a:off x="9464040" y="2889504"/>
            <a:ext cx="274320" cy="274320"/>
          </a:xfrm>
          <a:prstGeom prst="ellipse">
            <a:avLst/>
          </a:prstGeom>
          <a:solidFill>
            <a:srgbClr val="2C3F3B"/>
          </a:solidFill>
          <a:ln w="12700">
            <a:solidFill>
              <a:srgbClr val="2C3F3B"/>
            </a:solidFill>
            <a:prstDash val="solid"/>
          </a:ln>
        </p:spPr>
      </p:sp>
      <p:sp>
        <p:nvSpPr>
          <p:cNvPr id="56" name="Shape 54"/>
          <p:cNvSpPr/>
          <p:nvPr/>
        </p:nvSpPr>
        <p:spPr>
          <a:xfrm>
            <a:off x="9848088" y="2889504"/>
            <a:ext cx="274320" cy="274320"/>
          </a:xfrm>
          <a:prstGeom prst="ellipse">
            <a:avLst/>
          </a:prstGeom>
          <a:solidFill>
            <a:srgbClr val="2C3F3B"/>
          </a:solidFill>
          <a:ln w="12700">
            <a:solidFill>
              <a:srgbClr val="2C3F3B"/>
            </a:solidFill>
            <a:prstDash val="solid"/>
          </a:ln>
        </p:spPr>
      </p:sp>
      <p:sp>
        <p:nvSpPr>
          <p:cNvPr id="57" name="Shape 55"/>
          <p:cNvSpPr/>
          <p:nvPr/>
        </p:nvSpPr>
        <p:spPr>
          <a:xfrm>
            <a:off x="10232136" y="2889504"/>
            <a:ext cx="274320" cy="274320"/>
          </a:xfrm>
          <a:prstGeom prst="ellipse">
            <a:avLst/>
          </a:prstGeom>
          <a:solidFill>
            <a:srgbClr val="2C3F3B"/>
          </a:solidFill>
          <a:ln w="12700">
            <a:solidFill>
              <a:srgbClr val="2C3F3B"/>
            </a:solidFill>
            <a:prstDash val="solid"/>
          </a:ln>
        </p:spPr>
      </p:sp>
      <p:sp>
        <p:nvSpPr>
          <p:cNvPr id="58" name="Shape 56"/>
          <p:cNvSpPr/>
          <p:nvPr/>
        </p:nvSpPr>
        <p:spPr>
          <a:xfrm>
            <a:off x="10616184" y="2889504"/>
            <a:ext cx="274320" cy="274320"/>
          </a:xfrm>
          <a:prstGeom prst="ellipse">
            <a:avLst/>
          </a:prstGeom>
          <a:solidFill>
            <a:srgbClr val="2C3F3B"/>
          </a:solidFill>
          <a:ln w="12700">
            <a:solidFill>
              <a:srgbClr val="2C3F3B"/>
            </a:solidFill>
            <a:prstDash val="solid"/>
          </a:ln>
        </p:spPr>
      </p:sp>
      <p:sp>
        <p:nvSpPr>
          <p:cNvPr id="59" name="Shape 57"/>
          <p:cNvSpPr/>
          <p:nvPr/>
        </p:nvSpPr>
        <p:spPr>
          <a:xfrm>
            <a:off x="11000232" y="2889504"/>
            <a:ext cx="274320" cy="274320"/>
          </a:xfrm>
          <a:prstGeom prst="ellipse">
            <a:avLst/>
          </a:prstGeom>
          <a:solidFill>
            <a:srgbClr val="2C3F3B"/>
          </a:solidFill>
          <a:ln w="12700">
            <a:solidFill>
              <a:srgbClr val="2C3F3B"/>
            </a:solidFill>
            <a:prstDash val="solid"/>
          </a:ln>
        </p:spPr>
      </p:sp>
      <p:sp>
        <p:nvSpPr>
          <p:cNvPr id="60" name="Shape 58"/>
          <p:cNvSpPr/>
          <p:nvPr/>
        </p:nvSpPr>
        <p:spPr>
          <a:xfrm>
            <a:off x="7543800" y="3273552"/>
            <a:ext cx="274320" cy="274320"/>
          </a:xfrm>
          <a:prstGeom prst="ellipse">
            <a:avLst/>
          </a:prstGeom>
          <a:solidFill>
            <a:srgbClr val="2C3F3B"/>
          </a:solidFill>
          <a:ln w="12700">
            <a:solidFill>
              <a:srgbClr val="2C3F3B"/>
            </a:solidFill>
            <a:prstDash val="solid"/>
          </a:ln>
        </p:spPr>
      </p:sp>
      <p:sp>
        <p:nvSpPr>
          <p:cNvPr id="61" name="Shape 59"/>
          <p:cNvSpPr/>
          <p:nvPr/>
        </p:nvSpPr>
        <p:spPr>
          <a:xfrm>
            <a:off x="7927848" y="3273552"/>
            <a:ext cx="274320" cy="274320"/>
          </a:xfrm>
          <a:prstGeom prst="ellipse">
            <a:avLst/>
          </a:prstGeom>
          <a:solidFill>
            <a:srgbClr val="2C3F3B"/>
          </a:solidFill>
          <a:ln w="12700">
            <a:solidFill>
              <a:srgbClr val="2C3F3B"/>
            </a:solidFill>
            <a:prstDash val="solid"/>
          </a:ln>
        </p:spPr>
      </p:sp>
      <p:sp>
        <p:nvSpPr>
          <p:cNvPr id="62" name="Shape 60"/>
          <p:cNvSpPr/>
          <p:nvPr/>
        </p:nvSpPr>
        <p:spPr>
          <a:xfrm>
            <a:off x="8311896" y="3273552"/>
            <a:ext cx="274320" cy="274320"/>
          </a:xfrm>
          <a:prstGeom prst="ellipse">
            <a:avLst/>
          </a:prstGeom>
          <a:solidFill>
            <a:srgbClr val="2C3F3B"/>
          </a:solidFill>
          <a:ln w="12700">
            <a:solidFill>
              <a:srgbClr val="2C3F3B"/>
            </a:solidFill>
            <a:prstDash val="solid"/>
          </a:ln>
        </p:spPr>
      </p:sp>
      <p:sp>
        <p:nvSpPr>
          <p:cNvPr id="63" name="Shape 61"/>
          <p:cNvSpPr/>
          <p:nvPr/>
        </p:nvSpPr>
        <p:spPr>
          <a:xfrm>
            <a:off x="8695944" y="3273552"/>
            <a:ext cx="274320" cy="274320"/>
          </a:xfrm>
          <a:prstGeom prst="ellipse">
            <a:avLst/>
          </a:prstGeom>
          <a:solidFill>
            <a:srgbClr val="2C3F3B"/>
          </a:solidFill>
          <a:ln w="12700">
            <a:solidFill>
              <a:srgbClr val="2C3F3B"/>
            </a:solidFill>
            <a:prstDash val="solid"/>
          </a:ln>
        </p:spPr>
      </p:sp>
      <p:sp>
        <p:nvSpPr>
          <p:cNvPr id="64" name="Shape 62"/>
          <p:cNvSpPr/>
          <p:nvPr/>
        </p:nvSpPr>
        <p:spPr>
          <a:xfrm>
            <a:off x="9079992" y="3273552"/>
            <a:ext cx="274320" cy="274320"/>
          </a:xfrm>
          <a:prstGeom prst="ellipse">
            <a:avLst/>
          </a:prstGeom>
          <a:solidFill>
            <a:srgbClr val="2C3F3B"/>
          </a:solidFill>
          <a:ln w="12700">
            <a:solidFill>
              <a:srgbClr val="2C3F3B"/>
            </a:solidFill>
            <a:prstDash val="solid"/>
          </a:ln>
        </p:spPr>
      </p:sp>
      <p:sp>
        <p:nvSpPr>
          <p:cNvPr id="65" name="r1_dot44"/>
          <p:cNvSpPr/>
          <p:nvPr/>
        </p:nvSpPr>
        <p:spPr>
          <a:xfrm>
            <a:off x="9079992" y="3273552"/>
            <a:ext cx="274320" cy="274320"/>
          </a:xfrm>
          <a:prstGeom prst="ellipse">
            <a:avLst/>
          </a:prstGeom>
          <a:solidFill>
            <a:srgbClr val="E4572E"/>
          </a:solidFill>
          <a:ln w="12700">
            <a:solidFill>
              <a:srgbClr val="E4572E"/>
            </a:solidFill>
            <a:prstDash val="solid"/>
          </a:ln>
        </p:spPr>
      </p:sp>
      <p:sp>
        <p:nvSpPr>
          <p:cNvPr id="66" name="Shape 64"/>
          <p:cNvSpPr/>
          <p:nvPr/>
        </p:nvSpPr>
        <p:spPr>
          <a:xfrm>
            <a:off x="9464040" y="3273552"/>
            <a:ext cx="274320" cy="274320"/>
          </a:xfrm>
          <a:prstGeom prst="ellipse">
            <a:avLst/>
          </a:prstGeom>
          <a:solidFill>
            <a:srgbClr val="2C3F3B"/>
          </a:solidFill>
          <a:ln w="12700">
            <a:solidFill>
              <a:srgbClr val="2C3F3B"/>
            </a:solidFill>
            <a:prstDash val="solid"/>
          </a:ln>
        </p:spPr>
      </p:sp>
      <p:sp>
        <p:nvSpPr>
          <p:cNvPr id="67" name="Shape 65"/>
          <p:cNvSpPr/>
          <p:nvPr/>
        </p:nvSpPr>
        <p:spPr>
          <a:xfrm>
            <a:off x="9848088" y="3273552"/>
            <a:ext cx="274320" cy="274320"/>
          </a:xfrm>
          <a:prstGeom prst="ellipse">
            <a:avLst/>
          </a:prstGeom>
          <a:solidFill>
            <a:srgbClr val="2C3F3B"/>
          </a:solidFill>
          <a:ln w="12700">
            <a:solidFill>
              <a:srgbClr val="2C3F3B"/>
            </a:solidFill>
            <a:prstDash val="solid"/>
          </a:ln>
        </p:spPr>
      </p:sp>
      <p:sp>
        <p:nvSpPr>
          <p:cNvPr id="68" name="Shape 66"/>
          <p:cNvSpPr/>
          <p:nvPr/>
        </p:nvSpPr>
        <p:spPr>
          <a:xfrm>
            <a:off x="10232136" y="3273552"/>
            <a:ext cx="274320" cy="274320"/>
          </a:xfrm>
          <a:prstGeom prst="ellipse">
            <a:avLst/>
          </a:prstGeom>
          <a:solidFill>
            <a:srgbClr val="2C3F3B"/>
          </a:solidFill>
          <a:ln w="12700">
            <a:solidFill>
              <a:srgbClr val="2C3F3B"/>
            </a:solidFill>
            <a:prstDash val="solid"/>
          </a:ln>
        </p:spPr>
      </p:sp>
      <p:sp>
        <p:nvSpPr>
          <p:cNvPr id="69" name="Shape 67"/>
          <p:cNvSpPr/>
          <p:nvPr/>
        </p:nvSpPr>
        <p:spPr>
          <a:xfrm>
            <a:off x="10616184" y="3273552"/>
            <a:ext cx="274320" cy="274320"/>
          </a:xfrm>
          <a:prstGeom prst="ellipse">
            <a:avLst/>
          </a:prstGeom>
          <a:solidFill>
            <a:srgbClr val="2C3F3B"/>
          </a:solidFill>
          <a:ln w="12700">
            <a:solidFill>
              <a:srgbClr val="2C3F3B"/>
            </a:solidFill>
            <a:prstDash val="solid"/>
          </a:ln>
        </p:spPr>
      </p:sp>
      <p:sp>
        <p:nvSpPr>
          <p:cNvPr id="70" name="Shape 68"/>
          <p:cNvSpPr/>
          <p:nvPr/>
        </p:nvSpPr>
        <p:spPr>
          <a:xfrm>
            <a:off x="11000232" y="3273552"/>
            <a:ext cx="274320" cy="274320"/>
          </a:xfrm>
          <a:prstGeom prst="ellipse">
            <a:avLst/>
          </a:prstGeom>
          <a:solidFill>
            <a:srgbClr val="2C3F3B"/>
          </a:solidFill>
          <a:ln w="12700">
            <a:solidFill>
              <a:srgbClr val="2C3F3B"/>
            </a:solidFill>
            <a:prstDash val="solid"/>
          </a:ln>
        </p:spPr>
      </p:sp>
      <p:sp>
        <p:nvSpPr>
          <p:cNvPr id="71" name="Shape 69"/>
          <p:cNvSpPr/>
          <p:nvPr/>
        </p:nvSpPr>
        <p:spPr>
          <a:xfrm>
            <a:off x="7543800" y="3657600"/>
            <a:ext cx="274320" cy="274320"/>
          </a:xfrm>
          <a:prstGeom prst="ellipse">
            <a:avLst/>
          </a:prstGeom>
          <a:solidFill>
            <a:srgbClr val="2C3F3B"/>
          </a:solidFill>
          <a:ln w="12700">
            <a:solidFill>
              <a:srgbClr val="2C3F3B"/>
            </a:solidFill>
            <a:prstDash val="solid"/>
          </a:ln>
        </p:spPr>
      </p:sp>
      <p:sp>
        <p:nvSpPr>
          <p:cNvPr id="72" name="Shape 70"/>
          <p:cNvSpPr/>
          <p:nvPr/>
        </p:nvSpPr>
        <p:spPr>
          <a:xfrm>
            <a:off x="7927848" y="3657600"/>
            <a:ext cx="274320" cy="274320"/>
          </a:xfrm>
          <a:prstGeom prst="ellipse">
            <a:avLst/>
          </a:prstGeom>
          <a:solidFill>
            <a:srgbClr val="2C3F3B"/>
          </a:solidFill>
          <a:ln w="12700">
            <a:solidFill>
              <a:srgbClr val="2C3F3B"/>
            </a:solidFill>
            <a:prstDash val="solid"/>
          </a:ln>
        </p:spPr>
      </p:sp>
      <p:sp>
        <p:nvSpPr>
          <p:cNvPr id="73" name="Shape 71"/>
          <p:cNvSpPr/>
          <p:nvPr/>
        </p:nvSpPr>
        <p:spPr>
          <a:xfrm>
            <a:off x="8311896" y="3657600"/>
            <a:ext cx="274320" cy="274320"/>
          </a:xfrm>
          <a:prstGeom prst="ellipse">
            <a:avLst/>
          </a:prstGeom>
          <a:solidFill>
            <a:srgbClr val="2C3F3B"/>
          </a:solidFill>
          <a:ln w="12700">
            <a:solidFill>
              <a:srgbClr val="2C3F3B"/>
            </a:solidFill>
            <a:prstDash val="solid"/>
          </a:ln>
        </p:spPr>
      </p:sp>
      <p:sp>
        <p:nvSpPr>
          <p:cNvPr id="74" name="r1_dot52"/>
          <p:cNvSpPr/>
          <p:nvPr/>
        </p:nvSpPr>
        <p:spPr>
          <a:xfrm>
            <a:off x="8311896" y="3657600"/>
            <a:ext cx="274320" cy="274320"/>
          </a:xfrm>
          <a:prstGeom prst="ellipse">
            <a:avLst/>
          </a:prstGeom>
          <a:solidFill>
            <a:srgbClr val="E4572E"/>
          </a:solidFill>
          <a:ln w="12700">
            <a:solidFill>
              <a:srgbClr val="E4572E"/>
            </a:solidFill>
            <a:prstDash val="solid"/>
          </a:ln>
        </p:spPr>
      </p:sp>
      <p:sp>
        <p:nvSpPr>
          <p:cNvPr id="75" name="Shape 73"/>
          <p:cNvSpPr/>
          <p:nvPr/>
        </p:nvSpPr>
        <p:spPr>
          <a:xfrm>
            <a:off x="8695944" y="3657600"/>
            <a:ext cx="274320" cy="274320"/>
          </a:xfrm>
          <a:prstGeom prst="ellipse">
            <a:avLst/>
          </a:prstGeom>
          <a:solidFill>
            <a:srgbClr val="2C3F3B"/>
          </a:solidFill>
          <a:ln w="12700">
            <a:solidFill>
              <a:srgbClr val="2C3F3B"/>
            </a:solidFill>
            <a:prstDash val="solid"/>
          </a:ln>
        </p:spPr>
      </p:sp>
      <p:sp>
        <p:nvSpPr>
          <p:cNvPr id="76" name="Shape 74"/>
          <p:cNvSpPr/>
          <p:nvPr/>
        </p:nvSpPr>
        <p:spPr>
          <a:xfrm>
            <a:off x="9079992" y="3657600"/>
            <a:ext cx="274320" cy="274320"/>
          </a:xfrm>
          <a:prstGeom prst="ellipse">
            <a:avLst/>
          </a:prstGeom>
          <a:solidFill>
            <a:srgbClr val="2C3F3B"/>
          </a:solidFill>
          <a:ln w="12700">
            <a:solidFill>
              <a:srgbClr val="2C3F3B"/>
            </a:solidFill>
            <a:prstDash val="solid"/>
          </a:ln>
        </p:spPr>
      </p:sp>
      <p:sp>
        <p:nvSpPr>
          <p:cNvPr id="77" name="Shape 75"/>
          <p:cNvSpPr/>
          <p:nvPr/>
        </p:nvSpPr>
        <p:spPr>
          <a:xfrm>
            <a:off x="9464040" y="3657600"/>
            <a:ext cx="274320" cy="274320"/>
          </a:xfrm>
          <a:prstGeom prst="ellipse">
            <a:avLst/>
          </a:prstGeom>
          <a:solidFill>
            <a:srgbClr val="2C3F3B"/>
          </a:solidFill>
          <a:ln w="12700">
            <a:solidFill>
              <a:srgbClr val="2C3F3B"/>
            </a:solidFill>
            <a:prstDash val="solid"/>
          </a:ln>
        </p:spPr>
      </p:sp>
      <p:sp>
        <p:nvSpPr>
          <p:cNvPr id="78" name="Shape 76"/>
          <p:cNvSpPr/>
          <p:nvPr/>
        </p:nvSpPr>
        <p:spPr>
          <a:xfrm>
            <a:off x="9848088" y="3657600"/>
            <a:ext cx="274320" cy="274320"/>
          </a:xfrm>
          <a:prstGeom prst="ellipse">
            <a:avLst/>
          </a:prstGeom>
          <a:solidFill>
            <a:srgbClr val="2C3F3B"/>
          </a:solidFill>
          <a:ln w="12700">
            <a:solidFill>
              <a:srgbClr val="2C3F3B"/>
            </a:solidFill>
            <a:prstDash val="solid"/>
          </a:ln>
        </p:spPr>
      </p:sp>
      <p:sp>
        <p:nvSpPr>
          <p:cNvPr id="79" name="r1_dot56"/>
          <p:cNvSpPr/>
          <p:nvPr/>
        </p:nvSpPr>
        <p:spPr>
          <a:xfrm>
            <a:off x="9848088" y="3657600"/>
            <a:ext cx="274320" cy="274320"/>
          </a:xfrm>
          <a:prstGeom prst="ellipse">
            <a:avLst/>
          </a:prstGeom>
          <a:solidFill>
            <a:srgbClr val="E4572E"/>
          </a:solidFill>
          <a:ln w="12700">
            <a:solidFill>
              <a:srgbClr val="E4572E"/>
            </a:solidFill>
            <a:prstDash val="solid"/>
          </a:ln>
        </p:spPr>
      </p:sp>
      <p:sp>
        <p:nvSpPr>
          <p:cNvPr id="80" name="Shape 78"/>
          <p:cNvSpPr/>
          <p:nvPr/>
        </p:nvSpPr>
        <p:spPr>
          <a:xfrm>
            <a:off x="10232136" y="3657600"/>
            <a:ext cx="274320" cy="274320"/>
          </a:xfrm>
          <a:prstGeom prst="ellipse">
            <a:avLst/>
          </a:prstGeom>
          <a:solidFill>
            <a:srgbClr val="2C3F3B"/>
          </a:solidFill>
          <a:ln w="12700">
            <a:solidFill>
              <a:srgbClr val="2C3F3B"/>
            </a:solidFill>
            <a:prstDash val="solid"/>
          </a:ln>
        </p:spPr>
      </p:sp>
      <p:sp>
        <p:nvSpPr>
          <p:cNvPr id="81" name="Shape 79"/>
          <p:cNvSpPr/>
          <p:nvPr/>
        </p:nvSpPr>
        <p:spPr>
          <a:xfrm>
            <a:off x="10616184" y="3657600"/>
            <a:ext cx="274320" cy="274320"/>
          </a:xfrm>
          <a:prstGeom prst="ellipse">
            <a:avLst/>
          </a:prstGeom>
          <a:solidFill>
            <a:srgbClr val="2C3F3B"/>
          </a:solidFill>
          <a:ln w="12700">
            <a:solidFill>
              <a:srgbClr val="2C3F3B"/>
            </a:solidFill>
            <a:prstDash val="solid"/>
          </a:ln>
        </p:spPr>
      </p:sp>
      <p:sp>
        <p:nvSpPr>
          <p:cNvPr id="82" name="r1_dot58"/>
          <p:cNvSpPr/>
          <p:nvPr/>
        </p:nvSpPr>
        <p:spPr>
          <a:xfrm>
            <a:off x="10616184" y="3657600"/>
            <a:ext cx="274320" cy="274320"/>
          </a:xfrm>
          <a:prstGeom prst="ellipse">
            <a:avLst/>
          </a:prstGeom>
          <a:solidFill>
            <a:srgbClr val="E4572E"/>
          </a:solidFill>
          <a:ln w="12700">
            <a:solidFill>
              <a:srgbClr val="E4572E"/>
            </a:solidFill>
            <a:prstDash val="solid"/>
          </a:ln>
        </p:spPr>
      </p:sp>
      <p:sp>
        <p:nvSpPr>
          <p:cNvPr id="83" name="Shape 81"/>
          <p:cNvSpPr/>
          <p:nvPr/>
        </p:nvSpPr>
        <p:spPr>
          <a:xfrm>
            <a:off x="11000232" y="3657600"/>
            <a:ext cx="274320" cy="274320"/>
          </a:xfrm>
          <a:prstGeom prst="ellipse">
            <a:avLst/>
          </a:prstGeom>
          <a:solidFill>
            <a:srgbClr val="2C3F3B"/>
          </a:solidFill>
          <a:ln w="12700">
            <a:solidFill>
              <a:srgbClr val="2C3F3B"/>
            </a:solidFill>
            <a:prstDash val="solid"/>
          </a:ln>
        </p:spPr>
      </p:sp>
      <p:sp>
        <p:nvSpPr>
          <p:cNvPr id="84" name="Shape 82"/>
          <p:cNvSpPr/>
          <p:nvPr/>
        </p:nvSpPr>
        <p:spPr>
          <a:xfrm>
            <a:off x="7543800" y="4041648"/>
            <a:ext cx="274320" cy="274320"/>
          </a:xfrm>
          <a:prstGeom prst="ellipse">
            <a:avLst/>
          </a:prstGeom>
          <a:solidFill>
            <a:srgbClr val="2C3F3B"/>
          </a:solidFill>
          <a:ln w="12700">
            <a:solidFill>
              <a:srgbClr val="2C3F3B"/>
            </a:solidFill>
            <a:prstDash val="solid"/>
          </a:ln>
        </p:spPr>
      </p:sp>
      <p:sp>
        <p:nvSpPr>
          <p:cNvPr id="85" name="Shape 83"/>
          <p:cNvSpPr/>
          <p:nvPr/>
        </p:nvSpPr>
        <p:spPr>
          <a:xfrm>
            <a:off x="7927848" y="4041648"/>
            <a:ext cx="274320" cy="274320"/>
          </a:xfrm>
          <a:prstGeom prst="ellipse">
            <a:avLst/>
          </a:prstGeom>
          <a:solidFill>
            <a:srgbClr val="2C3F3B"/>
          </a:solidFill>
          <a:ln w="12700">
            <a:solidFill>
              <a:srgbClr val="2C3F3B"/>
            </a:solidFill>
            <a:prstDash val="solid"/>
          </a:ln>
        </p:spPr>
      </p:sp>
      <p:sp>
        <p:nvSpPr>
          <p:cNvPr id="86" name="Shape 84"/>
          <p:cNvSpPr/>
          <p:nvPr/>
        </p:nvSpPr>
        <p:spPr>
          <a:xfrm>
            <a:off x="8311896" y="4041648"/>
            <a:ext cx="274320" cy="274320"/>
          </a:xfrm>
          <a:prstGeom prst="ellipse">
            <a:avLst/>
          </a:prstGeom>
          <a:solidFill>
            <a:srgbClr val="2C3F3B"/>
          </a:solidFill>
          <a:ln w="12700">
            <a:solidFill>
              <a:srgbClr val="2C3F3B"/>
            </a:solidFill>
            <a:prstDash val="solid"/>
          </a:ln>
        </p:spPr>
      </p:sp>
      <p:sp>
        <p:nvSpPr>
          <p:cNvPr id="87" name="Shape 85"/>
          <p:cNvSpPr/>
          <p:nvPr/>
        </p:nvSpPr>
        <p:spPr>
          <a:xfrm>
            <a:off x="8695944" y="4041648"/>
            <a:ext cx="274320" cy="274320"/>
          </a:xfrm>
          <a:prstGeom prst="ellipse">
            <a:avLst/>
          </a:prstGeom>
          <a:solidFill>
            <a:srgbClr val="2C3F3B"/>
          </a:solidFill>
          <a:ln w="12700">
            <a:solidFill>
              <a:srgbClr val="2C3F3B"/>
            </a:solidFill>
            <a:prstDash val="solid"/>
          </a:ln>
        </p:spPr>
      </p:sp>
      <p:sp>
        <p:nvSpPr>
          <p:cNvPr id="88" name="Shape 86"/>
          <p:cNvSpPr/>
          <p:nvPr/>
        </p:nvSpPr>
        <p:spPr>
          <a:xfrm>
            <a:off x="9079992" y="4041648"/>
            <a:ext cx="274320" cy="274320"/>
          </a:xfrm>
          <a:prstGeom prst="ellipse">
            <a:avLst/>
          </a:prstGeom>
          <a:solidFill>
            <a:srgbClr val="2C3F3B"/>
          </a:solidFill>
          <a:ln w="12700">
            <a:solidFill>
              <a:srgbClr val="2C3F3B"/>
            </a:solidFill>
            <a:prstDash val="solid"/>
          </a:ln>
        </p:spPr>
      </p:sp>
      <p:sp>
        <p:nvSpPr>
          <p:cNvPr id="89" name="r1_dot64"/>
          <p:cNvSpPr/>
          <p:nvPr/>
        </p:nvSpPr>
        <p:spPr>
          <a:xfrm>
            <a:off x="9079992" y="4041648"/>
            <a:ext cx="274320" cy="274320"/>
          </a:xfrm>
          <a:prstGeom prst="ellipse">
            <a:avLst/>
          </a:prstGeom>
          <a:solidFill>
            <a:srgbClr val="E4572E"/>
          </a:solidFill>
          <a:ln w="12700">
            <a:solidFill>
              <a:srgbClr val="E4572E"/>
            </a:solidFill>
            <a:prstDash val="solid"/>
          </a:ln>
        </p:spPr>
      </p:sp>
      <p:sp>
        <p:nvSpPr>
          <p:cNvPr id="90" name="Shape 88"/>
          <p:cNvSpPr/>
          <p:nvPr/>
        </p:nvSpPr>
        <p:spPr>
          <a:xfrm>
            <a:off x="9464040" y="4041648"/>
            <a:ext cx="274320" cy="274320"/>
          </a:xfrm>
          <a:prstGeom prst="ellipse">
            <a:avLst/>
          </a:prstGeom>
          <a:solidFill>
            <a:srgbClr val="2C3F3B"/>
          </a:solidFill>
          <a:ln w="12700">
            <a:solidFill>
              <a:srgbClr val="2C3F3B"/>
            </a:solidFill>
            <a:prstDash val="solid"/>
          </a:ln>
        </p:spPr>
      </p:sp>
      <p:sp>
        <p:nvSpPr>
          <p:cNvPr id="91" name="Shape 89"/>
          <p:cNvSpPr/>
          <p:nvPr/>
        </p:nvSpPr>
        <p:spPr>
          <a:xfrm>
            <a:off x="9848088" y="4041648"/>
            <a:ext cx="274320" cy="274320"/>
          </a:xfrm>
          <a:prstGeom prst="ellipse">
            <a:avLst/>
          </a:prstGeom>
          <a:solidFill>
            <a:srgbClr val="2C3F3B"/>
          </a:solidFill>
          <a:ln w="12700">
            <a:solidFill>
              <a:srgbClr val="2C3F3B"/>
            </a:solidFill>
            <a:prstDash val="solid"/>
          </a:ln>
        </p:spPr>
      </p:sp>
      <p:sp>
        <p:nvSpPr>
          <p:cNvPr id="92" name="Shape 90"/>
          <p:cNvSpPr/>
          <p:nvPr/>
        </p:nvSpPr>
        <p:spPr>
          <a:xfrm>
            <a:off x="10232136" y="4041648"/>
            <a:ext cx="274320" cy="274320"/>
          </a:xfrm>
          <a:prstGeom prst="ellipse">
            <a:avLst/>
          </a:prstGeom>
          <a:solidFill>
            <a:srgbClr val="2C3F3B"/>
          </a:solidFill>
          <a:ln w="12700">
            <a:solidFill>
              <a:srgbClr val="2C3F3B"/>
            </a:solidFill>
            <a:prstDash val="solid"/>
          </a:ln>
        </p:spPr>
      </p:sp>
      <p:sp>
        <p:nvSpPr>
          <p:cNvPr id="93" name="Shape 91"/>
          <p:cNvSpPr/>
          <p:nvPr/>
        </p:nvSpPr>
        <p:spPr>
          <a:xfrm>
            <a:off x="10616184" y="4041648"/>
            <a:ext cx="274320" cy="274320"/>
          </a:xfrm>
          <a:prstGeom prst="ellipse">
            <a:avLst/>
          </a:prstGeom>
          <a:solidFill>
            <a:srgbClr val="2C3F3B"/>
          </a:solidFill>
          <a:ln w="12700">
            <a:solidFill>
              <a:srgbClr val="2C3F3B"/>
            </a:solidFill>
            <a:prstDash val="solid"/>
          </a:ln>
        </p:spPr>
      </p:sp>
      <p:sp>
        <p:nvSpPr>
          <p:cNvPr id="94" name="Shape 92"/>
          <p:cNvSpPr/>
          <p:nvPr/>
        </p:nvSpPr>
        <p:spPr>
          <a:xfrm>
            <a:off x="11000232" y="4041648"/>
            <a:ext cx="274320" cy="274320"/>
          </a:xfrm>
          <a:prstGeom prst="ellipse">
            <a:avLst/>
          </a:prstGeom>
          <a:solidFill>
            <a:srgbClr val="2C3F3B"/>
          </a:solidFill>
          <a:ln w="12700">
            <a:solidFill>
              <a:srgbClr val="2C3F3B"/>
            </a:solidFill>
            <a:prstDash val="solid"/>
          </a:ln>
        </p:spPr>
      </p:sp>
      <p:sp>
        <p:nvSpPr>
          <p:cNvPr id="95" name="Shape 93"/>
          <p:cNvSpPr/>
          <p:nvPr/>
        </p:nvSpPr>
        <p:spPr>
          <a:xfrm>
            <a:off x="7543800" y="4425696"/>
            <a:ext cx="274320" cy="274320"/>
          </a:xfrm>
          <a:prstGeom prst="ellipse">
            <a:avLst/>
          </a:prstGeom>
          <a:solidFill>
            <a:srgbClr val="2C3F3B"/>
          </a:solidFill>
          <a:ln w="12700">
            <a:solidFill>
              <a:srgbClr val="2C3F3B"/>
            </a:solidFill>
            <a:prstDash val="solid"/>
          </a:ln>
        </p:spPr>
      </p:sp>
      <p:sp>
        <p:nvSpPr>
          <p:cNvPr id="96" name="r1_dot70"/>
          <p:cNvSpPr/>
          <p:nvPr/>
        </p:nvSpPr>
        <p:spPr>
          <a:xfrm>
            <a:off x="7543800" y="4425696"/>
            <a:ext cx="274320" cy="274320"/>
          </a:xfrm>
          <a:prstGeom prst="ellipse">
            <a:avLst/>
          </a:prstGeom>
          <a:solidFill>
            <a:srgbClr val="E4572E"/>
          </a:solidFill>
          <a:ln w="12700">
            <a:solidFill>
              <a:srgbClr val="E4572E"/>
            </a:solidFill>
            <a:prstDash val="solid"/>
          </a:ln>
        </p:spPr>
      </p:sp>
      <p:sp>
        <p:nvSpPr>
          <p:cNvPr id="97" name="Shape 95"/>
          <p:cNvSpPr/>
          <p:nvPr/>
        </p:nvSpPr>
        <p:spPr>
          <a:xfrm>
            <a:off x="7927848" y="4425696"/>
            <a:ext cx="274320" cy="274320"/>
          </a:xfrm>
          <a:prstGeom prst="ellipse">
            <a:avLst/>
          </a:prstGeom>
          <a:solidFill>
            <a:srgbClr val="2C3F3B"/>
          </a:solidFill>
          <a:ln w="12700">
            <a:solidFill>
              <a:srgbClr val="2C3F3B"/>
            </a:solidFill>
            <a:prstDash val="solid"/>
          </a:ln>
        </p:spPr>
      </p:sp>
      <p:sp>
        <p:nvSpPr>
          <p:cNvPr id="98" name="Shape 96"/>
          <p:cNvSpPr/>
          <p:nvPr/>
        </p:nvSpPr>
        <p:spPr>
          <a:xfrm>
            <a:off x="8311896" y="4425696"/>
            <a:ext cx="274320" cy="274320"/>
          </a:xfrm>
          <a:prstGeom prst="ellipse">
            <a:avLst/>
          </a:prstGeom>
          <a:solidFill>
            <a:srgbClr val="2C3F3B"/>
          </a:solidFill>
          <a:ln w="12700">
            <a:solidFill>
              <a:srgbClr val="2C3F3B"/>
            </a:solidFill>
            <a:prstDash val="solid"/>
          </a:ln>
        </p:spPr>
      </p:sp>
      <p:sp>
        <p:nvSpPr>
          <p:cNvPr id="99" name="r1_dot72"/>
          <p:cNvSpPr/>
          <p:nvPr/>
        </p:nvSpPr>
        <p:spPr>
          <a:xfrm>
            <a:off x="8311896" y="4425696"/>
            <a:ext cx="274320" cy="274320"/>
          </a:xfrm>
          <a:prstGeom prst="ellipse">
            <a:avLst/>
          </a:prstGeom>
          <a:solidFill>
            <a:srgbClr val="E4572E"/>
          </a:solidFill>
          <a:ln w="12700">
            <a:solidFill>
              <a:srgbClr val="E4572E"/>
            </a:solidFill>
            <a:prstDash val="solid"/>
          </a:ln>
        </p:spPr>
      </p:sp>
      <p:sp>
        <p:nvSpPr>
          <p:cNvPr id="100" name="Shape 98"/>
          <p:cNvSpPr/>
          <p:nvPr/>
        </p:nvSpPr>
        <p:spPr>
          <a:xfrm>
            <a:off x="8695944" y="4425696"/>
            <a:ext cx="274320" cy="274320"/>
          </a:xfrm>
          <a:prstGeom prst="ellipse">
            <a:avLst/>
          </a:prstGeom>
          <a:solidFill>
            <a:srgbClr val="2C3F3B"/>
          </a:solidFill>
          <a:ln w="12700">
            <a:solidFill>
              <a:srgbClr val="2C3F3B"/>
            </a:solidFill>
            <a:prstDash val="solid"/>
          </a:ln>
        </p:spPr>
      </p:sp>
      <p:sp>
        <p:nvSpPr>
          <p:cNvPr id="101" name="r1_dot73"/>
          <p:cNvSpPr/>
          <p:nvPr/>
        </p:nvSpPr>
        <p:spPr>
          <a:xfrm>
            <a:off x="8695944" y="4425696"/>
            <a:ext cx="274320" cy="274320"/>
          </a:xfrm>
          <a:prstGeom prst="ellipse">
            <a:avLst/>
          </a:prstGeom>
          <a:solidFill>
            <a:srgbClr val="E4572E"/>
          </a:solidFill>
          <a:ln w="12700">
            <a:solidFill>
              <a:srgbClr val="E4572E"/>
            </a:solidFill>
            <a:prstDash val="solid"/>
          </a:ln>
        </p:spPr>
      </p:sp>
      <p:sp>
        <p:nvSpPr>
          <p:cNvPr id="102" name="Shape 100"/>
          <p:cNvSpPr/>
          <p:nvPr/>
        </p:nvSpPr>
        <p:spPr>
          <a:xfrm>
            <a:off x="9079992" y="4425696"/>
            <a:ext cx="274320" cy="274320"/>
          </a:xfrm>
          <a:prstGeom prst="ellipse">
            <a:avLst/>
          </a:prstGeom>
          <a:solidFill>
            <a:srgbClr val="2C3F3B"/>
          </a:solidFill>
          <a:ln w="12700">
            <a:solidFill>
              <a:srgbClr val="2C3F3B"/>
            </a:solidFill>
            <a:prstDash val="solid"/>
          </a:ln>
        </p:spPr>
      </p:sp>
      <p:sp>
        <p:nvSpPr>
          <p:cNvPr id="103" name="r1_dot74"/>
          <p:cNvSpPr/>
          <p:nvPr/>
        </p:nvSpPr>
        <p:spPr>
          <a:xfrm>
            <a:off x="9079992" y="4425696"/>
            <a:ext cx="274320" cy="274320"/>
          </a:xfrm>
          <a:prstGeom prst="ellipse">
            <a:avLst/>
          </a:prstGeom>
          <a:solidFill>
            <a:srgbClr val="E4572E"/>
          </a:solidFill>
          <a:ln w="12700">
            <a:solidFill>
              <a:srgbClr val="E4572E"/>
            </a:solidFill>
            <a:prstDash val="solid"/>
          </a:ln>
        </p:spPr>
      </p:sp>
      <p:sp>
        <p:nvSpPr>
          <p:cNvPr id="104" name="Shape 102"/>
          <p:cNvSpPr/>
          <p:nvPr/>
        </p:nvSpPr>
        <p:spPr>
          <a:xfrm>
            <a:off x="9464040" y="4425696"/>
            <a:ext cx="274320" cy="274320"/>
          </a:xfrm>
          <a:prstGeom prst="ellipse">
            <a:avLst/>
          </a:prstGeom>
          <a:solidFill>
            <a:srgbClr val="2C3F3B"/>
          </a:solidFill>
          <a:ln w="12700">
            <a:solidFill>
              <a:srgbClr val="2C3F3B"/>
            </a:solidFill>
            <a:prstDash val="solid"/>
          </a:ln>
        </p:spPr>
      </p:sp>
      <p:sp>
        <p:nvSpPr>
          <p:cNvPr id="105" name="r1_dot75"/>
          <p:cNvSpPr/>
          <p:nvPr/>
        </p:nvSpPr>
        <p:spPr>
          <a:xfrm>
            <a:off x="9464040" y="4425696"/>
            <a:ext cx="274320" cy="274320"/>
          </a:xfrm>
          <a:prstGeom prst="ellipse">
            <a:avLst/>
          </a:prstGeom>
          <a:solidFill>
            <a:srgbClr val="E4572E"/>
          </a:solidFill>
          <a:ln w="12700">
            <a:solidFill>
              <a:srgbClr val="E4572E"/>
            </a:solidFill>
            <a:prstDash val="solid"/>
          </a:ln>
        </p:spPr>
      </p:sp>
      <p:sp>
        <p:nvSpPr>
          <p:cNvPr id="106" name="Shape 104"/>
          <p:cNvSpPr/>
          <p:nvPr/>
        </p:nvSpPr>
        <p:spPr>
          <a:xfrm>
            <a:off x="9848088" y="4425696"/>
            <a:ext cx="274320" cy="274320"/>
          </a:xfrm>
          <a:prstGeom prst="ellipse">
            <a:avLst/>
          </a:prstGeom>
          <a:solidFill>
            <a:srgbClr val="2C3F3B"/>
          </a:solidFill>
          <a:ln w="12700">
            <a:solidFill>
              <a:srgbClr val="2C3F3B"/>
            </a:solidFill>
            <a:prstDash val="solid"/>
          </a:ln>
        </p:spPr>
      </p:sp>
      <p:sp>
        <p:nvSpPr>
          <p:cNvPr id="107" name="Shape 105"/>
          <p:cNvSpPr/>
          <p:nvPr/>
        </p:nvSpPr>
        <p:spPr>
          <a:xfrm>
            <a:off x="10232136" y="4425696"/>
            <a:ext cx="274320" cy="274320"/>
          </a:xfrm>
          <a:prstGeom prst="ellipse">
            <a:avLst/>
          </a:prstGeom>
          <a:solidFill>
            <a:srgbClr val="2C3F3B"/>
          </a:solidFill>
          <a:ln w="12700">
            <a:solidFill>
              <a:srgbClr val="2C3F3B"/>
            </a:solidFill>
            <a:prstDash val="solid"/>
          </a:ln>
        </p:spPr>
      </p:sp>
      <p:sp>
        <p:nvSpPr>
          <p:cNvPr id="108" name="Shape 106"/>
          <p:cNvSpPr/>
          <p:nvPr/>
        </p:nvSpPr>
        <p:spPr>
          <a:xfrm>
            <a:off x="10616184" y="4425696"/>
            <a:ext cx="274320" cy="274320"/>
          </a:xfrm>
          <a:prstGeom prst="ellipse">
            <a:avLst/>
          </a:prstGeom>
          <a:solidFill>
            <a:srgbClr val="2C3F3B"/>
          </a:solidFill>
          <a:ln w="12700">
            <a:solidFill>
              <a:srgbClr val="2C3F3B"/>
            </a:solidFill>
            <a:prstDash val="solid"/>
          </a:ln>
        </p:spPr>
      </p:sp>
      <p:sp>
        <p:nvSpPr>
          <p:cNvPr id="109" name="Shape 107"/>
          <p:cNvSpPr/>
          <p:nvPr/>
        </p:nvSpPr>
        <p:spPr>
          <a:xfrm>
            <a:off x="11000232" y="4425696"/>
            <a:ext cx="274320" cy="274320"/>
          </a:xfrm>
          <a:prstGeom prst="ellipse">
            <a:avLst/>
          </a:prstGeom>
          <a:solidFill>
            <a:srgbClr val="2C3F3B"/>
          </a:solidFill>
          <a:ln w="12700">
            <a:solidFill>
              <a:srgbClr val="2C3F3B"/>
            </a:solidFill>
            <a:prstDash val="solid"/>
          </a:ln>
        </p:spPr>
      </p:sp>
      <p:sp>
        <p:nvSpPr>
          <p:cNvPr id="110" name="Shape 108"/>
          <p:cNvSpPr/>
          <p:nvPr/>
        </p:nvSpPr>
        <p:spPr>
          <a:xfrm>
            <a:off x="7543800" y="4809744"/>
            <a:ext cx="274320" cy="274320"/>
          </a:xfrm>
          <a:prstGeom prst="ellipse">
            <a:avLst/>
          </a:prstGeom>
          <a:solidFill>
            <a:srgbClr val="2C3F3B"/>
          </a:solidFill>
          <a:ln w="12700">
            <a:solidFill>
              <a:srgbClr val="2C3F3B"/>
            </a:solidFill>
            <a:prstDash val="solid"/>
          </a:ln>
        </p:spPr>
      </p:sp>
      <p:sp>
        <p:nvSpPr>
          <p:cNvPr id="111" name="Shape 109"/>
          <p:cNvSpPr/>
          <p:nvPr/>
        </p:nvSpPr>
        <p:spPr>
          <a:xfrm>
            <a:off x="7927848" y="4809744"/>
            <a:ext cx="274320" cy="274320"/>
          </a:xfrm>
          <a:prstGeom prst="ellipse">
            <a:avLst/>
          </a:prstGeom>
          <a:solidFill>
            <a:srgbClr val="2C3F3B"/>
          </a:solidFill>
          <a:ln w="12700">
            <a:solidFill>
              <a:srgbClr val="2C3F3B"/>
            </a:solidFill>
            <a:prstDash val="solid"/>
          </a:ln>
        </p:spPr>
      </p:sp>
      <p:sp>
        <p:nvSpPr>
          <p:cNvPr id="112" name="Shape 110"/>
          <p:cNvSpPr/>
          <p:nvPr/>
        </p:nvSpPr>
        <p:spPr>
          <a:xfrm>
            <a:off x="8311896" y="4809744"/>
            <a:ext cx="274320" cy="274320"/>
          </a:xfrm>
          <a:prstGeom prst="ellipse">
            <a:avLst/>
          </a:prstGeom>
          <a:solidFill>
            <a:srgbClr val="2C3F3B"/>
          </a:solidFill>
          <a:ln w="12700">
            <a:solidFill>
              <a:srgbClr val="2C3F3B"/>
            </a:solidFill>
            <a:prstDash val="solid"/>
          </a:ln>
        </p:spPr>
      </p:sp>
      <p:sp>
        <p:nvSpPr>
          <p:cNvPr id="113" name="Shape 111"/>
          <p:cNvSpPr/>
          <p:nvPr/>
        </p:nvSpPr>
        <p:spPr>
          <a:xfrm>
            <a:off x="8695944" y="4809744"/>
            <a:ext cx="274320" cy="274320"/>
          </a:xfrm>
          <a:prstGeom prst="ellipse">
            <a:avLst/>
          </a:prstGeom>
          <a:solidFill>
            <a:srgbClr val="2C3F3B"/>
          </a:solidFill>
          <a:ln w="12700">
            <a:solidFill>
              <a:srgbClr val="2C3F3B"/>
            </a:solidFill>
            <a:prstDash val="solid"/>
          </a:ln>
        </p:spPr>
      </p:sp>
      <p:sp>
        <p:nvSpPr>
          <p:cNvPr id="114" name="Shape 112"/>
          <p:cNvSpPr/>
          <p:nvPr/>
        </p:nvSpPr>
        <p:spPr>
          <a:xfrm>
            <a:off x="9079992" y="4809744"/>
            <a:ext cx="274320" cy="274320"/>
          </a:xfrm>
          <a:prstGeom prst="ellipse">
            <a:avLst/>
          </a:prstGeom>
          <a:solidFill>
            <a:srgbClr val="2C3F3B"/>
          </a:solidFill>
          <a:ln w="12700">
            <a:solidFill>
              <a:srgbClr val="2C3F3B"/>
            </a:solidFill>
            <a:prstDash val="solid"/>
          </a:ln>
        </p:spPr>
      </p:sp>
      <p:sp>
        <p:nvSpPr>
          <p:cNvPr id="115" name="r1_dot84"/>
          <p:cNvSpPr/>
          <p:nvPr/>
        </p:nvSpPr>
        <p:spPr>
          <a:xfrm>
            <a:off x="9079992" y="4809744"/>
            <a:ext cx="274320" cy="274320"/>
          </a:xfrm>
          <a:prstGeom prst="ellipse">
            <a:avLst/>
          </a:prstGeom>
          <a:solidFill>
            <a:srgbClr val="E4572E"/>
          </a:solidFill>
          <a:ln w="12700">
            <a:solidFill>
              <a:srgbClr val="E4572E"/>
            </a:solidFill>
            <a:prstDash val="solid"/>
          </a:ln>
        </p:spPr>
      </p:sp>
      <p:sp>
        <p:nvSpPr>
          <p:cNvPr id="116" name="Shape 114"/>
          <p:cNvSpPr/>
          <p:nvPr/>
        </p:nvSpPr>
        <p:spPr>
          <a:xfrm>
            <a:off x="9464040" y="4809744"/>
            <a:ext cx="274320" cy="274320"/>
          </a:xfrm>
          <a:prstGeom prst="ellipse">
            <a:avLst/>
          </a:prstGeom>
          <a:solidFill>
            <a:srgbClr val="2C3F3B"/>
          </a:solidFill>
          <a:ln w="12700">
            <a:solidFill>
              <a:srgbClr val="2C3F3B"/>
            </a:solidFill>
            <a:prstDash val="solid"/>
          </a:ln>
        </p:spPr>
      </p:sp>
      <p:sp>
        <p:nvSpPr>
          <p:cNvPr id="117" name="Shape 115"/>
          <p:cNvSpPr/>
          <p:nvPr/>
        </p:nvSpPr>
        <p:spPr>
          <a:xfrm>
            <a:off x="9848088" y="4809744"/>
            <a:ext cx="274320" cy="274320"/>
          </a:xfrm>
          <a:prstGeom prst="ellipse">
            <a:avLst/>
          </a:prstGeom>
          <a:solidFill>
            <a:srgbClr val="2C3F3B"/>
          </a:solidFill>
          <a:ln w="12700">
            <a:solidFill>
              <a:srgbClr val="2C3F3B"/>
            </a:solidFill>
            <a:prstDash val="solid"/>
          </a:ln>
        </p:spPr>
      </p:sp>
      <p:sp>
        <p:nvSpPr>
          <p:cNvPr id="118" name="Shape 116"/>
          <p:cNvSpPr/>
          <p:nvPr/>
        </p:nvSpPr>
        <p:spPr>
          <a:xfrm>
            <a:off x="10232136" y="4809744"/>
            <a:ext cx="274320" cy="274320"/>
          </a:xfrm>
          <a:prstGeom prst="ellipse">
            <a:avLst/>
          </a:prstGeom>
          <a:solidFill>
            <a:srgbClr val="2C3F3B"/>
          </a:solidFill>
          <a:ln w="12700">
            <a:solidFill>
              <a:srgbClr val="2C3F3B"/>
            </a:solidFill>
            <a:prstDash val="solid"/>
          </a:ln>
        </p:spPr>
      </p:sp>
      <p:sp>
        <p:nvSpPr>
          <p:cNvPr id="119" name="r1_dot87"/>
          <p:cNvSpPr/>
          <p:nvPr/>
        </p:nvSpPr>
        <p:spPr>
          <a:xfrm>
            <a:off x="10232136" y="4809744"/>
            <a:ext cx="274320" cy="274320"/>
          </a:xfrm>
          <a:prstGeom prst="ellipse">
            <a:avLst/>
          </a:prstGeom>
          <a:solidFill>
            <a:srgbClr val="E4572E"/>
          </a:solidFill>
          <a:ln w="12700">
            <a:solidFill>
              <a:srgbClr val="E4572E"/>
            </a:solidFill>
            <a:prstDash val="solid"/>
          </a:ln>
        </p:spPr>
      </p:sp>
      <p:sp>
        <p:nvSpPr>
          <p:cNvPr id="120" name="Shape 118"/>
          <p:cNvSpPr/>
          <p:nvPr/>
        </p:nvSpPr>
        <p:spPr>
          <a:xfrm>
            <a:off x="10616184" y="4809744"/>
            <a:ext cx="274320" cy="274320"/>
          </a:xfrm>
          <a:prstGeom prst="ellipse">
            <a:avLst/>
          </a:prstGeom>
          <a:solidFill>
            <a:srgbClr val="2C3F3B"/>
          </a:solidFill>
          <a:ln w="12700">
            <a:solidFill>
              <a:srgbClr val="2C3F3B"/>
            </a:solidFill>
            <a:prstDash val="solid"/>
          </a:ln>
        </p:spPr>
      </p:sp>
      <p:sp>
        <p:nvSpPr>
          <p:cNvPr id="121" name="r1_dot88"/>
          <p:cNvSpPr/>
          <p:nvPr/>
        </p:nvSpPr>
        <p:spPr>
          <a:xfrm>
            <a:off x="10616184" y="4809744"/>
            <a:ext cx="274320" cy="274320"/>
          </a:xfrm>
          <a:prstGeom prst="ellipse">
            <a:avLst/>
          </a:prstGeom>
          <a:solidFill>
            <a:srgbClr val="E4572E"/>
          </a:solidFill>
          <a:ln w="12700">
            <a:solidFill>
              <a:srgbClr val="E4572E"/>
            </a:solidFill>
            <a:prstDash val="solid"/>
          </a:ln>
        </p:spPr>
      </p:sp>
      <p:sp>
        <p:nvSpPr>
          <p:cNvPr id="122" name="Shape 120"/>
          <p:cNvSpPr/>
          <p:nvPr/>
        </p:nvSpPr>
        <p:spPr>
          <a:xfrm>
            <a:off x="11000232" y="4809744"/>
            <a:ext cx="274320" cy="274320"/>
          </a:xfrm>
          <a:prstGeom prst="ellipse">
            <a:avLst/>
          </a:prstGeom>
          <a:solidFill>
            <a:srgbClr val="2C3F3B"/>
          </a:solidFill>
          <a:ln w="12700">
            <a:solidFill>
              <a:srgbClr val="2C3F3B"/>
            </a:solidFill>
            <a:prstDash val="solid"/>
          </a:ln>
        </p:spPr>
      </p:sp>
      <p:sp>
        <p:nvSpPr>
          <p:cNvPr id="123" name="r1_dot89"/>
          <p:cNvSpPr/>
          <p:nvPr/>
        </p:nvSpPr>
        <p:spPr>
          <a:xfrm>
            <a:off x="11000232" y="4809744"/>
            <a:ext cx="274320" cy="274320"/>
          </a:xfrm>
          <a:prstGeom prst="ellipse">
            <a:avLst/>
          </a:prstGeom>
          <a:solidFill>
            <a:srgbClr val="E4572E"/>
          </a:solidFill>
          <a:ln w="12700">
            <a:solidFill>
              <a:srgbClr val="E4572E"/>
            </a:solidFill>
            <a:prstDash val="solid"/>
          </a:ln>
        </p:spPr>
      </p:sp>
      <p:sp>
        <p:nvSpPr>
          <p:cNvPr id="124" name="Shape 122"/>
          <p:cNvSpPr/>
          <p:nvPr/>
        </p:nvSpPr>
        <p:spPr>
          <a:xfrm>
            <a:off x="7543800" y="5193792"/>
            <a:ext cx="274320" cy="274320"/>
          </a:xfrm>
          <a:prstGeom prst="ellipse">
            <a:avLst/>
          </a:prstGeom>
          <a:solidFill>
            <a:srgbClr val="2C3F3B"/>
          </a:solidFill>
          <a:ln w="12700">
            <a:solidFill>
              <a:srgbClr val="2C3F3B"/>
            </a:solidFill>
            <a:prstDash val="solid"/>
          </a:ln>
        </p:spPr>
      </p:sp>
      <p:sp>
        <p:nvSpPr>
          <p:cNvPr id="125" name="r1_dot90"/>
          <p:cNvSpPr/>
          <p:nvPr/>
        </p:nvSpPr>
        <p:spPr>
          <a:xfrm>
            <a:off x="7543800" y="5193792"/>
            <a:ext cx="274320" cy="274320"/>
          </a:xfrm>
          <a:prstGeom prst="ellipse">
            <a:avLst/>
          </a:prstGeom>
          <a:solidFill>
            <a:srgbClr val="E4572E"/>
          </a:solidFill>
          <a:ln w="12700">
            <a:solidFill>
              <a:srgbClr val="E4572E"/>
            </a:solidFill>
            <a:prstDash val="solid"/>
          </a:ln>
        </p:spPr>
      </p:sp>
      <p:sp>
        <p:nvSpPr>
          <p:cNvPr id="126" name="Shape 124"/>
          <p:cNvSpPr/>
          <p:nvPr/>
        </p:nvSpPr>
        <p:spPr>
          <a:xfrm>
            <a:off x="7927848" y="5193792"/>
            <a:ext cx="274320" cy="274320"/>
          </a:xfrm>
          <a:prstGeom prst="ellipse">
            <a:avLst/>
          </a:prstGeom>
          <a:solidFill>
            <a:srgbClr val="2C3F3B"/>
          </a:solidFill>
          <a:ln w="12700">
            <a:solidFill>
              <a:srgbClr val="2C3F3B"/>
            </a:solidFill>
            <a:prstDash val="solid"/>
          </a:ln>
        </p:spPr>
      </p:sp>
      <p:sp>
        <p:nvSpPr>
          <p:cNvPr id="127" name="Shape 125"/>
          <p:cNvSpPr/>
          <p:nvPr/>
        </p:nvSpPr>
        <p:spPr>
          <a:xfrm>
            <a:off x="8311896" y="5193792"/>
            <a:ext cx="274320" cy="274320"/>
          </a:xfrm>
          <a:prstGeom prst="ellipse">
            <a:avLst/>
          </a:prstGeom>
          <a:solidFill>
            <a:srgbClr val="2C3F3B"/>
          </a:solidFill>
          <a:ln w="12700">
            <a:solidFill>
              <a:srgbClr val="2C3F3B"/>
            </a:solidFill>
            <a:prstDash val="solid"/>
          </a:ln>
        </p:spPr>
      </p:sp>
      <p:sp>
        <p:nvSpPr>
          <p:cNvPr id="128" name="Shape 126"/>
          <p:cNvSpPr/>
          <p:nvPr/>
        </p:nvSpPr>
        <p:spPr>
          <a:xfrm>
            <a:off x="8695944" y="5193792"/>
            <a:ext cx="274320" cy="274320"/>
          </a:xfrm>
          <a:prstGeom prst="ellipse">
            <a:avLst/>
          </a:prstGeom>
          <a:solidFill>
            <a:srgbClr val="2C3F3B"/>
          </a:solidFill>
          <a:ln w="12700">
            <a:solidFill>
              <a:srgbClr val="2C3F3B"/>
            </a:solidFill>
            <a:prstDash val="solid"/>
          </a:ln>
        </p:spPr>
      </p:sp>
      <p:sp>
        <p:nvSpPr>
          <p:cNvPr id="129" name="Shape 127"/>
          <p:cNvSpPr/>
          <p:nvPr/>
        </p:nvSpPr>
        <p:spPr>
          <a:xfrm>
            <a:off x="9079992" y="5193792"/>
            <a:ext cx="274320" cy="274320"/>
          </a:xfrm>
          <a:prstGeom prst="ellipse">
            <a:avLst/>
          </a:prstGeom>
          <a:solidFill>
            <a:srgbClr val="2C3F3B"/>
          </a:solidFill>
          <a:ln w="12700">
            <a:solidFill>
              <a:srgbClr val="2C3F3B"/>
            </a:solidFill>
            <a:prstDash val="solid"/>
          </a:ln>
        </p:spPr>
      </p:sp>
      <p:sp>
        <p:nvSpPr>
          <p:cNvPr id="130" name="Shape 128"/>
          <p:cNvSpPr/>
          <p:nvPr/>
        </p:nvSpPr>
        <p:spPr>
          <a:xfrm>
            <a:off x="9464040" y="5193792"/>
            <a:ext cx="274320" cy="274320"/>
          </a:xfrm>
          <a:prstGeom prst="ellipse">
            <a:avLst/>
          </a:prstGeom>
          <a:solidFill>
            <a:srgbClr val="2C3F3B"/>
          </a:solidFill>
          <a:ln w="12700">
            <a:solidFill>
              <a:srgbClr val="2C3F3B"/>
            </a:solidFill>
            <a:prstDash val="solid"/>
          </a:ln>
        </p:spPr>
      </p:sp>
      <p:sp>
        <p:nvSpPr>
          <p:cNvPr id="131" name="Shape 129"/>
          <p:cNvSpPr/>
          <p:nvPr/>
        </p:nvSpPr>
        <p:spPr>
          <a:xfrm>
            <a:off x="9848088" y="5193792"/>
            <a:ext cx="274320" cy="274320"/>
          </a:xfrm>
          <a:prstGeom prst="ellipse">
            <a:avLst/>
          </a:prstGeom>
          <a:solidFill>
            <a:srgbClr val="2C3F3B"/>
          </a:solidFill>
          <a:ln w="12700">
            <a:solidFill>
              <a:srgbClr val="2C3F3B"/>
            </a:solidFill>
            <a:prstDash val="solid"/>
          </a:ln>
        </p:spPr>
      </p:sp>
      <p:sp>
        <p:nvSpPr>
          <p:cNvPr id="132" name="Shape 130"/>
          <p:cNvSpPr/>
          <p:nvPr/>
        </p:nvSpPr>
        <p:spPr>
          <a:xfrm>
            <a:off x="10232136" y="5193792"/>
            <a:ext cx="274320" cy="274320"/>
          </a:xfrm>
          <a:prstGeom prst="ellipse">
            <a:avLst/>
          </a:prstGeom>
          <a:solidFill>
            <a:srgbClr val="2C3F3B"/>
          </a:solidFill>
          <a:ln w="12700">
            <a:solidFill>
              <a:srgbClr val="2C3F3B"/>
            </a:solidFill>
            <a:prstDash val="solid"/>
          </a:ln>
        </p:spPr>
      </p:sp>
      <p:sp>
        <p:nvSpPr>
          <p:cNvPr id="133" name="Shape 131"/>
          <p:cNvSpPr/>
          <p:nvPr/>
        </p:nvSpPr>
        <p:spPr>
          <a:xfrm>
            <a:off x="10616184" y="5193792"/>
            <a:ext cx="274320" cy="274320"/>
          </a:xfrm>
          <a:prstGeom prst="ellipse">
            <a:avLst/>
          </a:prstGeom>
          <a:solidFill>
            <a:srgbClr val="2C3F3B"/>
          </a:solidFill>
          <a:ln w="12700">
            <a:solidFill>
              <a:srgbClr val="2C3F3B"/>
            </a:solidFill>
            <a:prstDash val="solid"/>
          </a:ln>
        </p:spPr>
      </p:sp>
      <p:sp>
        <p:nvSpPr>
          <p:cNvPr id="134" name="Shape 132"/>
          <p:cNvSpPr/>
          <p:nvPr/>
        </p:nvSpPr>
        <p:spPr>
          <a:xfrm>
            <a:off x="11000232" y="5193792"/>
            <a:ext cx="274320" cy="274320"/>
          </a:xfrm>
          <a:prstGeom prst="ellipse">
            <a:avLst/>
          </a:prstGeom>
          <a:solidFill>
            <a:srgbClr val="2C3F3B"/>
          </a:solidFill>
          <a:ln w="12700">
            <a:solidFill>
              <a:srgbClr val="2C3F3B"/>
            </a:solidFill>
            <a:prstDash val="solid"/>
          </a:ln>
        </p:spPr>
      </p:sp>
      <p:sp>
        <p:nvSpPr>
          <p:cNvPr id="135" name="r1_answer"/>
          <p:cNvSpPr txBox="1"/>
          <p:nvPr/>
        </p:nvSpPr>
        <p:spPr>
          <a:xfrm>
            <a:off x="7543800" y="5687568"/>
            <a:ext cx="4206240" cy="457200"/>
          </a:xfrm>
          <a:prstGeom prst="rect">
            <a:avLst/>
          </a:prstGeom>
          <a:noFill/>
          <a:ln/>
        </p:spPr>
        <p:txBody>
          <a:bodyPr wrap="square" lIns="0" tIns="0" rIns="0" bIns="0" rtlCol="0" anchor="ctr"/>
          <a:lstStyle/>
          <a:p>
            <a:pPr indent="0" marL="0">
              <a:buNone/>
            </a:pPr>
            <a:r>
              <a:rPr lang="en-US" sz="2400" b="1" dirty="0">
                <a:solidFill>
                  <a:srgbClr val="E4572E"/>
                </a:solidFill>
                <a:latin typeface="Georgia" pitchFamily="34" charset="0"/>
                <a:ea typeface="Georgia" pitchFamily="34" charset="-122"/>
                <a:cs typeface="Georgia" pitchFamily="34" charset="-120"/>
              </a:rPr>
              <a:t>25. </a:t>
            </a:r>
            <a:pPr indent="0" marL="0">
              <a:buNone/>
            </a:pPr>
            <a:r>
              <a:rPr lang="en-US" sz="1500" dirty="0">
                <a:solidFill>
                  <a:srgbClr val="FFFFFF"/>
                </a:solidFill>
                <a:latin typeface="Arial" pitchFamily="34" charset="0"/>
                <a:ea typeface="Arial" pitchFamily="34" charset="-122"/>
                <a:cs typeface="Arial" pitchFamily="34" charset="-120"/>
              </a:rPr>
              <a:t>One in four is looking to move.</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5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5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50"/>
                                        <p:tgtEl>
                                          <p:spTgt spid="19"/>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5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50"/>
                                        <p:tgtEl>
                                          <p:spTgt spid="29"/>
                                        </p:tgtEl>
                                      </p:cBhvr>
                                    </p:animEffect>
                                  </p:childTnLst>
                                </p:cTn>
                              </p:par>
                              <p:par>
                                <p:cTn id="23" presetID="10"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450"/>
                                        <p:tgtEl>
                                          <p:spTgt spid="42"/>
                                        </p:tgtEl>
                                      </p:cBhvr>
                                    </p:animEffect>
                                  </p:childTnLst>
                                </p:cTn>
                              </p:par>
                              <p:par>
                                <p:cTn id="26" presetID="10" presetClass="entr" presetSubtype="0" fill="hold" nodeType="with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450"/>
                                        <p:tgtEl>
                                          <p:spTgt spid="44"/>
                                        </p:tgtEl>
                                      </p:cBhvr>
                                    </p:animEffect>
                                  </p:childTnLst>
                                </p:cTn>
                              </p:par>
                              <p:par>
                                <p:cTn id="29" presetID="10" presetClass="entr" presetSubtype="0" fill="hold" nodeType="with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450"/>
                                        <p:tgtEl>
                                          <p:spTgt spid="47"/>
                                        </p:tgtEl>
                                      </p:cBhvr>
                                    </p:animEffect>
                                  </p:childTnLst>
                                </p:cTn>
                              </p:par>
                              <p:par>
                                <p:cTn id="32" presetID="10" presetClass="entr" presetSubtype="0" fill="hold" nodeType="with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fade">
                                      <p:cBhvr>
                                        <p:cTn id="34" dur="450"/>
                                        <p:tgtEl>
                                          <p:spTgt spid="50"/>
                                        </p:tgtEl>
                                      </p:cBhvr>
                                    </p:animEffect>
                                  </p:childTnLst>
                                </p:cTn>
                              </p:par>
                              <p:par>
                                <p:cTn id="35" presetID="10" presetClass="entr" presetSubtype="0" fill="hold" nodeType="withEffect">
                                  <p:stCondLst>
                                    <p:cond delay="0"/>
                                  </p:stCondLst>
                                  <p:childTnLst>
                                    <p:set>
                                      <p:cBhvr>
                                        <p:cTn id="36" dur="1" fill="hold">
                                          <p:stCondLst>
                                            <p:cond delay="0"/>
                                          </p:stCondLst>
                                        </p:cTn>
                                        <p:tgtEl>
                                          <p:spTgt spid="65"/>
                                        </p:tgtEl>
                                        <p:attrNameLst>
                                          <p:attrName>style.visibility</p:attrName>
                                        </p:attrNameLst>
                                      </p:cBhvr>
                                      <p:to>
                                        <p:strVal val="visible"/>
                                      </p:to>
                                    </p:set>
                                    <p:animEffect transition="in" filter="fade">
                                      <p:cBhvr>
                                        <p:cTn id="37" dur="450"/>
                                        <p:tgtEl>
                                          <p:spTgt spid="65"/>
                                        </p:tgtEl>
                                      </p:cBhvr>
                                    </p:animEffect>
                                  </p:childTnLst>
                                </p:cTn>
                              </p:par>
                              <p:par>
                                <p:cTn id="38" presetID="10" presetClass="entr" presetSubtype="0" fill="hold" nodeType="withEffect">
                                  <p:stCondLst>
                                    <p:cond delay="0"/>
                                  </p:stCondLst>
                                  <p:childTnLst>
                                    <p:set>
                                      <p:cBhvr>
                                        <p:cTn id="39" dur="1" fill="hold">
                                          <p:stCondLst>
                                            <p:cond delay="0"/>
                                          </p:stCondLst>
                                        </p:cTn>
                                        <p:tgtEl>
                                          <p:spTgt spid="74"/>
                                        </p:tgtEl>
                                        <p:attrNameLst>
                                          <p:attrName>style.visibility</p:attrName>
                                        </p:attrNameLst>
                                      </p:cBhvr>
                                      <p:to>
                                        <p:strVal val="visible"/>
                                      </p:to>
                                    </p:set>
                                    <p:animEffect transition="in" filter="fade">
                                      <p:cBhvr>
                                        <p:cTn id="40" dur="450"/>
                                        <p:tgtEl>
                                          <p:spTgt spid="74"/>
                                        </p:tgtEl>
                                      </p:cBhvr>
                                    </p:animEffect>
                                  </p:childTnLst>
                                </p:cTn>
                              </p:par>
                              <p:par>
                                <p:cTn id="41" presetID="10" presetClass="entr" presetSubtype="0" fill="hold" nodeType="withEffect">
                                  <p:stCondLst>
                                    <p:cond delay="0"/>
                                  </p:stCondLst>
                                  <p:childTnLst>
                                    <p:set>
                                      <p:cBhvr>
                                        <p:cTn id="42" dur="1" fill="hold">
                                          <p:stCondLst>
                                            <p:cond delay="0"/>
                                          </p:stCondLst>
                                        </p:cTn>
                                        <p:tgtEl>
                                          <p:spTgt spid="79"/>
                                        </p:tgtEl>
                                        <p:attrNameLst>
                                          <p:attrName>style.visibility</p:attrName>
                                        </p:attrNameLst>
                                      </p:cBhvr>
                                      <p:to>
                                        <p:strVal val="visible"/>
                                      </p:to>
                                    </p:set>
                                    <p:animEffect transition="in" filter="fade">
                                      <p:cBhvr>
                                        <p:cTn id="43" dur="450"/>
                                        <p:tgtEl>
                                          <p:spTgt spid="79"/>
                                        </p:tgtEl>
                                      </p:cBhvr>
                                    </p:animEffect>
                                  </p:childTnLst>
                                </p:cTn>
                              </p:par>
                              <p:par>
                                <p:cTn id="44" presetID="10" presetClass="entr" presetSubtype="0" fill="hold" nodeType="withEffect">
                                  <p:stCondLst>
                                    <p:cond delay="0"/>
                                  </p:stCondLst>
                                  <p:childTnLst>
                                    <p:set>
                                      <p:cBhvr>
                                        <p:cTn id="45" dur="1" fill="hold">
                                          <p:stCondLst>
                                            <p:cond delay="0"/>
                                          </p:stCondLst>
                                        </p:cTn>
                                        <p:tgtEl>
                                          <p:spTgt spid="82"/>
                                        </p:tgtEl>
                                        <p:attrNameLst>
                                          <p:attrName>style.visibility</p:attrName>
                                        </p:attrNameLst>
                                      </p:cBhvr>
                                      <p:to>
                                        <p:strVal val="visible"/>
                                      </p:to>
                                    </p:set>
                                    <p:animEffect transition="in" filter="fade">
                                      <p:cBhvr>
                                        <p:cTn id="46" dur="450"/>
                                        <p:tgtEl>
                                          <p:spTgt spid="82"/>
                                        </p:tgtEl>
                                      </p:cBhvr>
                                    </p:animEffect>
                                  </p:childTnLst>
                                </p:cTn>
                              </p:par>
                              <p:par>
                                <p:cTn id="47" presetID="10" presetClass="entr" presetSubtype="0" fill="hold" nodeType="withEffect">
                                  <p:stCondLst>
                                    <p:cond delay="0"/>
                                  </p:stCondLst>
                                  <p:childTnLst>
                                    <p:set>
                                      <p:cBhvr>
                                        <p:cTn id="48" dur="1" fill="hold">
                                          <p:stCondLst>
                                            <p:cond delay="0"/>
                                          </p:stCondLst>
                                        </p:cTn>
                                        <p:tgtEl>
                                          <p:spTgt spid="89"/>
                                        </p:tgtEl>
                                        <p:attrNameLst>
                                          <p:attrName>style.visibility</p:attrName>
                                        </p:attrNameLst>
                                      </p:cBhvr>
                                      <p:to>
                                        <p:strVal val="visible"/>
                                      </p:to>
                                    </p:set>
                                    <p:animEffect transition="in" filter="fade">
                                      <p:cBhvr>
                                        <p:cTn id="49" dur="450"/>
                                        <p:tgtEl>
                                          <p:spTgt spid="89"/>
                                        </p:tgtEl>
                                      </p:cBhvr>
                                    </p:animEffect>
                                  </p:childTnLst>
                                </p:cTn>
                              </p:par>
                              <p:par>
                                <p:cTn id="50" presetID="10" presetClass="entr" presetSubtype="0" fill="hold" nodeType="withEffect">
                                  <p:stCondLst>
                                    <p:cond delay="0"/>
                                  </p:stCondLst>
                                  <p:childTnLst>
                                    <p:set>
                                      <p:cBhvr>
                                        <p:cTn id="51" dur="1" fill="hold">
                                          <p:stCondLst>
                                            <p:cond delay="0"/>
                                          </p:stCondLst>
                                        </p:cTn>
                                        <p:tgtEl>
                                          <p:spTgt spid="96"/>
                                        </p:tgtEl>
                                        <p:attrNameLst>
                                          <p:attrName>style.visibility</p:attrName>
                                        </p:attrNameLst>
                                      </p:cBhvr>
                                      <p:to>
                                        <p:strVal val="visible"/>
                                      </p:to>
                                    </p:set>
                                    <p:animEffect transition="in" filter="fade">
                                      <p:cBhvr>
                                        <p:cTn id="52" dur="450"/>
                                        <p:tgtEl>
                                          <p:spTgt spid="96"/>
                                        </p:tgtEl>
                                      </p:cBhvr>
                                    </p:animEffect>
                                  </p:childTnLst>
                                </p:cTn>
                              </p:par>
                              <p:par>
                                <p:cTn id="53" presetID="10" presetClass="entr" presetSubtype="0" fill="hold" nodeType="withEffect">
                                  <p:stCondLst>
                                    <p:cond delay="0"/>
                                  </p:stCondLst>
                                  <p:childTnLst>
                                    <p:set>
                                      <p:cBhvr>
                                        <p:cTn id="54" dur="1" fill="hold">
                                          <p:stCondLst>
                                            <p:cond delay="0"/>
                                          </p:stCondLst>
                                        </p:cTn>
                                        <p:tgtEl>
                                          <p:spTgt spid="99"/>
                                        </p:tgtEl>
                                        <p:attrNameLst>
                                          <p:attrName>style.visibility</p:attrName>
                                        </p:attrNameLst>
                                      </p:cBhvr>
                                      <p:to>
                                        <p:strVal val="visible"/>
                                      </p:to>
                                    </p:set>
                                    <p:animEffect transition="in" filter="fade">
                                      <p:cBhvr>
                                        <p:cTn id="55" dur="450"/>
                                        <p:tgtEl>
                                          <p:spTgt spid="99"/>
                                        </p:tgtEl>
                                      </p:cBhvr>
                                    </p:animEffect>
                                  </p:childTnLst>
                                </p:cTn>
                              </p:par>
                              <p:par>
                                <p:cTn id="56" presetID="10" presetClass="entr" presetSubtype="0" fill="hold" nodeType="withEffect">
                                  <p:stCondLst>
                                    <p:cond delay="0"/>
                                  </p:stCondLst>
                                  <p:childTnLst>
                                    <p:set>
                                      <p:cBhvr>
                                        <p:cTn id="57" dur="1" fill="hold">
                                          <p:stCondLst>
                                            <p:cond delay="0"/>
                                          </p:stCondLst>
                                        </p:cTn>
                                        <p:tgtEl>
                                          <p:spTgt spid="101"/>
                                        </p:tgtEl>
                                        <p:attrNameLst>
                                          <p:attrName>style.visibility</p:attrName>
                                        </p:attrNameLst>
                                      </p:cBhvr>
                                      <p:to>
                                        <p:strVal val="visible"/>
                                      </p:to>
                                    </p:set>
                                    <p:animEffect transition="in" filter="fade">
                                      <p:cBhvr>
                                        <p:cTn id="58" dur="450"/>
                                        <p:tgtEl>
                                          <p:spTgt spid="101"/>
                                        </p:tgtEl>
                                      </p:cBhvr>
                                    </p:animEffect>
                                  </p:childTnLst>
                                </p:cTn>
                              </p:par>
                              <p:par>
                                <p:cTn id="59" presetID="10" presetClass="entr" presetSubtype="0" fill="hold" nodeType="withEffect">
                                  <p:stCondLst>
                                    <p:cond delay="0"/>
                                  </p:stCondLst>
                                  <p:childTnLst>
                                    <p:set>
                                      <p:cBhvr>
                                        <p:cTn id="60" dur="1" fill="hold">
                                          <p:stCondLst>
                                            <p:cond delay="0"/>
                                          </p:stCondLst>
                                        </p:cTn>
                                        <p:tgtEl>
                                          <p:spTgt spid="103"/>
                                        </p:tgtEl>
                                        <p:attrNameLst>
                                          <p:attrName>style.visibility</p:attrName>
                                        </p:attrNameLst>
                                      </p:cBhvr>
                                      <p:to>
                                        <p:strVal val="visible"/>
                                      </p:to>
                                    </p:set>
                                    <p:animEffect transition="in" filter="fade">
                                      <p:cBhvr>
                                        <p:cTn id="61" dur="450"/>
                                        <p:tgtEl>
                                          <p:spTgt spid="103"/>
                                        </p:tgtEl>
                                      </p:cBhvr>
                                    </p:animEffect>
                                  </p:childTnLst>
                                </p:cTn>
                              </p:par>
                              <p:par>
                                <p:cTn id="62" presetID="10" presetClass="entr" presetSubtype="0" fill="hold" nodeType="withEffect">
                                  <p:stCondLst>
                                    <p:cond delay="0"/>
                                  </p:stCondLst>
                                  <p:childTnLst>
                                    <p:set>
                                      <p:cBhvr>
                                        <p:cTn id="63" dur="1" fill="hold">
                                          <p:stCondLst>
                                            <p:cond delay="0"/>
                                          </p:stCondLst>
                                        </p:cTn>
                                        <p:tgtEl>
                                          <p:spTgt spid="105"/>
                                        </p:tgtEl>
                                        <p:attrNameLst>
                                          <p:attrName>style.visibility</p:attrName>
                                        </p:attrNameLst>
                                      </p:cBhvr>
                                      <p:to>
                                        <p:strVal val="visible"/>
                                      </p:to>
                                    </p:set>
                                    <p:animEffect transition="in" filter="fade">
                                      <p:cBhvr>
                                        <p:cTn id="64" dur="450"/>
                                        <p:tgtEl>
                                          <p:spTgt spid="105"/>
                                        </p:tgtEl>
                                      </p:cBhvr>
                                    </p:animEffect>
                                  </p:childTnLst>
                                </p:cTn>
                              </p:par>
                              <p:par>
                                <p:cTn id="65" presetID="10" presetClass="entr" presetSubtype="0" fill="hold" nodeType="withEffect">
                                  <p:stCondLst>
                                    <p:cond delay="0"/>
                                  </p:stCondLst>
                                  <p:childTnLst>
                                    <p:set>
                                      <p:cBhvr>
                                        <p:cTn id="66" dur="1" fill="hold">
                                          <p:stCondLst>
                                            <p:cond delay="0"/>
                                          </p:stCondLst>
                                        </p:cTn>
                                        <p:tgtEl>
                                          <p:spTgt spid="115"/>
                                        </p:tgtEl>
                                        <p:attrNameLst>
                                          <p:attrName>style.visibility</p:attrName>
                                        </p:attrNameLst>
                                      </p:cBhvr>
                                      <p:to>
                                        <p:strVal val="visible"/>
                                      </p:to>
                                    </p:set>
                                    <p:animEffect transition="in" filter="fade">
                                      <p:cBhvr>
                                        <p:cTn id="67" dur="450"/>
                                        <p:tgtEl>
                                          <p:spTgt spid="115"/>
                                        </p:tgtEl>
                                      </p:cBhvr>
                                    </p:animEffect>
                                  </p:childTnLst>
                                </p:cTn>
                              </p:par>
                              <p:par>
                                <p:cTn id="68" presetID="10" presetClass="entr" presetSubtype="0" fill="hold" nodeType="withEffect">
                                  <p:stCondLst>
                                    <p:cond delay="0"/>
                                  </p:stCondLst>
                                  <p:childTnLst>
                                    <p:set>
                                      <p:cBhvr>
                                        <p:cTn id="69" dur="1" fill="hold">
                                          <p:stCondLst>
                                            <p:cond delay="0"/>
                                          </p:stCondLst>
                                        </p:cTn>
                                        <p:tgtEl>
                                          <p:spTgt spid="119"/>
                                        </p:tgtEl>
                                        <p:attrNameLst>
                                          <p:attrName>style.visibility</p:attrName>
                                        </p:attrNameLst>
                                      </p:cBhvr>
                                      <p:to>
                                        <p:strVal val="visible"/>
                                      </p:to>
                                    </p:set>
                                    <p:animEffect transition="in" filter="fade">
                                      <p:cBhvr>
                                        <p:cTn id="70" dur="450"/>
                                        <p:tgtEl>
                                          <p:spTgt spid="119"/>
                                        </p:tgtEl>
                                      </p:cBhvr>
                                    </p:animEffect>
                                  </p:childTnLst>
                                </p:cTn>
                              </p:par>
                              <p:par>
                                <p:cTn id="71" presetID="10" presetClass="entr" presetSubtype="0" fill="hold" nodeType="withEffect">
                                  <p:stCondLst>
                                    <p:cond delay="0"/>
                                  </p:stCondLst>
                                  <p:childTnLst>
                                    <p:set>
                                      <p:cBhvr>
                                        <p:cTn id="72" dur="1" fill="hold">
                                          <p:stCondLst>
                                            <p:cond delay="0"/>
                                          </p:stCondLst>
                                        </p:cTn>
                                        <p:tgtEl>
                                          <p:spTgt spid="121"/>
                                        </p:tgtEl>
                                        <p:attrNameLst>
                                          <p:attrName>style.visibility</p:attrName>
                                        </p:attrNameLst>
                                      </p:cBhvr>
                                      <p:to>
                                        <p:strVal val="visible"/>
                                      </p:to>
                                    </p:set>
                                    <p:animEffect transition="in" filter="fade">
                                      <p:cBhvr>
                                        <p:cTn id="73" dur="450"/>
                                        <p:tgtEl>
                                          <p:spTgt spid="121"/>
                                        </p:tgtEl>
                                      </p:cBhvr>
                                    </p:animEffect>
                                  </p:childTnLst>
                                </p:cTn>
                              </p:par>
                              <p:par>
                                <p:cTn id="74" presetID="10" presetClass="entr" presetSubtype="0" fill="hold" nodeType="withEffect">
                                  <p:stCondLst>
                                    <p:cond delay="0"/>
                                  </p:stCondLst>
                                  <p:childTnLst>
                                    <p:set>
                                      <p:cBhvr>
                                        <p:cTn id="75" dur="1" fill="hold">
                                          <p:stCondLst>
                                            <p:cond delay="0"/>
                                          </p:stCondLst>
                                        </p:cTn>
                                        <p:tgtEl>
                                          <p:spTgt spid="123"/>
                                        </p:tgtEl>
                                        <p:attrNameLst>
                                          <p:attrName>style.visibility</p:attrName>
                                        </p:attrNameLst>
                                      </p:cBhvr>
                                      <p:to>
                                        <p:strVal val="visible"/>
                                      </p:to>
                                    </p:set>
                                    <p:animEffect transition="in" filter="fade">
                                      <p:cBhvr>
                                        <p:cTn id="76" dur="450"/>
                                        <p:tgtEl>
                                          <p:spTgt spid="123"/>
                                        </p:tgtEl>
                                      </p:cBhvr>
                                    </p:animEffect>
                                  </p:childTnLst>
                                </p:cTn>
                              </p:par>
                              <p:par>
                                <p:cTn id="77" presetID="10" presetClass="entr" presetSubtype="0" fill="hold" nodeType="withEffect">
                                  <p:stCondLst>
                                    <p:cond delay="0"/>
                                  </p:stCondLst>
                                  <p:childTnLst>
                                    <p:set>
                                      <p:cBhvr>
                                        <p:cTn id="78" dur="1" fill="hold">
                                          <p:stCondLst>
                                            <p:cond delay="0"/>
                                          </p:stCondLst>
                                        </p:cTn>
                                        <p:tgtEl>
                                          <p:spTgt spid="125"/>
                                        </p:tgtEl>
                                        <p:attrNameLst>
                                          <p:attrName>style.visibility</p:attrName>
                                        </p:attrNameLst>
                                      </p:cBhvr>
                                      <p:to>
                                        <p:strVal val="visible"/>
                                      </p:to>
                                    </p:set>
                                    <p:animEffect transition="in" filter="fade">
                                      <p:cBhvr>
                                        <p:cTn id="79" dur="450"/>
                                        <p:tgtEl>
                                          <p:spTgt spid="125"/>
                                        </p:tgtEl>
                                      </p:cBhvr>
                                    </p:animEffect>
                                  </p:childTnLst>
                                </p:cTn>
                              </p:par>
                              <p:par>
                                <p:cTn id="80" presetID="10" presetClass="entr" presetSubtype="0" fill="hold" nodeType="withEffect">
                                  <p:stCondLst>
                                    <p:cond delay="0"/>
                                  </p:stCondLst>
                                  <p:childTnLst>
                                    <p:set>
                                      <p:cBhvr>
                                        <p:cTn id="81" dur="1" fill="hold">
                                          <p:stCondLst>
                                            <p:cond delay="0"/>
                                          </p:stCondLst>
                                        </p:cTn>
                                        <p:tgtEl>
                                          <p:spTgt spid="135"/>
                                        </p:tgtEl>
                                        <p:attrNameLst>
                                          <p:attrName>style.visibility</p:attrName>
                                        </p:attrNameLst>
                                      </p:cBhvr>
                                      <p:to>
                                        <p:strVal val="visible"/>
                                      </p:to>
                                    </p:set>
                                    <p:animEffect transition="in" filter="fade">
                                      <p:cBhvr>
                                        <p:cTn id="82" dur="45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251606" cy="310896"/>
          </a:xfrm>
          <a:prstGeom prst="roundRect">
            <a:avLst>
              <a:gd name="adj" fmla="val 50000"/>
            </a:avLst>
          </a:prstGeom>
          <a:solidFill>
            <a:srgbClr val="12211F"/>
          </a:solidFill>
          <a:ln w="12700">
            <a:solidFill>
              <a:srgbClr val="12211F"/>
            </a:solidFill>
            <a:prstDash val="solid"/>
          </a:ln>
        </p:spPr>
      </p:sp>
      <p:sp>
        <p:nvSpPr>
          <p:cNvPr id="3" name="Text 1"/>
          <p:cNvSpPr txBox="1"/>
          <p:nvPr/>
        </p:nvSpPr>
        <p:spPr>
          <a:xfrm>
            <a:off x="548640" y="411480"/>
            <a:ext cx="3251606" cy="310896"/>
          </a:xfrm>
          <a:prstGeom prst="rect">
            <a:avLst/>
          </a:prstGeom>
          <a:noFill/>
          <a:ln/>
        </p:spPr>
        <p:txBody>
          <a:bodyPr wrap="square" lIns="0" tIns="0" rIns="0" bIns="0" rtlCol="0" anchor="ctr"/>
          <a:lstStyle/>
          <a:p>
            <a:pPr algn="ctr" indent="0" marL="0">
              <a:buNone/>
            </a:pPr>
            <a:r>
              <a:rPr lang="en-US" sz="1050" b="1" spc="200" kern="0" dirty="0">
                <a:solidFill>
                  <a:srgbClr val="FFFFFF"/>
                </a:solidFill>
                <a:latin typeface="Arial" pitchFamily="34" charset="0"/>
                <a:ea typeface="Arial" pitchFamily="34" charset="-122"/>
                <a:cs typeface="Arial" pitchFamily="34" charset="-120"/>
              </a:rPr>
              <a:t>PART 1  ·  THE BUSINESS QUESTION</a:t>
            </a:r>
            <a:endParaRPr lang="en-US" sz="1050" dirty="0"/>
          </a:p>
        </p:txBody>
      </p:sp>
      <p:sp>
        <p:nvSpPr>
          <p:cNvPr id="4" name="Text 2"/>
          <p:cNvSpPr txBox="1"/>
          <p:nvPr/>
        </p:nvSpPr>
        <p:spPr>
          <a:xfrm>
            <a:off x="548640" y="841248"/>
            <a:ext cx="11094415" cy="914400"/>
          </a:xfrm>
          <a:prstGeom prst="rect">
            <a:avLst/>
          </a:prstGeom>
          <a:noFill/>
          <a:ln/>
        </p:spPr>
        <p:txBody>
          <a:bodyPr wrap="square" lIns="0" tIns="0" rIns="0" bIns="0" rtlCol="0" anchor="t"/>
          <a:lstStyle/>
          <a:p>
            <a:pPr indent="0" marL="0">
              <a:buNone/>
            </a:pPr>
            <a:r>
              <a:rPr lang="en-US" sz="3200" b="1" dirty="0">
                <a:solidFill>
                  <a:srgbClr val="16201E"/>
                </a:solidFill>
                <a:latin typeface="Georgia" pitchFamily="34" charset="0"/>
                <a:ea typeface="Georgia" pitchFamily="34" charset="-122"/>
                <a:cs typeface="Georgia" pitchFamily="34" charset="-120"/>
              </a:rPr>
              <a:t>HR's problem: 19,158 trainees, not enough recruiters</a:t>
            </a:r>
            <a:endParaRPr lang="en-US" sz="3200" dirty="0"/>
          </a:p>
        </p:txBody>
      </p:sp>
      <p:sp>
        <p:nvSpPr>
          <p:cNvPr id="5" name="Text 3"/>
          <p:cNvSpPr txBox="1"/>
          <p:nvPr/>
        </p:nvSpPr>
        <p:spPr>
          <a:xfrm>
            <a:off x="548640" y="1920240"/>
            <a:ext cx="5486400" cy="274320"/>
          </a:xfrm>
          <a:prstGeom prst="rect">
            <a:avLst/>
          </a:prstGeom>
          <a:noFill/>
          <a:ln/>
        </p:spPr>
        <p:txBody>
          <a:bodyPr wrap="square" lIns="0" tIns="0" rIns="0" bIns="0" rtlCol="0" anchor="t"/>
          <a:lstStyle/>
          <a:p>
            <a:pPr indent="0" marL="0">
              <a:buNone/>
            </a:pPr>
            <a:r>
              <a:rPr lang="en-US" sz="1100" b="1" spc="200" kern="0" dirty="0">
                <a:solidFill>
                  <a:srgbClr val="5B6663"/>
                </a:solidFill>
                <a:latin typeface="Arial" pitchFamily="34" charset="0"/>
                <a:ea typeface="Arial" pitchFamily="34" charset="-122"/>
                <a:cs typeface="Arial" pitchFamily="34" charset="-120"/>
              </a:rPr>
              <a:t>THE QUESTION</a:t>
            </a:r>
            <a:endParaRPr lang="en-US" sz="1100" dirty="0"/>
          </a:p>
        </p:txBody>
      </p:sp>
      <p:sp>
        <p:nvSpPr>
          <p:cNvPr id="6" name="Text 4"/>
          <p:cNvSpPr txBox="1"/>
          <p:nvPr/>
        </p:nvSpPr>
        <p:spPr>
          <a:xfrm>
            <a:off x="548640" y="2240280"/>
            <a:ext cx="5852160" cy="1188720"/>
          </a:xfrm>
          <a:prstGeom prst="rect">
            <a:avLst/>
          </a:prstGeom>
          <a:noFill/>
          <a:ln/>
        </p:spPr>
        <p:txBody>
          <a:bodyPr wrap="square" lIns="0" tIns="0" rIns="0" bIns="0" rtlCol="0" anchor="t"/>
          <a:lstStyle/>
          <a:p>
            <a:pPr indent="0" marL="0">
              <a:buNone/>
            </a:pPr>
            <a:r>
              <a:rPr lang="en-US" sz="2000" i="1" dirty="0">
                <a:solidFill>
                  <a:srgbClr val="16201E"/>
                </a:solidFill>
                <a:latin typeface="Georgia" pitchFamily="34" charset="0"/>
                <a:ea typeface="Georgia" pitchFamily="34" charset="-122"/>
                <a:cs typeface="Georgia" pitchFamily="34" charset="-120"/>
              </a:rPr>
              <a:t>Given a trainee's education, experience, current employer and city, can we predict whether they are looking for a job change?</a:t>
            </a:r>
            <a:endParaRPr lang="en-US" sz="2000" dirty="0"/>
          </a:p>
        </p:txBody>
      </p:sp>
      <p:sp>
        <p:nvSpPr>
          <p:cNvPr id="7" name="Text 5"/>
          <p:cNvSpPr txBox="1"/>
          <p:nvPr/>
        </p:nvSpPr>
        <p:spPr>
          <a:xfrm>
            <a:off x="548640" y="3611880"/>
            <a:ext cx="2743200" cy="548640"/>
          </a:xfrm>
          <a:prstGeom prst="rect">
            <a:avLst/>
          </a:prstGeom>
          <a:noFill/>
          <a:ln/>
        </p:spPr>
        <p:txBody>
          <a:bodyPr wrap="square" lIns="0" tIns="0" rIns="0" bIns="0" rtlCol="0" anchor="t"/>
          <a:lstStyle/>
          <a:p>
            <a:pPr indent="0" marL="0">
              <a:buNone/>
            </a:pPr>
            <a:r>
              <a:rPr lang="en-US" sz="3200" b="1" dirty="0">
                <a:solidFill>
                  <a:srgbClr val="16201E"/>
                </a:solidFill>
                <a:latin typeface="Georgia" pitchFamily="34" charset="0"/>
                <a:ea typeface="Georgia" pitchFamily="34" charset="-122"/>
                <a:cs typeface="Georgia" pitchFamily="34" charset="-120"/>
              </a:rPr>
              <a:t>19,158</a:t>
            </a:r>
            <a:endParaRPr lang="en-US" sz="3200" dirty="0"/>
          </a:p>
        </p:txBody>
      </p:sp>
      <p:sp>
        <p:nvSpPr>
          <p:cNvPr id="8" name="Text 6"/>
          <p:cNvSpPr txBox="1"/>
          <p:nvPr/>
        </p:nvSpPr>
        <p:spPr>
          <a:xfrm>
            <a:off x="548640" y="4142232"/>
            <a:ext cx="2743200" cy="274320"/>
          </a:xfrm>
          <a:prstGeom prst="rect">
            <a:avLst/>
          </a:prstGeom>
          <a:noFill/>
          <a:ln/>
        </p:spPr>
        <p:txBody>
          <a:bodyPr wrap="square" lIns="0" tIns="0" rIns="0" bIns="0" rtlCol="0" anchor="t"/>
          <a:lstStyle/>
          <a:p>
            <a:pPr indent="0" marL="0">
              <a:buNone/>
            </a:pPr>
            <a:r>
              <a:rPr lang="en-US" sz="1300" dirty="0">
                <a:solidFill>
                  <a:srgbClr val="5B6663"/>
                </a:solidFill>
                <a:latin typeface="Arial" pitchFamily="34" charset="0"/>
                <a:ea typeface="Arial" pitchFamily="34" charset="-122"/>
                <a:cs typeface="Arial" pitchFamily="34" charset="-120"/>
              </a:rPr>
              <a:t>labelled trainees</a:t>
            </a:r>
            <a:endParaRPr lang="en-US" sz="1300" dirty="0"/>
          </a:p>
        </p:txBody>
      </p:sp>
      <p:sp>
        <p:nvSpPr>
          <p:cNvPr id="9" name="Text 7"/>
          <p:cNvSpPr txBox="1"/>
          <p:nvPr/>
        </p:nvSpPr>
        <p:spPr>
          <a:xfrm>
            <a:off x="3474720" y="3611880"/>
            <a:ext cx="2743200" cy="548640"/>
          </a:xfrm>
          <a:prstGeom prst="rect">
            <a:avLst/>
          </a:prstGeom>
          <a:noFill/>
          <a:ln/>
        </p:spPr>
        <p:txBody>
          <a:bodyPr wrap="square" lIns="0" tIns="0" rIns="0" bIns="0" rtlCol="0" anchor="t"/>
          <a:lstStyle/>
          <a:p>
            <a:pPr indent="0" marL="0">
              <a:buNone/>
            </a:pPr>
            <a:r>
              <a:rPr lang="en-US" sz="3200" b="1" dirty="0">
                <a:solidFill>
                  <a:srgbClr val="16201E"/>
                </a:solidFill>
                <a:latin typeface="Georgia" pitchFamily="34" charset="0"/>
                <a:ea typeface="Georgia" pitchFamily="34" charset="-122"/>
                <a:cs typeface="Georgia" pitchFamily="34" charset="-120"/>
              </a:rPr>
              <a:t>2,129</a:t>
            </a:r>
            <a:endParaRPr lang="en-US" sz="3200" dirty="0"/>
          </a:p>
        </p:txBody>
      </p:sp>
      <p:sp>
        <p:nvSpPr>
          <p:cNvPr id="10" name="Text 8"/>
          <p:cNvSpPr txBox="1"/>
          <p:nvPr/>
        </p:nvSpPr>
        <p:spPr>
          <a:xfrm>
            <a:off x="3474720" y="4142232"/>
            <a:ext cx="2743200" cy="274320"/>
          </a:xfrm>
          <a:prstGeom prst="rect">
            <a:avLst/>
          </a:prstGeom>
          <a:noFill/>
          <a:ln/>
        </p:spPr>
        <p:txBody>
          <a:bodyPr wrap="square" lIns="0" tIns="0" rIns="0" bIns="0" rtlCol="0" anchor="t"/>
          <a:lstStyle/>
          <a:p>
            <a:pPr indent="0" marL="0">
              <a:buNone/>
            </a:pPr>
            <a:r>
              <a:rPr lang="en-US" sz="1300" dirty="0">
                <a:solidFill>
                  <a:srgbClr val="5B6663"/>
                </a:solidFill>
                <a:latin typeface="Arial" pitchFamily="34" charset="0"/>
                <a:ea typeface="Arial" pitchFamily="34" charset="-122"/>
                <a:cs typeface="Arial" pitchFamily="34" charset="-120"/>
              </a:rPr>
              <a:t>new trainees to score</a:t>
            </a:r>
            <a:endParaRPr lang="en-US" sz="1300" dirty="0"/>
          </a:p>
        </p:txBody>
      </p:sp>
      <p:sp>
        <p:nvSpPr>
          <p:cNvPr id="11" name="Text 9"/>
          <p:cNvSpPr txBox="1"/>
          <p:nvPr/>
        </p:nvSpPr>
        <p:spPr>
          <a:xfrm>
            <a:off x="548640" y="4572000"/>
            <a:ext cx="2743200" cy="548640"/>
          </a:xfrm>
          <a:prstGeom prst="rect">
            <a:avLst/>
          </a:prstGeom>
          <a:noFill/>
          <a:ln/>
        </p:spPr>
        <p:txBody>
          <a:bodyPr wrap="square" lIns="0" tIns="0" rIns="0" bIns="0" rtlCol="0" anchor="t"/>
          <a:lstStyle/>
          <a:p>
            <a:pPr indent="0" marL="0">
              <a:buNone/>
            </a:pPr>
            <a:r>
              <a:rPr lang="en-US" sz="3200" b="1" dirty="0">
                <a:solidFill>
                  <a:srgbClr val="16201E"/>
                </a:solidFill>
                <a:latin typeface="Georgia" pitchFamily="34" charset="0"/>
                <a:ea typeface="Georgia" pitchFamily="34" charset="-122"/>
                <a:cs typeface="Georgia" pitchFamily="34" charset="-120"/>
              </a:rPr>
              <a:t>12</a:t>
            </a:r>
            <a:endParaRPr lang="en-US" sz="3200" dirty="0"/>
          </a:p>
        </p:txBody>
      </p:sp>
      <p:sp>
        <p:nvSpPr>
          <p:cNvPr id="12" name="Text 10"/>
          <p:cNvSpPr txBox="1"/>
          <p:nvPr/>
        </p:nvSpPr>
        <p:spPr>
          <a:xfrm>
            <a:off x="548640" y="5102352"/>
            <a:ext cx="2743200" cy="274320"/>
          </a:xfrm>
          <a:prstGeom prst="rect">
            <a:avLst/>
          </a:prstGeom>
          <a:noFill/>
          <a:ln/>
        </p:spPr>
        <p:txBody>
          <a:bodyPr wrap="square" lIns="0" tIns="0" rIns="0" bIns="0" rtlCol="0" anchor="t"/>
          <a:lstStyle/>
          <a:p>
            <a:pPr indent="0" marL="0">
              <a:buNone/>
            </a:pPr>
            <a:r>
              <a:rPr lang="en-US" sz="1300" dirty="0">
                <a:solidFill>
                  <a:srgbClr val="5B6663"/>
                </a:solidFill>
                <a:latin typeface="Arial" pitchFamily="34" charset="0"/>
                <a:ea typeface="Arial" pitchFamily="34" charset="-122"/>
                <a:cs typeface="Arial" pitchFamily="34" charset="-120"/>
              </a:rPr>
              <a:t>input features</a:t>
            </a:r>
            <a:endParaRPr lang="en-US" sz="1300" dirty="0"/>
          </a:p>
        </p:txBody>
      </p:sp>
      <p:sp>
        <p:nvSpPr>
          <p:cNvPr id="13" name="Text 11"/>
          <p:cNvSpPr txBox="1"/>
          <p:nvPr/>
        </p:nvSpPr>
        <p:spPr>
          <a:xfrm>
            <a:off x="3474720" y="4572000"/>
            <a:ext cx="2743200" cy="548640"/>
          </a:xfrm>
          <a:prstGeom prst="rect">
            <a:avLst/>
          </a:prstGeom>
          <a:noFill/>
          <a:ln/>
        </p:spPr>
        <p:txBody>
          <a:bodyPr wrap="square" lIns="0" tIns="0" rIns="0" bIns="0" rtlCol="0" anchor="t"/>
          <a:lstStyle/>
          <a:p>
            <a:pPr indent="0" marL="0">
              <a:buNone/>
            </a:pPr>
            <a:r>
              <a:rPr lang="en-US" sz="3200" b="1" dirty="0">
                <a:solidFill>
                  <a:srgbClr val="E4572E"/>
                </a:solidFill>
                <a:latin typeface="Georgia" pitchFamily="34" charset="0"/>
                <a:ea typeface="Georgia" pitchFamily="34" charset="-122"/>
                <a:cs typeface="Georgia" pitchFamily="34" charset="-120"/>
              </a:rPr>
              <a:t>25%</a:t>
            </a:r>
            <a:endParaRPr lang="en-US" sz="3200" dirty="0"/>
          </a:p>
        </p:txBody>
      </p:sp>
      <p:sp>
        <p:nvSpPr>
          <p:cNvPr id="14" name="Text 12"/>
          <p:cNvSpPr txBox="1"/>
          <p:nvPr/>
        </p:nvSpPr>
        <p:spPr>
          <a:xfrm>
            <a:off x="3474720" y="5102352"/>
            <a:ext cx="2743200" cy="274320"/>
          </a:xfrm>
          <a:prstGeom prst="rect">
            <a:avLst/>
          </a:prstGeom>
          <a:noFill/>
          <a:ln/>
        </p:spPr>
        <p:txBody>
          <a:bodyPr wrap="square" lIns="0" tIns="0" rIns="0" bIns="0" rtlCol="0" anchor="t"/>
          <a:lstStyle/>
          <a:p>
            <a:pPr indent="0" marL="0">
              <a:buNone/>
            </a:pPr>
            <a:r>
              <a:rPr lang="en-US" sz="1300" dirty="0">
                <a:solidFill>
                  <a:srgbClr val="5B6663"/>
                </a:solidFill>
                <a:latin typeface="Arial" pitchFamily="34" charset="0"/>
                <a:ea typeface="Arial" pitchFamily="34" charset="-122"/>
                <a:cs typeface="Arial" pitchFamily="34" charset="-120"/>
              </a:rPr>
              <a:t>looking to move</a:t>
            </a:r>
            <a:endParaRPr lang="en-US" sz="1300" dirty="0"/>
          </a:p>
        </p:txBody>
      </p:sp>
      <p:sp>
        <p:nvSpPr>
          <p:cNvPr id="15" name="Text 13"/>
          <p:cNvSpPr txBox="1"/>
          <p:nvPr/>
        </p:nvSpPr>
        <p:spPr>
          <a:xfrm>
            <a:off x="548640" y="5669280"/>
            <a:ext cx="5852160" cy="640080"/>
          </a:xfrm>
          <a:prstGeom prst="rect">
            <a:avLst/>
          </a:prstGeom>
          <a:noFill/>
          <a:ln/>
        </p:spPr>
        <p:txBody>
          <a:bodyPr wrap="square" lIns="0" tIns="0" rIns="0" bIns="0" rtlCol="0" anchor="t"/>
          <a:lstStyle/>
          <a:p>
            <a:pPr indent="0" marL="0">
              <a:buNone/>
            </a:pPr>
            <a:r>
              <a:rPr lang="en-US" sz="1300" b="1" dirty="0">
                <a:solidFill>
                  <a:srgbClr val="16201E"/>
                </a:solidFill>
                <a:latin typeface="Arial" pitchFamily="34" charset="0"/>
                <a:ea typeface="Arial" pitchFamily="34" charset="-122"/>
                <a:cs typeface="Arial" pitchFamily="34" charset="-120"/>
              </a:rPr>
              <a:t>How we score success: </a:t>
            </a:r>
            <a:pPr indent="0" marL="0">
              <a:buNone/>
            </a:pPr>
            <a:r>
              <a:rPr lang="en-US" sz="1300" dirty="0">
                <a:solidFill>
                  <a:srgbClr val="5B6663"/>
                </a:solidFill>
                <a:latin typeface="Arial" pitchFamily="34" charset="0"/>
                <a:ea typeface="Arial" pitchFamily="34" charset="-122"/>
                <a:cs typeface="Arial" pitchFamily="34" charset="-120"/>
              </a:rPr>
              <a:t>ROC-AUC and F1. Accuracy is useless here, because a model that says "nobody is leaving" is already 75% accurate.</a:t>
            </a:r>
            <a:endParaRPr lang="en-US" sz="1300" dirty="0"/>
          </a:p>
        </p:txBody>
      </p:sp>
      <p:pic>
        <p:nvPicPr>
          <p:cNvPr id="16" name="Image 0" descr="/private/tmp/claude-501/-Users-shreshthbehal-Downloads-IDS-MODEL/94d7d9e0-839f-4ae9-a7c4-b56936e55bac/scratchpad/memes/captioned/drake.jpg">    </p:cNvPr>
          <p:cNvPicPr>
            <a:picLocks noChangeAspect="1"/>
          </p:cNvPicPr>
          <p:nvPr/>
        </p:nvPicPr>
        <p:blipFill>
          <a:blip r:embed="rId1"/>
          <a:stretch>
            <a:fillRect/>
          </a:stretch>
        </p:blipFill>
        <p:spPr>
          <a:xfrm>
            <a:off x="7086600" y="1783080"/>
            <a:ext cx="4526280" cy="4526280"/>
          </a:xfrm>
          <a:prstGeom prst="rect">
            <a:avLst/>
          </a:prstGeom>
        </p:spPr>
      </p:pic>
      <p:sp>
        <p:nvSpPr>
          <p:cNvPr id="17" name="Text 14"/>
          <p:cNvSpPr txBox="1"/>
          <p:nvPr/>
        </p:nvSpPr>
        <p:spPr>
          <a:xfrm>
            <a:off x="11094415" y="6446520"/>
            <a:ext cx="548640" cy="256032"/>
          </a:xfrm>
          <a:prstGeom prst="rect">
            <a:avLst/>
          </a:prstGeom>
          <a:noFill/>
          <a:ln/>
        </p:spPr>
        <p:txBody>
          <a:bodyPr wrap="square" lIns="0" tIns="0" rIns="0" bIns="0" rtlCol="0" anchor="ctr"/>
          <a:lstStyle/>
          <a:p>
            <a:pPr algn="r" indent="0" marL="0">
              <a:buNone/>
            </a:pPr>
            <a:r>
              <a:rPr lang="en-US" sz="1000" dirty="0">
                <a:solidFill>
                  <a:srgbClr val="5B6663"/>
                </a:solidFill>
                <a:latin typeface="Arial" pitchFamily="34" charset="0"/>
                <a:ea typeface="Arial" pitchFamily="34" charset="-122"/>
                <a:cs typeface="Arial" pitchFamily="34" charset="-120"/>
              </a:rPr>
              <a:t>2</a:t>
            </a:r>
            <a:endParaRPr lang="en-US" sz="10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982773" cy="310896"/>
          </a:xfrm>
          <a:prstGeom prst="roundRect">
            <a:avLst>
              <a:gd name="adj" fmla="val 50000"/>
            </a:avLst>
          </a:prstGeom>
          <a:solidFill>
            <a:srgbClr val="12211F"/>
          </a:solidFill>
          <a:ln w="12700">
            <a:solidFill>
              <a:srgbClr val="12211F"/>
            </a:solidFill>
            <a:prstDash val="solid"/>
          </a:ln>
        </p:spPr>
      </p:sp>
      <p:sp>
        <p:nvSpPr>
          <p:cNvPr id="3" name="Text 1"/>
          <p:cNvSpPr txBox="1"/>
          <p:nvPr/>
        </p:nvSpPr>
        <p:spPr>
          <a:xfrm>
            <a:off x="548640" y="411480"/>
            <a:ext cx="2982773" cy="310896"/>
          </a:xfrm>
          <a:prstGeom prst="rect">
            <a:avLst/>
          </a:prstGeom>
          <a:noFill/>
          <a:ln/>
        </p:spPr>
        <p:txBody>
          <a:bodyPr wrap="square" lIns="0" tIns="0" rIns="0" bIns="0" rtlCol="0" anchor="ctr"/>
          <a:lstStyle/>
          <a:p>
            <a:pPr algn="ctr" indent="0" marL="0">
              <a:buNone/>
            </a:pPr>
            <a:r>
              <a:rPr lang="en-US" sz="1050" b="1" spc="200" kern="0" dirty="0">
                <a:solidFill>
                  <a:srgbClr val="FFFFFF"/>
                </a:solidFill>
                <a:latin typeface="Arial" pitchFamily="34" charset="0"/>
                <a:ea typeface="Arial" pitchFamily="34" charset="-122"/>
                <a:cs typeface="Arial" pitchFamily="34" charset="-120"/>
              </a:rPr>
              <a:t>PART 1  ·  DATA UNDERSTANDING</a:t>
            </a:r>
            <a:endParaRPr lang="en-US" sz="1050" dirty="0"/>
          </a:p>
        </p:txBody>
      </p:sp>
      <p:sp>
        <p:nvSpPr>
          <p:cNvPr id="4" name="Text 2"/>
          <p:cNvSpPr txBox="1"/>
          <p:nvPr/>
        </p:nvSpPr>
        <p:spPr>
          <a:xfrm>
            <a:off x="548640" y="841248"/>
            <a:ext cx="11094415" cy="914400"/>
          </a:xfrm>
          <a:prstGeom prst="rect">
            <a:avLst/>
          </a:prstGeom>
          <a:noFill/>
          <a:ln/>
        </p:spPr>
        <p:txBody>
          <a:bodyPr wrap="square" lIns="0" tIns="0" rIns="0" bIns="0" rtlCol="0" anchor="t"/>
          <a:lstStyle/>
          <a:p>
            <a:pPr indent="0" marL="0">
              <a:buNone/>
            </a:pPr>
            <a:r>
              <a:rPr lang="en-US" sz="3200" b="1" dirty="0">
                <a:solidFill>
                  <a:srgbClr val="16201E"/>
                </a:solidFill>
                <a:latin typeface="Georgia" pitchFamily="34" charset="0"/>
                <a:ea typeface="Georgia" pitchFamily="34" charset="-122"/>
                <a:cs typeface="Georgia" pitchFamily="34" charset="-120"/>
              </a:rPr>
              <a:t>Spot the job hunter</a:t>
            </a:r>
            <a:endParaRPr lang="en-US" sz="3200" dirty="0"/>
          </a:p>
        </p:txBody>
      </p:sp>
      <p:sp>
        <p:nvSpPr>
          <p:cNvPr id="5" name="Shape 3"/>
          <p:cNvSpPr/>
          <p:nvPr/>
        </p:nvSpPr>
        <p:spPr>
          <a:xfrm>
            <a:off x="548640" y="1828800"/>
            <a:ext cx="1369771" cy="310896"/>
          </a:xfrm>
          <a:prstGeom prst="roundRect">
            <a:avLst>
              <a:gd name="adj" fmla="val 50000"/>
            </a:avLst>
          </a:prstGeom>
          <a:solidFill>
            <a:srgbClr val="FFD23F"/>
          </a:solidFill>
          <a:ln w="12700">
            <a:solidFill>
              <a:srgbClr val="FFD23F"/>
            </a:solidFill>
            <a:prstDash val="solid"/>
          </a:ln>
        </p:spPr>
      </p:sp>
      <p:sp>
        <p:nvSpPr>
          <p:cNvPr id="6" name="Text 4"/>
          <p:cNvSpPr txBox="1"/>
          <p:nvPr/>
        </p:nvSpPr>
        <p:spPr>
          <a:xfrm>
            <a:off x="548640" y="1828800"/>
            <a:ext cx="1369771" cy="310896"/>
          </a:xfrm>
          <a:prstGeom prst="rect">
            <a:avLst/>
          </a:prstGeom>
          <a:noFill/>
          <a:ln/>
        </p:spPr>
        <p:txBody>
          <a:bodyPr wrap="square" lIns="0" tIns="0" rIns="0" bIns="0" rtlCol="0" anchor="ctr"/>
          <a:lstStyle/>
          <a:p>
            <a:pPr algn="ctr" indent="0" marL="0">
              <a:buNone/>
            </a:pPr>
            <a:r>
              <a:rPr lang="en-US" sz="1050" b="1" spc="200" kern="0" dirty="0">
                <a:solidFill>
                  <a:srgbClr val="12211F"/>
                </a:solidFill>
                <a:latin typeface="Arial" pitchFamily="34" charset="0"/>
                <a:ea typeface="Arial" pitchFamily="34" charset="-122"/>
                <a:cs typeface="Arial" pitchFamily="34" charset="-120"/>
              </a:rPr>
              <a:t>GUESS FIRST</a:t>
            </a:r>
            <a:endParaRPr lang="en-US" sz="1050" dirty="0"/>
          </a:p>
        </p:txBody>
      </p:sp>
      <p:sp>
        <p:nvSpPr>
          <p:cNvPr id="7" name="Text 5"/>
          <p:cNvSpPr txBox="1"/>
          <p:nvPr/>
        </p:nvSpPr>
        <p:spPr>
          <a:xfrm>
            <a:off x="1965960" y="1828800"/>
            <a:ext cx="4572000" cy="310896"/>
          </a:xfrm>
          <a:prstGeom prst="rect">
            <a:avLst/>
          </a:prstGeom>
          <a:noFill/>
          <a:ln/>
        </p:spPr>
        <p:txBody>
          <a:bodyPr wrap="square" lIns="0" tIns="0" rIns="0" bIns="0" rtlCol="0" anchor="ctr"/>
          <a:lstStyle/>
          <a:p>
            <a:pPr indent="0" marL="0">
              <a:buNone/>
            </a:pPr>
            <a:r>
              <a:rPr lang="en-US" sz="1300" dirty="0">
                <a:solidFill>
                  <a:srgbClr val="16201E"/>
                </a:solidFill>
                <a:latin typeface="Arial" pitchFamily="34" charset="0"/>
                <a:ea typeface="Arial" pitchFamily="34" charset="-122"/>
                <a:cs typeface="Arial" pitchFamily="34" charset="-120"/>
              </a:rPr>
              <a:t>Two real trainees from the test file. Which one is leaving?</a:t>
            </a:r>
            <a:endParaRPr lang="en-US" sz="1300" dirty="0"/>
          </a:p>
        </p:txBody>
      </p:sp>
      <p:sp>
        <p:nvSpPr>
          <p:cNvPr id="8" name="Shape 6"/>
          <p:cNvSpPr/>
          <p:nvPr/>
        </p:nvSpPr>
        <p:spPr>
          <a:xfrm>
            <a:off x="548640" y="2331720"/>
            <a:ext cx="2743200" cy="3977640"/>
          </a:xfrm>
          <a:prstGeom prst="roundRect">
            <a:avLst>
              <a:gd name="adj" fmla="val 3333"/>
            </a:avLst>
          </a:prstGeom>
          <a:solidFill>
            <a:srgbClr val="F1F4F2"/>
          </a:solidFill>
          <a:ln w="12700">
            <a:solidFill>
              <a:srgbClr val="F1F4F2"/>
            </a:solidFill>
            <a:prstDash val="solid"/>
          </a:ln>
        </p:spPr>
      </p:sp>
      <p:sp>
        <p:nvSpPr>
          <p:cNvPr id="9" name="Text 7"/>
          <p:cNvSpPr txBox="1"/>
          <p:nvPr/>
        </p:nvSpPr>
        <p:spPr>
          <a:xfrm>
            <a:off x="777240" y="2514600"/>
            <a:ext cx="2286000" cy="411480"/>
          </a:xfrm>
          <a:prstGeom prst="rect">
            <a:avLst/>
          </a:prstGeom>
          <a:noFill/>
          <a:ln/>
        </p:spPr>
        <p:txBody>
          <a:bodyPr wrap="square" lIns="0" tIns="0" rIns="0" bIns="0" rtlCol="0" anchor="t"/>
          <a:lstStyle/>
          <a:p>
            <a:pPr indent="0" marL="0">
              <a:buNone/>
            </a:pPr>
            <a:r>
              <a:rPr lang="en-US" sz="2000" b="1" dirty="0">
                <a:solidFill>
                  <a:srgbClr val="16201E"/>
                </a:solidFill>
                <a:latin typeface="Georgia" pitchFamily="34" charset="0"/>
                <a:ea typeface="Georgia" pitchFamily="34" charset="-122"/>
                <a:cs typeface="Georgia" pitchFamily="34" charset="-120"/>
              </a:rPr>
              <a:t>Trainee A</a:t>
            </a:r>
            <a:endParaRPr lang="en-US" sz="2000" dirty="0"/>
          </a:p>
        </p:txBody>
      </p:sp>
      <p:sp>
        <p:nvSpPr>
          <p:cNvPr id="10" name="Text 8"/>
          <p:cNvSpPr txBox="1"/>
          <p:nvPr/>
        </p:nvSpPr>
        <p:spPr>
          <a:xfrm>
            <a:off x="777240" y="2990088"/>
            <a:ext cx="2331720" cy="2514600"/>
          </a:xfrm>
          <a:prstGeom prst="rect">
            <a:avLst/>
          </a:prstGeom>
          <a:noFill/>
          <a:ln/>
        </p:spPr>
        <p:txBody>
          <a:bodyPr wrap="square" lIns="0" tIns="0" rIns="0" bIns="0" rtlCol="0" anchor="t"/>
          <a:lstStyle/>
          <a:p>
            <a:pPr indent="0" marL="0">
              <a:buNone/>
            </a:pPr>
            <a:r>
              <a:rPr lang="en-US" sz="1000" b="1" dirty="0">
                <a:solidFill>
                  <a:srgbClr val="5B6663"/>
                </a:solidFill>
                <a:latin typeface="Arial" pitchFamily="34" charset="0"/>
                <a:ea typeface="Arial" pitchFamily="34" charset="-122"/>
                <a:cs typeface="Arial" pitchFamily="34" charset="-120"/>
              </a:rPr>
              <a:t>City</a:t>
            </a:r>
            <a:endParaRPr lang="en-US" sz="1000" dirty="0"/>
          </a:p>
          <a:p>
            <a:pPr indent="0" marL="0">
              <a:spcAft>
                <a:spcPts val="500"/>
              </a:spcAft>
              <a:buNone/>
            </a:pPr>
            <a:r>
              <a:rPr lang="en-US" sz="1300" dirty="0">
                <a:solidFill>
                  <a:srgbClr val="16201E"/>
                </a:solidFill>
                <a:latin typeface="Arial" pitchFamily="34" charset="0"/>
                <a:ea typeface="Arial" pitchFamily="34" charset="-122"/>
                <a:cs typeface="Arial" pitchFamily="34" charset="-120"/>
              </a:rPr>
              <a:t>city_103 (index 0.92)</a:t>
            </a:r>
            <a:endParaRPr lang="en-US" sz="1000" dirty="0"/>
          </a:p>
          <a:p>
            <a:pPr indent="0" marL="0">
              <a:buNone/>
            </a:pPr>
            <a:r>
              <a:rPr lang="en-US" sz="1000" b="1" dirty="0">
                <a:solidFill>
                  <a:srgbClr val="5B6663"/>
                </a:solidFill>
                <a:latin typeface="Arial" pitchFamily="34" charset="0"/>
                <a:ea typeface="Arial" pitchFamily="34" charset="-122"/>
                <a:cs typeface="Arial" pitchFamily="34" charset="-120"/>
              </a:rPr>
              <a:t>Experience</a:t>
            </a:r>
            <a:endParaRPr lang="en-US" sz="1000" dirty="0"/>
          </a:p>
          <a:p>
            <a:pPr indent="0" marL="0">
              <a:spcAft>
                <a:spcPts val="500"/>
              </a:spcAft>
              <a:buNone/>
            </a:pPr>
            <a:r>
              <a:rPr lang="en-US" sz="1300" dirty="0">
                <a:solidFill>
                  <a:srgbClr val="16201E"/>
                </a:solidFill>
                <a:latin typeface="Arial" pitchFamily="34" charset="0"/>
                <a:ea typeface="Arial" pitchFamily="34" charset="-122"/>
                <a:cs typeface="Arial" pitchFamily="34" charset="-120"/>
              </a:rPr>
              <a:t>more than 20 years</a:t>
            </a:r>
            <a:endParaRPr lang="en-US" sz="1000" dirty="0"/>
          </a:p>
          <a:p>
            <a:pPr indent="0" marL="0">
              <a:buNone/>
            </a:pPr>
            <a:r>
              <a:rPr lang="en-US" sz="1000" b="1" dirty="0">
                <a:solidFill>
                  <a:srgbClr val="5B6663"/>
                </a:solidFill>
                <a:latin typeface="Arial" pitchFamily="34" charset="0"/>
                <a:ea typeface="Arial" pitchFamily="34" charset="-122"/>
                <a:cs typeface="Arial" pitchFamily="34" charset="-120"/>
              </a:rPr>
              <a:t>Employer</a:t>
            </a:r>
            <a:endParaRPr lang="en-US" sz="1000" dirty="0"/>
          </a:p>
          <a:p>
            <a:pPr indent="0" marL="0">
              <a:spcAft>
                <a:spcPts val="500"/>
              </a:spcAft>
              <a:buNone/>
            </a:pPr>
            <a:r>
              <a:rPr lang="en-US" sz="1300" dirty="0">
                <a:solidFill>
                  <a:srgbClr val="16201E"/>
                </a:solidFill>
                <a:latin typeface="Arial" pitchFamily="34" charset="0"/>
                <a:ea typeface="Arial" pitchFamily="34" charset="-122"/>
                <a:cs typeface="Arial" pitchFamily="34" charset="-120"/>
              </a:rPr>
              <a:t>Pvt Ltd, 10,000+ staff</a:t>
            </a:r>
            <a:endParaRPr lang="en-US" sz="1000" dirty="0"/>
          </a:p>
          <a:p>
            <a:pPr indent="0" marL="0">
              <a:buNone/>
            </a:pPr>
            <a:r>
              <a:rPr lang="en-US" sz="1000" b="1" dirty="0">
                <a:solidFill>
                  <a:srgbClr val="5B6663"/>
                </a:solidFill>
                <a:latin typeface="Arial" pitchFamily="34" charset="0"/>
                <a:ea typeface="Arial" pitchFamily="34" charset="-122"/>
                <a:cs typeface="Arial" pitchFamily="34" charset="-120"/>
              </a:rPr>
              <a:t>Last job change</a:t>
            </a:r>
            <a:endParaRPr lang="en-US" sz="1000" dirty="0"/>
          </a:p>
          <a:p>
            <a:pPr indent="0" marL="0">
              <a:spcAft>
                <a:spcPts val="500"/>
              </a:spcAft>
              <a:buNone/>
            </a:pPr>
            <a:r>
              <a:rPr lang="en-US" sz="1300" dirty="0">
                <a:solidFill>
                  <a:srgbClr val="16201E"/>
                </a:solidFill>
                <a:latin typeface="Arial" pitchFamily="34" charset="0"/>
                <a:ea typeface="Arial" pitchFamily="34" charset="-122"/>
                <a:cs typeface="Arial" pitchFamily="34" charset="-120"/>
              </a:rPr>
              <a:t>more than 4 years ago</a:t>
            </a:r>
            <a:endParaRPr lang="en-US" sz="1000" dirty="0"/>
          </a:p>
          <a:p>
            <a:pPr indent="0" marL="0">
              <a:buNone/>
            </a:pPr>
            <a:r>
              <a:rPr lang="en-US" sz="1000" b="1" dirty="0">
                <a:solidFill>
                  <a:srgbClr val="5B6663"/>
                </a:solidFill>
                <a:latin typeface="Arial" pitchFamily="34" charset="0"/>
                <a:ea typeface="Arial" pitchFamily="34" charset="-122"/>
                <a:cs typeface="Arial" pitchFamily="34" charset="-120"/>
              </a:rPr>
              <a:t>Studying</a:t>
            </a:r>
            <a:endParaRPr lang="en-US" sz="1000" dirty="0"/>
          </a:p>
          <a:p>
            <a:pPr indent="0" marL="0">
              <a:spcAft>
                <a:spcPts val="500"/>
              </a:spcAft>
              <a:buNone/>
            </a:pPr>
            <a:r>
              <a:rPr lang="en-US" sz="1300" dirty="0">
                <a:solidFill>
                  <a:srgbClr val="16201E"/>
                </a:solidFill>
                <a:latin typeface="Arial" pitchFamily="34" charset="0"/>
                <a:ea typeface="Arial" pitchFamily="34" charset="-122"/>
                <a:cs typeface="Arial" pitchFamily="34" charset="-120"/>
              </a:rPr>
              <a:t>not enrolled</a:t>
            </a:r>
            <a:endParaRPr lang="en-US" sz="1000" dirty="0"/>
          </a:p>
        </p:txBody>
      </p:sp>
      <p:sp>
        <p:nvSpPr>
          <p:cNvPr id="11" name="r1_badge0"/>
          <p:cNvSpPr/>
          <p:nvPr/>
        </p:nvSpPr>
        <p:spPr>
          <a:xfrm>
            <a:off x="731520" y="5532120"/>
            <a:ext cx="2377440" cy="594360"/>
          </a:xfrm>
          <a:prstGeom prst="roundRect">
            <a:avLst>
              <a:gd name="adj" fmla="val 12308"/>
            </a:avLst>
          </a:prstGeom>
          <a:solidFill>
            <a:srgbClr val="2E6B5E"/>
          </a:solidFill>
          <a:ln w="12700">
            <a:solidFill>
              <a:srgbClr val="2E6B5E"/>
            </a:solidFill>
            <a:prstDash val="solid"/>
          </a:ln>
        </p:spPr>
      </p:sp>
      <p:sp>
        <p:nvSpPr>
          <p:cNvPr id="12" name="r1_prob0"/>
          <p:cNvSpPr txBox="1"/>
          <p:nvPr/>
        </p:nvSpPr>
        <p:spPr>
          <a:xfrm>
            <a:off x="731520" y="5532120"/>
            <a:ext cx="237744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26%</a:t>
            </a:r>
            <a:pPr algn="ctr" indent="0" marL="0">
              <a:buNone/>
            </a:pPr>
            <a:r>
              <a:rPr lang="en-US" sz="1200" dirty="0">
                <a:solidFill>
                  <a:srgbClr val="FFFFFF"/>
                </a:solidFill>
                <a:latin typeface="Arial" pitchFamily="34" charset="0"/>
                <a:ea typeface="Arial" pitchFamily="34" charset="-122"/>
                <a:cs typeface="Arial" pitchFamily="34" charset="-120"/>
              </a:rPr>
              <a:t>  chance of moving</a:t>
            </a:r>
            <a:endParaRPr lang="en-US" sz="2200" dirty="0"/>
          </a:p>
        </p:txBody>
      </p:sp>
      <p:sp>
        <p:nvSpPr>
          <p:cNvPr id="13" name="Shape 11"/>
          <p:cNvSpPr/>
          <p:nvPr/>
        </p:nvSpPr>
        <p:spPr>
          <a:xfrm>
            <a:off x="3474720" y="2331720"/>
            <a:ext cx="2743200" cy="3977640"/>
          </a:xfrm>
          <a:prstGeom prst="roundRect">
            <a:avLst>
              <a:gd name="adj" fmla="val 3333"/>
            </a:avLst>
          </a:prstGeom>
          <a:solidFill>
            <a:srgbClr val="F1F4F2"/>
          </a:solidFill>
          <a:ln w="12700">
            <a:solidFill>
              <a:srgbClr val="F1F4F2"/>
            </a:solidFill>
            <a:prstDash val="solid"/>
          </a:ln>
        </p:spPr>
      </p:sp>
      <p:sp>
        <p:nvSpPr>
          <p:cNvPr id="14" name="Text 12"/>
          <p:cNvSpPr txBox="1"/>
          <p:nvPr/>
        </p:nvSpPr>
        <p:spPr>
          <a:xfrm>
            <a:off x="3703320" y="2514600"/>
            <a:ext cx="2286000" cy="411480"/>
          </a:xfrm>
          <a:prstGeom prst="rect">
            <a:avLst/>
          </a:prstGeom>
          <a:noFill/>
          <a:ln/>
        </p:spPr>
        <p:txBody>
          <a:bodyPr wrap="square" lIns="0" tIns="0" rIns="0" bIns="0" rtlCol="0" anchor="t"/>
          <a:lstStyle/>
          <a:p>
            <a:pPr indent="0" marL="0">
              <a:buNone/>
            </a:pPr>
            <a:r>
              <a:rPr lang="en-US" sz="2000" b="1" dirty="0">
                <a:solidFill>
                  <a:srgbClr val="16201E"/>
                </a:solidFill>
                <a:latin typeface="Georgia" pitchFamily="34" charset="0"/>
                <a:ea typeface="Georgia" pitchFamily="34" charset="-122"/>
                <a:cs typeface="Georgia" pitchFamily="34" charset="-120"/>
              </a:rPr>
              <a:t>Trainee B</a:t>
            </a:r>
            <a:endParaRPr lang="en-US" sz="2000" dirty="0"/>
          </a:p>
        </p:txBody>
      </p:sp>
      <p:sp>
        <p:nvSpPr>
          <p:cNvPr id="15" name="Text 13"/>
          <p:cNvSpPr txBox="1"/>
          <p:nvPr/>
        </p:nvSpPr>
        <p:spPr>
          <a:xfrm>
            <a:off x="3703320" y="2990088"/>
            <a:ext cx="2331720" cy="2514600"/>
          </a:xfrm>
          <a:prstGeom prst="rect">
            <a:avLst/>
          </a:prstGeom>
          <a:noFill/>
          <a:ln/>
        </p:spPr>
        <p:txBody>
          <a:bodyPr wrap="square" lIns="0" tIns="0" rIns="0" bIns="0" rtlCol="0" anchor="t"/>
          <a:lstStyle/>
          <a:p>
            <a:pPr indent="0" marL="0">
              <a:buNone/>
            </a:pPr>
            <a:r>
              <a:rPr lang="en-US" sz="1000" b="1" dirty="0">
                <a:solidFill>
                  <a:srgbClr val="5B6663"/>
                </a:solidFill>
                <a:latin typeface="Arial" pitchFamily="34" charset="0"/>
                <a:ea typeface="Arial" pitchFamily="34" charset="-122"/>
                <a:cs typeface="Arial" pitchFamily="34" charset="-120"/>
              </a:rPr>
              <a:t>City</a:t>
            </a:r>
            <a:endParaRPr lang="en-US" sz="1000" dirty="0"/>
          </a:p>
          <a:p>
            <a:pPr indent="0" marL="0">
              <a:spcAft>
                <a:spcPts val="500"/>
              </a:spcAft>
              <a:buNone/>
            </a:pPr>
            <a:r>
              <a:rPr lang="en-US" sz="1300" dirty="0">
                <a:solidFill>
                  <a:srgbClr val="16201E"/>
                </a:solidFill>
                <a:latin typeface="Arial" pitchFamily="34" charset="0"/>
                <a:ea typeface="Arial" pitchFamily="34" charset="-122"/>
                <a:cs typeface="Arial" pitchFamily="34" charset="-120"/>
              </a:rPr>
              <a:t>city_21 (index 0.62)</a:t>
            </a:r>
            <a:endParaRPr lang="en-US" sz="1000" dirty="0"/>
          </a:p>
          <a:p>
            <a:pPr indent="0" marL="0">
              <a:buNone/>
            </a:pPr>
            <a:r>
              <a:rPr lang="en-US" sz="1000" b="1" dirty="0">
                <a:solidFill>
                  <a:srgbClr val="5B6663"/>
                </a:solidFill>
                <a:latin typeface="Arial" pitchFamily="34" charset="0"/>
                <a:ea typeface="Arial" pitchFamily="34" charset="-122"/>
                <a:cs typeface="Arial" pitchFamily="34" charset="-120"/>
              </a:rPr>
              <a:t>Experience</a:t>
            </a:r>
            <a:endParaRPr lang="en-US" sz="1000" dirty="0"/>
          </a:p>
          <a:p>
            <a:pPr indent="0" marL="0">
              <a:spcAft>
                <a:spcPts val="500"/>
              </a:spcAft>
              <a:buNone/>
            </a:pPr>
            <a:r>
              <a:rPr lang="en-US" sz="1300" dirty="0">
                <a:solidFill>
                  <a:srgbClr val="16201E"/>
                </a:solidFill>
                <a:latin typeface="Arial" pitchFamily="34" charset="0"/>
                <a:ea typeface="Arial" pitchFamily="34" charset="-122"/>
                <a:cs typeface="Arial" pitchFamily="34" charset="-120"/>
              </a:rPr>
              <a:t>under 1 year</a:t>
            </a:r>
            <a:endParaRPr lang="en-US" sz="1000" dirty="0"/>
          </a:p>
          <a:p>
            <a:pPr indent="0" marL="0">
              <a:buNone/>
            </a:pPr>
            <a:r>
              <a:rPr lang="en-US" sz="1000" b="1" dirty="0">
                <a:solidFill>
                  <a:srgbClr val="5B6663"/>
                </a:solidFill>
                <a:latin typeface="Arial" pitchFamily="34" charset="0"/>
                <a:ea typeface="Arial" pitchFamily="34" charset="-122"/>
                <a:cs typeface="Arial" pitchFamily="34" charset="-120"/>
              </a:rPr>
              <a:t>Employer</a:t>
            </a:r>
            <a:endParaRPr lang="en-US" sz="1000" dirty="0"/>
          </a:p>
          <a:p>
            <a:pPr indent="0" marL="0">
              <a:spcAft>
                <a:spcPts val="500"/>
              </a:spcAft>
              <a:buNone/>
            </a:pPr>
            <a:r>
              <a:rPr lang="en-US" sz="1300" dirty="0">
                <a:solidFill>
                  <a:srgbClr val="16201E"/>
                </a:solidFill>
                <a:latin typeface="Arial" pitchFamily="34" charset="0"/>
                <a:ea typeface="Arial" pitchFamily="34" charset="-122"/>
                <a:cs typeface="Arial" pitchFamily="34" charset="-120"/>
              </a:rPr>
              <a:t>none on record</a:t>
            </a:r>
            <a:endParaRPr lang="en-US" sz="1000" dirty="0"/>
          </a:p>
          <a:p>
            <a:pPr indent="0" marL="0">
              <a:buNone/>
            </a:pPr>
            <a:r>
              <a:rPr lang="en-US" sz="1000" b="1" dirty="0">
                <a:solidFill>
                  <a:srgbClr val="5B6663"/>
                </a:solidFill>
                <a:latin typeface="Arial" pitchFamily="34" charset="0"/>
                <a:ea typeface="Arial" pitchFamily="34" charset="-122"/>
                <a:cs typeface="Arial" pitchFamily="34" charset="-120"/>
              </a:rPr>
              <a:t>Last job change</a:t>
            </a:r>
            <a:endParaRPr lang="en-US" sz="1000" dirty="0"/>
          </a:p>
          <a:p>
            <a:pPr indent="0" marL="0">
              <a:spcAft>
                <a:spcPts val="500"/>
              </a:spcAft>
              <a:buNone/>
            </a:pPr>
            <a:r>
              <a:rPr lang="en-US" sz="1300" dirty="0">
                <a:solidFill>
                  <a:srgbClr val="16201E"/>
                </a:solidFill>
                <a:latin typeface="Arial" pitchFamily="34" charset="0"/>
                <a:ea typeface="Arial" pitchFamily="34" charset="-122"/>
                <a:cs typeface="Arial" pitchFamily="34" charset="-120"/>
              </a:rPr>
              <a:t>2 years ago</a:t>
            </a:r>
            <a:endParaRPr lang="en-US" sz="1000" dirty="0"/>
          </a:p>
          <a:p>
            <a:pPr indent="0" marL="0">
              <a:buNone/>
            </a:pPr>
            <a:r>
              <a:rPr lang="en-US" sz="1000" b="1" dirty="0">
                <a:solidFill>
                  <a:srgbClr val="5B6663"/>
                </a:solidFill>
                <a:latin typeface="Arial" pitchFamily="34" charset="0"/>
                <a:ea typeface="Arial" pitchFamily="34" charset="-122"/>
                <a:cs typeface="Arial" pitchFamily="34" charset="-120"/>
              </a:rPr>
              <a:t>Studying</a:t>
            </a:r>
            <a:endParaRPr lang="en-US" sz="1000" dirty="0"/>
          </a:p>
          <a:p>
            <a:pPr indent="0" marL="0">
              <a:spcAft>
                <a:spcPts val="500"/>
              </a:spcAft>
              <a:buNone/>
            </a:pPr>
            <a:r>
              <a:rPr lang="en-US" sz="1300" dirty="0">
                <a:solidFill>
                  <a:srgbClr val="16201E"/>
                </a:solidFill>
                <a:latin typeface="Arial" pitchFamily="34" charset="0"/>
                <a:ea typeface="Arial" pitchFamily="34" charset="-122"/>
                <a:cs typeface="Arial" pitchFamily="34" charset="-120"/>
              </a:rPr>
              <a:t>full-time course</a:t>
            </a:r>
            <a:endParaRPr lang="en-US" sz="1000" dirty="0"/>
          </a:p>
        </p:txBody>
      </p:sp>
      <p:sp>
        <p:nvSpPr>
          <p:cNvPr id="16" name="r1_badge1"/>
          <p:cNvSpPr/>
          <p:nvPr/>
        </p:nvSpPr>
        <p:spPr>
          <a:xfrm>
            <a:off x="3657600" y="5532120"/>
            <a:ext cx="2377440" cy="594360"/>
          </a:xfrm>
          <a:prstGeom prst="roundRect">
            <a:avLst>
              <a:gd name="adj" fmla="val 12308"/>
            </a:avLst>
          </a:prstGeom>
          <a:solidFill>
            <a:srgbClr val="E4572E"/>
          </a:solidFill>
          <a:ln w="12700">
            <a:solidFill>
              <a:srgbClr val="E4572E"/>
            </a:solidFill>
            <a:prstDash val="solid"/>
          </a:ln>
        </p:spPr>
      </p:sp>
      <p:sp>
        <p:nvSpPr>
          <p:cNvPr id="17" name="r1_prob1"/>
          <p:cNvSpPr txBox="1"/>
          <p:nvPr/>
        </p:nvSpPr>
        <p:spPr>
          <a:xfrm>
            <a:off x="3657600" y="5532120"/>
            <a:ext cx="237744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96%</a:t>
            </a:r>
            <a:pPr algn="ctr" indent="0" marL="0">
              <a:buNone/>
            </a:pPr>
            <a:r>
              <a:rPr lang="en-US" sz="1200" dirty="0">
                <a:solidFill>
                  <a:srgbClr val="FFFFFF"/>
                </a:solidFill>
                <a:latin typeface="Arial" pitchFamily="34" charset="0"/>
                <a:ea typeface="Arial" pitchFamily="34" charset="-122"/>
                <a:cs typeface="Arial" pitchFamily="34" charset="-120"/>
              </a:rPr>
              <a:t>  chance of moving</a:t>
            </a:r>
            <a:endParaRPr lang="en-US" sz="2200" dirty="0"/>
          </a:p>
        </p:txBody>
      </p:sp>
      <p:graphicFrame>
        <p:nvGraphicFramePr>
          <p:cNvPr id="18" name="Chart 0" descr=""/>
          <p:cNvGraphicFramePr/>
          <p:nvPr/>
        </p:nvGraphicFramePr>
        <p:xfrm>
          <a:off x="6583680" y="1828800"/>
          <a:ext cx="5074920" cy="352044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6675120" y="5486400"/>
            <a:ext cx="2377440" cy="868680"/>
          </a:xfrm>
          <a:prstGeom prst="rect">
            <a:avLst/>
          </a:prstGeom>
          <a:noFill/>
          <a:ln/>
        </p:spPr>
        <p:txBody>
          <a:bodyPr wrap="square" lIns="0" tIns="0" rIns="0" bIns="0" rtlCol="0" anchor="t"/>
          <a:lstStyle/>
          <a:p>
            <a:pPr indent="0" marL="0">
              <a:buNone/>
            </a:pPr>
            <a:r>
              <a:rPr lang="en-US" sz="1800" b="1" dirty="0">
                <a:solidFill>
                  <a:srgbClr val="16201E"/>
                </a:solidFill>
                <a:latin typeface="Georgia" pitchFamily="34" charset="0"/>
                <a:ea typeface="Georgia" pitchFamily="34" charset="-122"/>
                <a:cs typeface="Georgia" pitchFamily="34" charset="-120"/>
              </a:rPr>
              <a:t>45% vs 15%</a:t>
            </a:r>
            <a:endParaRPr lang="en-US" sz="1800" dirty="0"/>
          </a:p>
          <a:p>
            <a:pPr indent="0" marL="0">
              <a:buNone/>
            </a:pPr>
            <a:r>
              <a:rPr lang="en-US" sz="1150" dirty="0">
                <a:solidFill>
                  <a:srgbClr val="5B6663"/>
                </a:solidFill>
                <a:latin typeface="Arial" pitchFamily="34" charset="0"/>
                <a:ea typeface="Arial" pitchFamily="34" charset="-122"/>
                <a:cs typeface="Arial" pitchFamily="34" charset="-120"/>
              </a:rPr>
              <a:t>job hunting with under 1 year vs over 20 years of experience</a:t>
            </a:r>
            <a:endParaRPr lang="en-US" sz="1800" dirty="0"/>
          </a:p>
        </p:txBody>
      </p:sp>
      <p:sp>
        <p:nvSpPr>
          <p:cNvPr id="20" name="Text 17"/>
          <p:cNvSpPr txBox="1"/>
          <p:nvPr/>
        </p:nvSpPr>
        <p:spPr>
          <a:xfrm>
            <a:off x="9235440" y="5486400"/>
            <a:ext cx="2377440" cy="868680"/>
          </a:xfrm>
          <a:prstGeom prst="rect">
            <a:avLst/>
          </a:prstGeom>
          <a:noFill/>
          <a:ln/>
        </p:spPr>
        <p:txBody>
          <a:bodyPr wrap="square" lIns="0" tIns="0" rIns="0" bIns="0" rtlCol="0" anchor="t"/>
          <a:lstStyle/>
          <a:p>
            <a:pPr indent="0" marL="0">
              <a:buNone/>
            </a:pPr>
            <a:r>
              <a:rPr lang="en-US" sz="1800" b="1" dirty="0">
                <a:solidFill>
                  <a:srgbClr val="16201E"/>
                </a:solidFill>
                <a:latin typeface="Georgia" pitchFamily="34" charset="0"/>
                <a:ea typeface="Georgia" pitchFamily="34" charset="-122"/>
                <a:cs typeface="Georgia" pitchFamily="34" charset="-120"/>
              </a:rPr>
              <a:t>-0.02</a:t>
            </a:r>
            <a:endParaRPr lang="en-US" sz="1800" dirty="0"/>
          </a:p>
          <a:p>
            <a:pPr indent="0" marL="0">
              <a:buNone/>
            </a:pPr>
            <a:r>
              <a:rPr lang="en-US" sz="1150" dirty="0">
                <a:solidFill>
                  <a:srgbClr val="5B6663"/>
                </a:solidFill>
                <a:latin typeface="Arial" pitchFamily="34" charset="0"/>
                <a:ea typeface="Arial" pitchFamily="34" charset="-122"/>
                <a:cs typeface="Arial" pitchFamily="34" charset="-120"/>
              </a:rPr>
              <a:t>correlation of training hours with the target: basically none</a:t>
            </a:r>
            <a:endParaRPr lang="en-US" sz="1800" dirty="0"/>
          </a:p>
        </p:txBody>
      </p:sp>
      <p:sp>
        <p:nvSpPr>
          <p:cNvPr id="21" name="Text 18"/>
          <p:cNvSpPr txBox="1"/>
          <p:nvPr/>
        </p:nvSpPr>
        <p:spPr>
          <a:xfrm>
            <a:off x="11094415" y="6446520"/>
            <a:ext cx="548640" cy="256032"/>
          </a:xfrm>
          <a:prstGeom prst="rect">
            <a:avLst/>
          </a:prstGeom>
          <a:noFill/>
          <a:ln/>
        </p:spPr>
        <p:txBody>
          <a:bodyPr wrap="square" lIns="0" tIns="0" rIns="0" bIns="0" rtlCol="0" anchor="ctr"/>
          <a:lstStyle/>
          <a:p>
            <a:pPr algn="r" indent="0" marL="0">
              <a:buNone/>
            </a:pPr>
            <a:r>
              <a:rPr lang="en-US" sz="1000" dirty="0">
                <a:solidFill>
                  <a:srgbClr val="5B6663"/>
                </a:solidFill>
                <a:latin typeface="Arial" pitchFamily="34" charset="0"/>
                <a:ea typeface="Arial" pitchFamily="34" charset="-122"/>
                <a:cs typeface="Arial" pitchFamily="34" charset="-120"/>
              </a:rPr>
              <a:t>3</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5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803550" cy="310896"/>
          </a:xfrm>
          <a:prstGeom prst="roundRect">
            <a:avLst>
              <a:gd name="adj" fmla="val 50000"/>
            </a:avLst>
          </a:prstGeom>
          <a:solidFill>
            <a:srgbClr val="12211F"/>
          </a:solidFill>
          <a:ln w="12700">
            <a:solidFill>
              <a:srgbClr val="12211F"/>
            </a:solidFill>
            <a:prstDash val="solid"/>
          </a:ln>
        </p:spPr>
      </p:sp>
      <p:sp>
        <p:nvSpPr>
          <p:cNvPr id="3" name="Text 1"/>
          <p:cNvSpPr txBox="1"/>
          <p:nvPr/>
        </p:nvSpPr>
        <p:spPr>
          <a:xfrm>
            <a:off x="548640" y="411480"/>
            <a:ext cx="2803550" cy="310896"/>
          </a:xfrm>
          <a:prstGeom prst="rect">
            <a:avLst/>
          </a:prstGeom>
          <a:noFill/>
          <a:ln/>
        </p:spPr>
        <p:txBody>
          <a:bodyPr wrap="square" lIns="0" tIns="0" rIns="0" bIns="0" rtlCol="0" anchor="ctr"/>
          <a:lstStyle/>
          <a:p>
            <a:pPr algn="ctr" indent="0" marL="0">
              <a:buNone/>
            </a:pPr>
            <a:r>
              <a:rPr lang="en-US" sz="1050" b="1" spc="200" kern="0" dirty="0">
                <a:solidFill>
                  <a:srgbClr val="FFFFFF"/>
                </a:solidFill>
                <a:latin typeface="Arial" pitchFamily="34" charset="0"/>
                <a:ea typeface="Arial" pitchFamily="34" charset="-122"/>
                <a:cs typeface="Arial" pitchFamily="34" charset="-120"/>
              </a:rPr>
              <a:t>PART 2  ·  DATA PREPARATION</a:t>
            </a:r>
            <a:endParaRPr lang="en-US" sz="1050" dirty="0"/>
          </a:p>
        </p:txBody>
      </p:sp>
      <p:sp>
        <p:nvSpPr>
          <p:cNvPr id="4" name="Text 2"/>
          <p:cNvSpPr txBox="1"/>
          <p:nvPr/>
        </p:nvSpPr>
        <p:spPr>
          <a:xfrm>
            <a:off x="548640" y="841248"/>
            <a:ext cx="11094415" cy="914400"/>
          </a:xfrm>
          <a:prstGeom prst="rect">
            <a:avLst/>
          </a:prstGeom>
          <a:noFill/>
          <a:ln/>
        </p:spPr>
        <p:txBody>
          <a:bodyPr wrap="square" lIns="0" tIns="0" rIns="0" bIns="0" rtlCol="0" anchor="t"/>
          <a:lstStyle/>
          <a:p>
            <a:pPr indent="0" marL="0">
              <a:buNone/>
            </a:pPr>
            <a:r>
              <a:rPr lang="en-US" sz="3200" b="1" dirty="0">
                <a:solidFill>
                  <a:srgbClr val="16201E"/>
                </a:solidFill>
                <a:latin typeface="Georgia" pitchFamily="34" charset="0"/>
                <a:ea typeface="Georgia" pitchFamily="34" charset="-122"/>
                <a:cs typeface="Georgia" pitchFamily="34" charset="-120"/>
              </a:rPr>
              <a:t>The missing data was hiding the job hunters</a:t>
            </a:r>
            <a:endParaRPr lang="en-US" sz="3200" dirty="0"/>
          </a:p>
        </p:txBody>
      </p:sp>
      <p:graphicFrame>
        <p:nvGraphicFramePr>
          <p:cNvPr id="5" name="Chart 0" descr=""/>
          <p:cNvGraphicFramePr/>
          <p:nvPr/>
        </p:nvGraphicFramePr>
        <p:xfrm>
          <a:off x="502920" y="1783080"/>
          <a:ext cx="640080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5760720"/>
            <a:ext cx="6309360" cy="685800"/>
          </a:xfrm>
          <a:prstGeom prst="rect">
            <a:avLst/>
          </a:prstGeom>
          <a:noFill/>
          <a:ln/>
        </p:spPr>
        <p:txBody>
          <a:bodyPr wrap="square" lIns="0" tIns="0" rIns="0" bIns="0" rtlCol="0" anchor="t"/>
          <a:lstStyle/>
          <a:p>
            <a:pPr indent="0" marL="0">
              <a:buNone/>
            </a:pPr>
            <a:r>
              <a:rPr lang="en-US" sz="1250" b="1" dirty="0">
                <a:solidFill>
                  <a:srgbClr val="16201E"/>
                </a:solidFill>
                <a:latin typeface="Arial" pitchFamily="34" charset="0"/>
                <a:ea typeface="Arial" pitchFamily="34" charset="-122"/>
                <a:cs typeface="Arial" pitchFamily="34" charset="-120"/>
              </a:rPr>
              <a:t>What we did instead: </a:t>
            </a:r>
            <a:pPr indent="0" marL="0">
              <a:buNone/>
            </a:pPr>
            <a:r>
              <a:rPr lang="en-US" sz="1250" dirty="0">
                <a:solidFill>
                  <a:srgbClr val="5B6663"/>
                </a:solidFill>
                <a:latin typeface="Arial" pitchFamily="34" charset="0"/>
                <a:ea typeface="Arial" pitchFamily="34" charset="-122"/>
                <a:cs typeface="Arial" pitchFamily="34" charset="-120"/>
              </a:rPr>
              <a:t>kept every row. Missing categories became an "Unknown" level and missing numbers got the median, fitted on training data only.</a:t>
            </a:r>
            <a:endParaRPr lang="en-US" sz="1250" dirty="0"/>
          </a:p>
        </p:txBody>
      </p:sp>
      <p:pic>
        <p:nvPicPr>
          <p:cNvPr id="7" name="Image 0" descr="/private/tmp/claude-501/-Users-shreshthbehal-Downloads-IDS-MODEL/94d7d9e0-839f-4ae9-a7c4-b56936e55bac/scratchpad/memes/captioned/pikachu.jpg">    </p:cNvPr>
          <p:cNvPicPr>
            <a:picLocks noChangeAspect="1"/>
          </p:cNvPicPr>
          <p:nvPr/>
        </p:nvPicPr>
        <p:blipFill>
          <a:blip r:embed="rId2"/>
          <a:stretch>
            <a:fillRect/>
          </a:stretch>
        </p:blipFill>
        <p:spPr>
          <a:xfrm>
            <a:off x="7269480" y="1783080"/>
            <a:ext cx="4370832" cy="4370832"/>
          </a:xfrm>
          <a:prstGeom prst="rect">
            <a:avLst/>
          </a:prstGeom>
        </p:spPr>
      </p:pic>
      <p:sp>
        <p:nvSpPr>
          <p:cNvPr id="8" name="Text 4"/>
          <p:cNvSpPr txBox="1"/>
          <p:nvPr/>
        </p:nvSpPr>
        <p:spPr>
          <a:xfrm>
            <a:off x="11094415" y="6446520"/>
            <a:ext cx="548640" cy="256032"/>
          </a:xfrm>
          <a:prstGeom prst="rect">
            <a:avLst/>
          </a:prstGeom>
          <a:noFill/>
          <a:ln/>
        </p:spPr>
        <p:txBody>
          <a:bodyPr wrap="square" lIns="0" tIns="0" rIns="0" bIns="0" rtlCol="0" anchor="ctr"/>
          <a:lstStyle/>
          <a:p>
            <a:pPr algn="r" indent="0" marL="0">
              <a:buNone/>
            </a:pPr>
            <a:r>
              <a:rPr lang="en-US" sz="1000" dirty="0">
                <a:solidFill>
                  <a:srgbClr val="5B6663"/>
                </a:solidFill>
                <a:latin typeface="Arial" pitchFamily="34" charset="0"/>
                <a:ea typeface="Arial" pitchFamily="34" charset="-122"/>
                <a:cs typeface="Arial" pitchFamily="34" charset="-120"/>
              </a:rPr>
              <a:t>4</a:t>
            </a:r>
            <a:endParaRPr lang="en-US" sz="1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803550" cy="310896"/>
          </a:xfrm>
          <a:prstGeom prst="roundRect">
            <a:avLst>
              <a:gd name="adj" fmla="val 50000"/>
            </a:avLst>
          </a:prstGeom>
          <a:solidFill>
            <a:srgbClr val="12211F"/>
          </a:solidFill>
          <a:ln w="12700">
            <a:solidFill>
              <a:srgbClr val="12211F"/>
            </a:solidFill>
            <a:prstDash val="solid"/>
          </a:ln>
        </p:spPr>
      </p:sp>
      <p:sp>
        <p:nvSpPr>
          <p:cNvPr id="3" name="Text 1"/>
          <p:cNvSpPr txBox="1"/>
          <p:nvPr/>
        </p:nvSpPr>
        <p:spPr>
          <a:xfrm>
            <a:off x="548640" y="411480"/>
            <a:ext cx="2803550" cy="310896"/>
          </a:xfrm>
          <a:prstGeom prst="rect">
            <a:avLst/>
          </a:prstGeom>
          <a:noFill/>
          <a:ln/>
        </p:spPr>
        <p:txBody>
          <a:bodyPr wrap="square" lIns="0" tIns="0" rIns="0" bIns="0" rtlCol="0" anchor="ctr"/>
          <a:lstStyle/>
          <a:p>
            <a:pPr algn="ctr" indent="0" marL="0">
              <a:buNone/>
            </a:pPr>
            <a:r>
              <a:rPr lang="en-US" sz="1050" b="1" spc="200" kern="0" dirty="0">
                <a:solidFill>
                  <a:srgbClr val="FFFFFF"/>
                </a:solidFill>
                <a:latin typeface="Arial" pitchFamily="34" charset="0"/>
                <a:ea typeface="Arial" pitchFamily="34" charset="-122"/>
                <a:cs typeface="Arial" pitchFamily="34" charset="-120"/>
              </a:rPr>
              <a:t>PART 2  ·  DATA PREPARATION</a:t>
            </a:r>
            <a:endParaRPr lang="en-US" sz="1050" dirty="0"/>
          </a:p>
        </p:txBody>
      </p:sp>
      <p:sp>
        <p:nvSpPr>
          <p:cNvPr id="4" name="Text 2"/>
          <p:cNvSpPr txBox="1"/>
          <p:nvPr/>
        </p:nvSpPr>
        <p:spPr>
          <a:xfrm>
            <a:off x="548640" y="841248"/>
            <a:ext cx="11094415" cy="914400"/>
          </a:xfrm>
          <a:prstGeom prst="rect">
            <a:avLst/>
          </a:prstGeom>
          <a:noFill/>
          <a:ln/>
        </p:spPr>
        <p:txBody>
          <a:bodyPr wrap="square" lIns="0" tIns="0" rIns="0" bIns="0" rtlCol="0" anchor="t"/>
          <a:lstStyle/>
          <a:p>
            <a:pPr indent="0" marL="0">
              <a:buNone/>
            </a:pPr>
            <a:r>
              <a:rPr lang="en-US" sz="3200" b="1" dirty="0">
                <a:solidFill>
                  <a:srgbClr val="16201E"/>
                </a:solidFill>
                <a:latin typeface="Georgia" pitchFamily="34" charset="0"/>
                <a:ea typeface="Georgia" pitchFamily="34" charset="-122"/>
                <a:cs typeface="Georgia" pitchFamily="34" charset="-120"/>
              </a:rPr>
              <a:t>From messy text to 152 numbers a model can read</a:t>
            </a:r>
            <a:endParaRPr lang="en-US" sz="3200" dirty="0"/>
          </a:p>
        </p:txBody>
      </p:sp>
      <p:sp>
        <p:nvSpPr>
          <p:cNvPr id="5" name="Shape 3"/>
          <p:cNvSpPr/>
          <p:nvPr/>
        </p:nvSpPr>
        <p:spPr>
          <a:xfrm>
            <a:off x="548640" y="2788920"/>
            <a:ext cx="1554480" cy="1463040"/>
          </a:xfrm>
          <a:prstGeom prst="roundRect">
            <a:avLst>
              <a:gd name="adj" fmla="val 5000"/>
            </a:avLst>
          </a:prstGeom>
          <a:solidFill>
            <a:srgbClr val="F1F4F2"/>
          </a:solidFill>
          <a:ln w="12700">
            <a:solidFill>
              <a:srgbClr val="F1F4F2"/>
            </a:solidFill>
            <a:prstDash val="solid"/>
          </a:ln>
        </p:spPr>
      </p:sp>
      <p:sp>
        <p:nvSpPr>
          <p:cNvPr id="6" name="Text 4"/>
          <p:cNvSpPr txBox="1"/>
          <p:nvPr/>
        </p:nvSpPr>
        <p:spPr>
          <a:xfrm>
            <a:off x="548640" y="2788920"/>
            <a:ext cx="1554480" cy="1463040"/>
          </a:xfrm>
          <a:prstGeom prst="rect">
            <a:avLst/>
          </a:prstGeom>
          <a:noFill/>
          <a:ln/>
        </p:spPr>
        <p:txBody>
          <a:bodyPr wrap="square" lIns="0" tIns="0" rIns="0" bIns="0" rtlCol="0" anchor="ctr"/>
          <a:lstStyle/>
          <a:p>
            <a:pPr algn="ctr" indent="0" marL="0">
              <a:buNone/>
            </a:pPr>
            <a:r>
              <a:rPr lang="en-US" sz="3600" b="1" dirty="0">
                <a:solidFill>
                  <a:srgbClr val="16201E"/>
                </a:solidFill>
                <a:latin typeface="Georgia" pitchFamily="34" charset="0"/>
                <a:ea typeface="Georgia" pitchFamily="34" charset="-122"/>
                <a:cs typeface="Georgia" pitchFamily="34" charset="-120"/>
              </a:rPr>
              <a:t>13</a:t>
            </a:r>
            <a:endParaRPr lang="en-US" sz="3600" dirty="0"/>
          </a:p>
          <a:p>
            <a:pPr algn="ctr" indent="0" marL="0">
              <a:buNone/>
            </a:pPr>
            <a:r>
              <a:rPr lang="en-US" sz="1300" dirty="0">
                <a:solidFill>
                  <a:srgbClr val="5B6663"/>
                </a:solidFill>
                <a:latin typeface="Arial" pitchFamily="34" charset="0"/>
                <a:ea typeface="Arial" pitchFamily="34" charset="-122"/>
                <a:cs typeface="Arial" pitchFamily="34" charset="-120"/>
              </a:rPr>
              <a:t>raw columns</a:t>
            </a:r>
            <a:endParaRPr lang="en-US" sz="3600" dirty="0"/>
          </a:p>
        </p:txBody>
      </p:sp>
      <p:sp>
        <p:nvSpPr>
          <p:cNvPr id="7" name="Shape 5"/>
          <p:cNvSpPr/>
          <p:nvPr/>
        </p:nvSpPr>
        <p:spPr>
          <a:xfrm>
            <a:off x="2176272" y="3520440"/>
            <a:ext cx="365760" cy="0"/>
          </a:xfrm>
          <a:prstGeom prst="line">
            <a:avLst/>
          </a:prstGeom>
          <a:noFill/>
          <a:ln w="22225">
            <a:solidFill>
              <a:srgbClr val="8A9491"/>
            </a:solidFill>
            <a:prstDash val="solid"/>
            <a:tailEnd type="triangle"/>
          </a:ln>
        </p:spPr>
      </p:sp>
      <p:sp>
        <p:nvSpPr>
          <p:cNvPr id="8" name="Shape 6"/>
          <p:cNvSpPr/>
          <p:nvPr/>
        </p:nvSpPr>
        <p:spPr>
          <a:xfrm>
            <a:off x="2606040" y="1920240"/>
            <a:ext cx="2697480" cy="3200400"/>
          </a:xfrm>
          <a:prstGeom prst="roundRect">
            <a:avLst>
              <a:gd name="adj" fmla="val 2712"/>
            </a:avLst>
          </a:prstGeom>
          <a:solidFill>
            <a:srgbClr val="F1F4F2"/>
          </a:solidFill>
          <a:ln w="12700">
            <a:solidFill>
              <a:srgbClr val="F1F4F2"/>
            </a:solidFill>
            <a:prstDash val="solid"/>
          </a:ln>
        </p:spPr>
      </p:sp>
      <p:sp>
        <p:nvSpPr>
          <p:cNvPr id="9" name="Text 7"/>
          <p:cNvSpPr txBox="1"/>
          <p:nvPr/>
        </p:nvSpPr>
        <p:spPr>
          <a:xfrm>
            <a:off x="2788920" y="2075688"/>
            <a:ext cx="2377440" cy="365760"/>
          </a:xfrm>
          <a:prstGeom prst="rect">
            <a:avLst/>
          </a:prstGeom>
          <a:noFill/>
          <a:ln/>
        </p:spPr>
        <p:txBody>
          <a:bodyPr wrap="square" lIns="0" tIns="0" rIns="0" bIns="0" rtlCol="0" anchor="t"/>
          <a:lstStyle/>
          <a:p>
            <a:pPr indent="0" marL="0">
              <a:buNone/>
            </a:pPr>
            <a:r>
              <a:rPr lang="en-US" sz="1400" b="1" dirty="0">
                <a:solidFill>
                  <a:srgbClr val="16201E"/>
                </a:solidFill>
                <a:latin typeface="Arial" pitchFamily="34" charset="0"/>
                <a:ea typeface="Arial" pitchFamily="34" charset="-122"/>
                <a:cs typeface="Arial" pitchFamily="34" charset="-120"/>
              </a:rPr>
              <a:t>Feature engineering</a:t>
            </a:r>
            <a:endParaRPr lang="en-US" sz="1400" dirty="0"/>
          </a:p>
        </p:txBody>
      </p:sp>
      <p:sp>
        <p:nvSpPr>
          <p:cNvPr id="10" name="Text 8"/>
          <p:cNvSpPr txBox="1"/>
          <p:nvPr/>
        </p:nvSpPr>
        <p:spPr>
          <a:xfrm>
            <a:off x="2788920" y="2542032"/>
            <a:ext cx="2377440" cy="246888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16201E"/>
                </a:solidFill>
                <a:latin typeface="Arial" pitchFamily="34" charset="0"/>
                <a:ea typeface="Arial" pitchFamily="34" charset="-122"/>
                <a:cs typeface="Arial" pitchFamily="34" charset="-120"/>
              </a:rPr>
              <a:t>Drop enrollee_id: an ID predicts nothing</a:t>
            </a:r>
            <a:endParaRPr lang="en-US" sz="1200" dirty="0"/>
          </a:p>
          <a:p>
            <a:pPr marL="152400" indent="-152400">
              <a:spcAft>
                <a:spcPts val="800"/>
              </a:spcAft>
              <a:buSzPct val="100000"/>
              <a:buChar char="•"/>
            </a:pPr>
            <a:r>
              <a:rPr lang="en-US" sz="1200" dirty="0">
                <a:solidFill>
                  <a:srgbClr val="16201E"/>
                </a:solidFill>
                <a:latin typeface="Arial" pitchFamily="34" charset="0"/>
                <a:ea typeface="Arial" pitchFamily="34" charset="-122"/>
                <a:cs typeface="Arial" pitchFamily="34" charset="-120"/>
              </a:rPr>
              <a:t>experience to years: &lt;1 = 0.5, &gt;20 = 21</a:t>
            </a:r>
            <a:endParaRPr lang="en-US" sz="1200" dirty="0"/>
          </a:p>
          <a:p>
            <a:pPr marL="152400" indent="-152400">
              <a:spcAft>
                <a:spcPts val="800"/>
              </a:spcAft>
              <a:buSzPct val="100000"/>
              <a:buChar char="•"/>
            </a:pPr>
            <a:r>
              <a:rPr lang="en-US" sz="1200" dirty="0">
                <a:solidFill>
                  <a:srgbClr val="16201E"/>
                </a:solidFill>
                <a:latin typeface="Arial" pitchFamily="34" charset="0"/>
                <a:ea typeface="Arial" pitchFamily="34" charset="-122"/>
                <a:cs typeface="Arial" pitchFamily="34" charset="-120"/>
              </a:rPr>
              <a:t>last_new_job to years: never = 0, &gt;4 = 5</a:t>
            </a:r>
            <a:endParaRPr lang="en-US" sz="1200" dirty="0"/>
          </a:p>
          <a:p>
            <a:pPr marL="152400" indent="-152400">
              <a:spcAft>
                <a:spcPts val="800"/>
              </a:spcAft>
              <a:buSzPct val="100000"/>
              <a:buChar char="•"/>
            </a:pPr>
            <a:r>
              <a:rPr lang="en-US" sz="1200" dirty="0">
                <a:solidFill>
                  <a:srgbClr val="16201E"/>
                </a:solidFill>
                <a:latin typeface="Arial" pitchFamily="34" charset="0"/>
                <a:ea typeface="Arial" pitchFamily="34" charset="-122"/>
                <a:cs typeface="Arial" pitchFamily="34" charset="-120"/>
              </a:rPr>
              <a:t>Keeps the order, saves 28 dummy columns</a:t>
            </a:r>
            <a:endParaRPr lang="en-US" sz="1200" dirty="0"/>
          </a:p>
        </p:txBody>
      </p:sp>
      <p:sp>
        <p:nvSpPr>
          <p:cNvPr id="11" name="Shape 9"/>
          <p:cNvSpPr/>
          <p:nvPr/>
        </p:nvSpPr>
        <p:spPr>
          <a:xfrm>
            <a:off x="5349240" y="3520440"/>
            <a:ext cx="320040" cy="0"/>
          </a:xfrm>
          <a:prstGeom prst="line">
            <a:avLst/>
          </a:prstGeom>
          <a:noFill/>
          <a:ln w="22225">
            <a:solidFill>
              <a:srgbClr val="8A9491"/>
            </a:solidFill>
            <a:prstDash val="solid"/>
            <a:tailEnd type="triangle"/>
          </a:ln>
        </p:spPr>
      </p:sp>
      <p:sp>
        <p:nvSpPr>
          <p:cNvPr id="12" name="Shape 10"/>
          <p:cNvSpPr/>
          <p:nvPr/>
        </p:nvSpPr>
        <p:spPr>
          <a:xfrm>
            <a:off x="5715000" y="1874520"/>
            <a:ext cx="3931920" cy="1024128"/>
          </a:xfrm>
          <a:prstGeom prst="roundRect">
            <a:avLst>
              <a:gd name="adj" fmla="val 7143"/>
            </a:avLst>
          </a:prstGeom>
          <a:solidFill>
            <a:srgbClr val="CFE3DC"/>
          </a:solidFill>
          <a:ln w="12700">
            <a:solidFill>
              <a:srgbClr val="CFE3DC"/>
            </a:solidFill>
            <a:prstDash val="solid"/>
          </a:ln>
        </p:spPr>
      </p:sp>
      <p:sp>
        <p:nvSpPr>
          <p:cNvPr id="13" name="Text 11"/>
          <p:cNvSpPr txBox="1"/>
          <p:nvPr/>
        </p:nvSpPr>
        <p:spPr>
          <a:xfrm>
            <a:off x="5870448" y="1929384"/>
            <a:ext cx="3657600" cy="914400"/>
          </a:xfrm>
          <a:prstGeom prst="rect">
            <a:avLst/>
          </a:prstGeom>
          <a:noFill/>
          <a:ln/>
        </p:spPr>
        <p:txBody>
          <a:bodyPr wrap="square" lIns="0" tIns="0" rIns="0" bIns="0" rtlCol="0" anchor="ctr"/>
          <a:lstStyle/>
          <a:p>
            <a:pPr indent="0" marL="0">
              <a:buNone/>
            </a:pPr>
            <a:r>
              <a:rPr lang="en-US" sz="1300" b="1" dirty="0">
                <a:solidFill>
                  <a:srgbClr val="16201E"/>
                </a:solidFill>
                <a:latin typeface="Arial" pitchFamily="34" charset="0"/>
                <a:ea typeface="Arial" pitchFamily="34" charset="-122"/>
                <a:cs typeface="Arial" pitchFamily="34" charset="-120"/>
              </a:rPr>
              <a:t>Nominal  ·  6 columns</a:t>
            </a:r>
            <a:endParaRPr lang="en-US" sz="1300" dirty="0"/>
          </a:p>
          <a:p>
            <a:pPr indent="0" marL="0">
              <a:buNone/>
            </a:pPr>
            <a:r>
              <a:rPr lang="en-US" sz="1100" dirty="0">
                <a:solidFill>
                  <a:srgbClr val="16201E"/>
                </a:solidFill>
                <a:latin typeface="Arial" pitchFamily="34" charset="0"/>
                <a:ea typeface="Arial" pitchFamily="34" charset="-122"/>
                <a:cs typeface="Arial" pitchFamily="34" charset="-120"/>
              </a:rPr>
              <a:t>One-hot. Missing becomes Unknown; unseen categories are ignored</a:t>
            </a:r>
            <a:endParaRPr lang="en-US" sz="1300" dirty="0"/>
          </a:p>
          <a:p>
            <a:pPr indent="0" marL="0">
              <a:buNone/>
            </a:pPr>
            <a:r>
              <a:rPr lang="en-US" sz="1000" dirty="0">
                <a:solidFill>
                  <a:srgbClr val="5B6663"/>
                </a:solidFill>
                <a:latin typeface="Arial" pitchFamily="34" charset="0"/>
                <a:ea typeface="Arial" pitchFamily="34" charset="-122"/>
                <a:cs typeface="Arial" pitchFamily="34" charset="-120"/>
              </a:rPr>
              <a:t>city, gender, relevent_experience, enrolled_university, major_discipline, company_type</a:t>
            </a:r>
            <a:endParaRPr lang="en-US" sz="1300" dirty="0"/>
          </a:p>
        </p:txBody>
      </p:sp>
      <p:sp>
        <p:nvSpPr>
          <p:cNvPr id="14" name="Shape 12"/>
          <p:cNvSpPr/>
          <p:nvPr/>
        </p:nvSpPr>
        <p:spPr>
          <a:xfrm>
            <a:off x="5715000" y="2990088"/>
            <a:ext cx="3931920" cy="1024128"/>
          </a:xfrm>
          <a:prstGeom prst="roundRect">
            <a:avLst>
              <a:gd name="adj" fmla="val 7143"/>
            </a:avLst>
          </a:prstGeom>
          <a:solidFill>
            <a:srgbClr val="CFE3DC"/>
          </a:solidFill>
          <a:ln w="12700">
            <a:solidFill>
              <a:srgbClr val="CFE3DC"/>
            </a:solidFill>
            <a:prstDash val="solid"/>
          </a:ln>
        </p:spPr>
      </p:sp>
      <p:sp>
        <p:nvSpPr>
          <p:cNvPr id="15" name="Text 13"/>
          <p:cNvSpPr txBox="1"/>
          <p:nvPr/>
        </p:nvSpPr>
        <p:spPr>
          <a:xfrm>
            <a:off x="5870448" y="3044952"/>
            <a:ext cx="3657600" cy="914400"/>
          </a:xfrm>
          <a:prstGeom prst="rect">
            <a:avLst/>
          </a:prstGeom>
          <a:noFill/>
          <a:ln/>
        </p:spPr>
        <p:txBody>
          <a:bodyPr wrap="square" lIns="0" tIns="0" rIns="0" bIns="0" rtlCol="0" anchor="ctr"/>
          <a:lstStyle/>
          <a:p>
            <a:pPr indent="0" marL="0">
              <a:buNone/>
            </a:pPr>
            <a:r>
              <a:rPr lang="en-US" sz="1300" b="1" dirty="0">
                <a:solidFill>
                  <a:srgbClr val="16201E"/>
                </a:solidFill>
                <a:latin typeface="Arial" pitchFamily="34" charset="0"/>
                <a:ea typeface="Arial" pitchFamily="34" charset="-122"/>
                <a:cs typeface="Arial" pitchFamily="34" charset="-120"/>
              </a:rPr>
              <a:t>Ordinal  ·  2 columns</a:t>
            </a:r>
            <a:endParaRPr lang="en-US" sz="1300" dirty="0"/>
          </a:p>
          <a:p>
            <a:pPr indent="0" marL="0">
              <a:buNone/>
            </a:pPr>
            <a:r>
              <a:rPr lang="en-US" sz="1100" dirty="0">
                <a:solidFill>
                  <a:srgbClr val="16201E"/>
                </a:solidFill>
                <a:latin typeface="Arial" pitchFamily="34" charset="0"/>
                <a:ea typeface="Arial" pitchFamily="34" charset="-122"/>
                <a:cs typeface="Arial" pitchFamily="34" charset="-120"/>
              </a:rPr>
              <a:t>Ordered codes: Primary School up to Phd, &lt;10 up to 10000+</a:t>
            </a:r>
            <a:endParaRPr lang="en-US" sz="1300" dirty="0"/>
          </a:p>
          <a:p>
            <a:pPr indent="0" marL="0">
              <a:buNone/>
            </a:pPr>
            <a:r>
              <a:rPr lang="en-US" sz="1000" dirty="0">
                <a:solidFill>
                  <a:srgbClr val="5B6663"/>
                </a:solidFill>
                <a:latin typeface="Arial" pitchFamily="34" charset="0"/>
                <a:ea typeface="Arial" pitchFamily="34" charset="-122"/>
                <a:cs typeface="Arial" pitchFamily="34" charset="-120"/>
              </a:rPr>
              <a:t>education_level, company_size</a:t>
            </a:r>
            <a:endParaRPr lang="en-US" sz="1300" dirty="0"/>
          </a:p>
        </p:txBody>
      </p:sp>
      <p:sp>
        <p:nvSpPr>
          <p:cNvPr id="16" name="Shape 14"/>
          <p:cNvSpPr/>
          <p:nvPr/>
        </p:nvSpPr>
        <p:spPr>
          <a:xfrm>
            <a:off x="5715000" y="4105656"/>
            <a:ext cx="3931920" cy="1024128"/>
          </a:xfrm>
          <a:prstGeom prst="roundRect">
            <a:avLst>
              <a:gd name="adj" fmla="val 7143"/>
            </a:avLst>
          </a:prstGeom>
          <a:solidFill>
            <a:srgbClr val="CFE3DC"/>
          </a:solidFill>
          <a:ln w="12700">
            <a:solidFill>
              <a:srgbClr val="CFE3DC"/>
            </a:solidFill>
            <a:prstDash val="solid"/>
          </a:ln>
        </p:spPr>
      </p:sp>
      <p:sp>
        <p:nvSpPr>
          <p:cNvPr id="17" name="Text 15"/>
          <p:cNvSpPr txBox="1"/>
          <p:nvPr/>
        </p:nvSpPr>
        <p:spPr>
          <a:xfrm>
            <a:off x="5870448" y="4160520"/>
            <a:ext cx="3657600" cy="914400"/>
          </a:xfrm>
          <a:prstGeom prst="rect">
            <a:avLst/>
          </a:prstGeom>
          <a:noFill/>
          <a:ln/>
        </p:spPr>
        <p:txBody>
          <a:bodyPr wrap="square" lIns="0" tIns="0" rIns="0" bIns="0" rtlCol="0" anchor="ctr"/>
          <a:lstStyle/>
          <a:p>
            <a:pPr indent="0" marL="0">
              <a:buNone/>
            </a:pPr>
            <a:r>
              <a:rPr lang="en-US" sz="1300" b="1" dirty="0">
                <a:solidFill>
                  <a:srgbClr val="16201E"/>
                </a:solidFill>
                <a:latin typeface="Arial" pitchFamily="34" charset="0"/>
                <a:ea typeface="Arial" pitchFamily="34" charset="-122"/>
                <a:cs typeface="Arial" pitchFamily="34" charset="-120"/>
              </a:rPr>
              <a:t>Numeric  ·  4 columns</a:t>
            </a:r>
            <a:endParaRPr lang="en-US" sz="1300" dirty="0"/>
          </a:p>
          <a:p>
            <a:pPr indent="0" marL="0">
              <a:buNone/>
            </a:pPr>
            <a:r>
              <a:rPr lang="en-US" sz="1100" dirty="0">
                <a:solidFill>
                  <a:srgbClr val="16201E"/>
                </a:solidFill>
                <a:latin typeface="Arial" pitchFamily="34" charset="0"/>
                <a:ea typeface="Arial" pitchFamily="34" charset="-122"/>
                <a:cs typeface="Arial" pitchFamily="34" charset="-120"/>
              </a:rPr>
              <a:t>Median fill, then standard scaling</a:t>
            </a:r>
            <a:endParaRPr lang="en-US" sz="1300" dirty="0"/>
          </a:p>
          <a:p>
            <a:pPr indent="0" marL="0">
              <a:buNone/>
            </a:pPr>
            <a:r>
              <a:rPr lang="en-US" sz="1000" dirty="0">
                <a:solidFill>
                  <a:srgbClr val="5B6663"/>
                </a:solidFill>
                <a:latin typeface="Arial" pitchFamily="34" charset="0"/>
                <a:ea typeface="Arial" pitchFamily="34" charset="-122"/>
                <a:cs typeface="Arial" pitchFamily="34" charset="-120"/>
              </a:rPr>
              <a:t>city_development_index, training_hours, experience_num, last_new_job_num</a:t>
            </a:r>
            <a:endParaRPr lang="en-US" sz="1300" dirty="0"/>
          </a:p>
        </p:txBody>
      </p:sp>
      <p:sp>
        <p:nvSpPr>
          <p:cNvPr id="18" name="Shape 16"/>
          <p:cNvSpPr/>
          <p:nvPr/>
        </p:nvSpPr>
        <p:spPr>
          <a:xfrm>
            <a:off x="9692640" y="3520440"/>
            <a:ext cx="320040" cy="0"/>
          </a:xfrm>
          <a:prstGeom prst="line">
            <a:avLst/>
          </a:prstGeom>
          <a:noFill/>
          <a:ln w="22225">
            <a:solidFill>
              <a:srgbClr val="8A9491"/>
            </a:solidFill>
            <a:prstDash val="solid"/>
            <a:tailEnd type="triangle"/>
          </a:ln>
        </p:spPr>
      </p:sp>
      <p:sp>
        <p:nvSpPr>
          <p:cNvPr id="19" name="Shape 17"/>
          <p:cNvSpPr/>
          <p:nvPr/>
        </p:nvSpPr>
        <p:spPr>
          <a:xfrm>
            <a:off x="10058400" y="2788920"/>
            <a:ext cx="1581912" cy="1463040"/>
          </a:xfrm>
          <a:prstGeom prst="roundRect">
            <a:avLst>
              <a:gd name="adj" fmla="val 5000"/>
            </a:avLst>
          </a:prstGeom>
          <a:solidFill>
            <a:srgbClr val="2E6B5E"/>
          </a:solidFill>
          <a:ln w="12700">
            <a:solidFill>
              <a:srgbClr val="2E6B5E"/>
            </a:solidFill>
            <a:prstDash val="solid"/>
          </a:ln>
        </p:spPr>
      </p:sp>
      <p:sp>
        <p:nvSpPr>
          <p:cNvPr id="20" name="Text 18"/>
          <p:cNvSpPr txBox="1"/>
          <p:nvPr/>
        </p:nvSpPr>
        <p:spPr>
          <a:xfrm>
            <a:off x="10058400" y="2788920"/>
            <a:ext cx="1581912" cy="146304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152</a:t>
            </a:r>
            <a:endParaRPr lang="en-US" sz="3600" dirty="0"/>
          </a:p>
          <a:p>
            <a:pPr algn="ctr" indent="0" marL="0">
              <a:buNone/>
            </a:pPr>
            <a:r>
              <a:rPr lang="en-US" sz="1300" dirty="0">
                <a:solidFill>
                  <a:srgbClr val="FFFFFF"/>
                </a:solidFill>
                <a:latin typeface="Arial" pitchFamily="34" charset="0"/>
                <a:ea typeface="Arial" pitchFamily="34" charset="-122"/>
                <a:cs typeface="Arial" pitchFamily="34" charset="-120"/>
              </a:rPr>
              <a:t>model features</a:t>
            </a:r>
            <a:endParaRPr lang="en-US" sz="3600" dirty="0"/>
          </a:p>
        </p:txBody>
      </p:sp>
      <p:sp>
        <p:nvSpPr>
          <p:cNvPr id="21" name="Shape 19"/>
          <p:cNvSpPr/>
          <p:nvPr/>
        </p:nvSpPr>
        <p:spPr>
          <a:xfrm>
            <a:off x="548640" y="5486400"/>
            <a:ext cx="502920" cy="502920"/>
          </a:xfrm>
          <a:prstGeom prst="ellipse">
            <a:avLst/>
          </a:prstGeom>
          <a:solidFill>
            <a:srgbClr val="2E6B5E"/>
          </a:solidFill>
          <a:ln w="12700">
            <a:solidFill>
              <a:srgbClr val="2E6B5E"/>
            </a:solidFill>
            <a:prstDash val="solid"/>
          </a:ln>
        </p:spPr>
      </p:sp>
      <p:pic>
        <p:nvPicPr>
          <p:cNvPr id="22" name="Image 0" descr="preencoded.png">    </p:cNvPr>
          <p:cNvPicPr>
            <a:picLocks noChangeAspect="1"/>
          </p:cNvPicPr>
          <p:nvPr/>
        </p:nvPicPr>
        <p:blipFill>
          <a:blip r:embed="rId1"/>
          <a:stretch>
            <a:fillRect/>
          </a:stretch>
        </p:blipFill>
        <p:spPr>
          <a:xfrm>
            <a:off x="669341" y="5607101"/>
            <a:ext cx="261518" cy="261518"/>
          </a:xfrm>
          <a:prstGeom prst="rect">
            <a:avLst/>
          </a:prstGeom>
        </p:spPr>
      </p:pic>
      <p:sp>
        <p:nvSpPr>
          <p:cNvPr id="23" name="Text 20"/>
          <p:cNvSpPr txBox="1"/>
          <p:nvPr/>
        </p:nvSpPr>
        <p:spPr>
          <a:xfrm>
            <a:off x="1234440" y="5422392"/>
            <a:ext cx="4754880" cy="640080"/>
          </a:xfrm>
          <a:prstGeom prst="rect">
            <a:avLst/>
          </a:prstGeom>
          <a:noFill/>
          <a:ln/>
        </p:spPr>
        <p:txBody>
          <a:bodyPr wrap="square" lIns="0" tIns="0" rIns="0" bIns="0" rtlCol="0" anchor="ctr"/>
          <a:lstStyle/>
          <a:p>
            <a:pPr indent="0" marL="0">
              <a:buNone/>
            </a:pPr>
            <a:r>
              <a:rPr lang="en-US" sz="1400" b="1" dirty="0">
                <a:solidFill>
                  <a:srgbClr val="16201E"/>
                </a:solidFill>
                <a:latin typeface="Arial" pitchFamily="34" charset="0"/>
                <a:ea typeface="Arial" pitchFamily="34" charset="-122"/>
                <a:cs typeface="Arial" pitchFamily="34" charset="-120"/>
              </a:rPr>
              <a:t>80/20 stratified split</a:t>
            </a:r>
            <a:endParaRPr lang="en-US" sz="1400" dirty="0"/>
          </a:p>
          <a:p>
            <a:pPr indent="0" marL="0">
              <a:buNone/>
            </a:pPr>
            <a:r>
              <a:rPr lang="en-US" sz="1200" dirty="0">
                <a:solidFill>
                  <a:srgbClr val="5B6663"/>
                </a:solidFill>
                <a:latin typeface="Arial" pitchFamily="34" charset="0"/>
                <a:ea typeface="Arial" pitchFamily="34" charset="-122"/>
                <a:cs typeface="Arial" pitchFamily="34" charset="-120"/>
              </a:rPr>
              <a:t>15,326 train and 3,832 test rows, 25% job-change rate in both</a:t>
            </a:r>
            <a:endParaRPr lang="en-US" sz="1400" dirty="0"/>
          </a:p>
        </p:txBody>
      </p:sp>
      <p:sp>
        <p:nvSpPr>
          <p:cNvPr id="24" name="Shape 21"/>
          <p:cNvSpPr/>
          <p:nvPr/>
        </p:nvSpPr>
        <p:spPr>
          <a:xfrm>
            <a:off x="6217920" y="5486400"/>
            <a:ext cx="502920" cy="502920"/>
          </a:xfrm>
          <a:prstGeom prst="ellipse">
            <a:avLst/>
          </a:prstGeom>
          <a:solidFill>
            <a:srgbClr val="2E6B5E"/>
          </a:solidFill>
          <a:ln w="12700">
            <a:solidFill>
              <a:srgbClr val="2E6B5E"/>
            </a:solidFill>
            <a:prstDash val="solid"/>
          </a:ln>
        </p:spPr>
      </p:sp>
      <p:pic>
        <p:nvPicPr>
          <p:cNvPr id="25" name="Image 1" descr="preencoded.png">    </p:cNvPr>
          <p:cNvPicPr>
            <a:picLocks noChangeAspect="1"/>
          </p:cNvPicPr>
          <p:nvPr/>
        </p:nvPicPr>
        <p:blipFill>
          <a:blip r:embed="rId2"/>
          <a:stretch>
            <a:fillRect/>
          </a:stretch>
        </p:blipFill>
        <p:spPr>
          <a:xfrm>
            <a:off x="6338621" y="5607101"/>
            <a:ext cx="261518" cy="261518"/>
          </a:xfrm>
          <a:prstGeom prst="rect">
            <a:avLst/>
          </a:prstGeom>
        </p:spPr>
      </p:pic>
      <p:sp>
        <p:nvSpPr>
          <p:cNvPr id="26" name="Text 22"/>
          <p:cNvSpPr txBox="1"/>
          <p:nvPr/>
        </p:nvSpPr>
        <p:spPr>
          <a:xfrm>
            <a:off x="6903720" y="5422392"/>
            <a:ext cx="4754880" cy="640080"/>
          </a:xfrm>
          <a:prstGeom prst="rect">
            <a:avLst/>
          </a:prstGeom>
          <a:noFill/>
          <a:ln/>
        </p:spPr>
        <p:txBody>
          <a:bodyPr wrap="square" lIns="0" tIns="0" rIns="0" bIns="0" rtlCol="0" anchor="ctr"/>
          <a:lstStyle/>
          <a:p>
            <a:pPr indent="0" marL="0">
              <a:buNone/>
            </a:pPr>
            <a:r>
              <a:rPr lang="en-US" sz="1400" b="1" dirty="0">
                <a:solidFill>
                  <a:srgbClr val="16201E"/>
                </a:solidFill>
                <a:latin typeface="Arial" pitchFamily="34" charset="0"/>
                <a:ea typeface="Arial" pitchFamily="34" charset="-122"/>
                <a:cs typeface="Arial" pitchFamily="34" charset="-120"/>
              </a:rPr>
              <a:t>No leakage</a:t>
            </a:r>
            <a:endParaRPr lang="en-US" sz="1400" dirty="0"/>
          </a:p>
          <a:p>
            <a:pPr indent="0" marL="0">
              <a:buNone/>
            </a:pPr>
            <a:r>
              <a:rPr lang="en-US" sz="1200" dirty="0">
                <a:solidFill>
                  <a:srgbClr val="5B6663"/>
                </a:solidFill>
                <a:latin typeface="Arial" pitchFamily="34" charset="0"/>
                <a:ea typeface="Arial" pitchFamily="34" charset="-122"/>
                <a:cs typeface="Arial" pitchFamily="34" charset="-120"/>
              </a:rPr>
              <a:t>Everything is fitted inside each cross-validation fold, on training data only</a:t>
            </a:r>
            <a:endParaRPr lang="en-US" sz="1400" dirty="0"/>
          </a:p>
        </p:txBody>
      </p:sp>
      <p:sp>
        <p:nvSpPr>
          <p:cNvPr id="27" name="Text 23"/>
          <p:cNvSpPr txBox="1"/>
          <p:nvPr/>
        </p:nvSpPr>
        <p:spPr>
          <a:xfrm>
            <a:off x="11094415" y="6446520"/>
            <a:ext cx="548640" cy="256032"/>
          </a:xfrm>
          <a:prstGeom prst="rect">
            <a:avLst/>
          </a:prstGeom>
          <a:noFill/>
          <a:ln/>
        </p:spPr>
        <p:txBody>
          <a:bodyPr wrap="square" lIns="0" tIns="0" rIns="0" bIns="0" rtlCol="0" anchor="ctr"/>
          <a:lstStyle/>
          <a:p>
            <a:pPr algn="r" indent="0" marL="0">
              <a:buNone/>
            </a:pPr>
            <a:r>
              <a:rPr lang="en-US" sz="1000" dirty="0">
                <a:solidFill>
                  <a:srgbClr val="5B6663"/>
                </a:solidFill>
                <a:latin typeface="Arial" pitchFamily="34" charset="0"/>
                <a:ea typeface="Arial" pitchFamily="34" charset="-122"/>
                <a:cs typeface="Arial" pitchFamily="34" charset="-120"/>
              </a:rPr>
              <a:t>5</a:t>
            </a:r>
            <a:endParaRPr lang="en-US" sz="10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982773" cy="310896"/>
          </a:xfrm>
          <a:prstGeom prst="roundRect">
            <a:avLst>
              <a:gd name="adj" fmla="val 50000"/>
            </a:avLst>
          </a:prstGeom>
          <a:solidFill>
            <a:srgbClr val="12211F"/>
          </a:solidFill>
          <a:ln w="12700">
            <a:solidFill>
              <a:srgbClr val="12211F"/>
            </a:solidFill>
            <a:prstDash val="solid"/>
          </a:ln>
        </p:spPr>
      </p:sp>
      <p:sp>
        <p:nvSpPr>
          <p:cNvPr id="3" name="Text 1"/>
          <p:cNvSpPr txBox="1"/>
          <p:nvPr/>
        </p:nvSpPr>
        <p:spPr>
          <a:xfrm>
            <a:off x="548640" y="411480"/>
            <a:ext cx="2982773" cy="310896"/>
          </a:xfrm>
          <a:prstGeom prst="rect">
            <a:avLst/>
          </a:prstGeom>
          <a:noFill/>
          <a:ln/>
        </p:spPr>
        <p:txBody>
          <a:bodyPr wrap="square" lIns="0" tIns="0" rIns="0" bIns="0" rtlCol="0" anchor="ctr"/>
          <a:lstStyle/>
          <a:p>
            <a:pPr algn="ctr" indent="0" marL="0">
              <a:buNone/>
            </a:pPr>
            <a:r>
              <a:rPr lang="en-US" sz="1050" b="1" spc="200" kern="0" dirty="0">
                <a:solidFill>
                  <a:srgbClr val="FFFFFF"/>
                </a:solidFill>
                <a:latin typeface="Arial" pitchFamily="34" charset="0"/>
                <a:ea typeface="Arial" pitchFamily="34" charset="-122"/>
                <a:cs typeface="Arial" pitchFamily="34" charset="-120"/>
              </a:rPr>
              <a:t>PART 3  ·  MODELLING &amp; TUNING</a:t>
            </a:r>
            <a:endParaRPr lang="en-US" sz="1050" dirty="0"/>
          </a:p>
        </p:txBody>
      </p:sp>
      <p:sp>
        <p:nvSpPr>
          <p:cNvPr id="4" name="Text 2"/>
          <p:cNvSpPr txBox="1"/>
          <p:nvPr/>
        </p:nvSpPr>
        <p:spPr>
          <a:xfrm>
            <a:off x="548640" y="841248"/>
            <a:ext cx="11094415" cy="914400"/>
          </a:xfrm>
          <a:prstGeom prst="rect">
            <a:avLst/>
          </a:prstGeom>
          <a:noFill/>
          <a:ln/>
        </p:spPr>
        <p:txBody>
          <a:bodyPr wrap="square" lIns="0" tIns="0" rIns="0" bIns="0" rtlCol="0" anchor="t"/>
          <a:lstStyle/>
          <a:p>
            <a:pPr indent="0" marL="0">
              <a:buNone/>
            </a:pPr>
            <a:r>
              <a:rPr lang="en-US" sz="3200" b="1" dirty="0">
                <a:solidFill>
                  <a:srgbClr val="16201E"/>
                </a:solidFill>
                <a:latin typeface="Georgia" pitchFamily="34" charset="0"/>
                <a:ea typeface="Georgia" pitchFamily="34" charset="-122"/>
                <a:cs typeface="Georgia" pitchFamily="34" charset="-120"/>
              </a:rPr>
              <a:t>Five models walked into a cross-validation</a:t>
            </a:r>
            <a:endParaRPr lang="en-US" sz="3200" dirty="0"/>
          </a:p>
        </p:txBody>
      </p:sp>
      <p:sp>
        <p:nvSpPr>
          <p:cNvPr id="5" name="Shape 3"/>
          <p:cNvSpPr/>
          <p:nvPr/>
        </p:nvSpPr>
        <p:spPr>
          <a:xfrm>
            <a:off x="548640" y="1828800"/>
            <a:ext cx="1728216" cy="310896"/>
          </a:xfrm>
          <a:prstGeom prst="roundRect">
            <a:avLst>
              <a:gd name="adj" fmla="val 50000"/>
            </a:avLst>
          </a:prstGeom>
          <a:solidFill>
            <a:srgbClr val="FFD23F"/>
          </a:solidFill>
          <a:ln w="12700">
            <a:solidFill>
              <a:srgbClr val="FFD23F"/>
            </a:solidFill>
            <a:prstDash val="solid"/>
          </a:ln>
        </p:spPr>
      </p:sp>
      <p:sp>
        <p:nvSpPr>
          <p:cNvPr id="6" name="Text 4"/>
          <p:cNvSpPr txBox="1"/>
          <p:nvPr/>
        </p:nvSpPr>
        <p:spPr>
          <a:xfrm>
            <a:off x="548640" y="1828800"/>
            <a:ext cx="1728216" cy="310896"/>
          </a:xfrm>
          <a:prstGeom prst="rect">
            <a:avLst/>
          </a:prstGeom>
          <a:noFill/>
          <a:ln/>
        </p:spPr>
        <p:txBody>
          <a:bodyPr wrap="square" lIns="0" tIns="0" rIns="0" bIns="0" rtlCol="0" anchor="ctr"/>
          <a:lstStyle/>
          <a:p>
            <a:pPr algn="ctr" indent="0" marL="0">
              <a:buNone/>
            </a:pPr>
            <a:r>
              <a:rPr lang="en-US" sz="1050" b="1" spc="200" kern="0" dirty="0">
                <a:solidFill>
                  <a:srgbClr val="12211F"/>
                </a:solidFill>
                <a:latin typeface="Arial" pitchFamily="34" charset="0"/>
                <a:ea typeface="Arial" pitchFamily="34" charset="-122"/>
                <a:cs typeface="Arial" pitchFamily="34" charset="-120"/>
              </a:rPr>
              <a:t>PLACE YOUR BETS</a:t>
            </a:r>
            <a:endParaRPr lang="en-US" sz="1050" dirty="0"/>
          </a:p>
        </p:txBody>
      </p:sp>
      <p:sp>
        <p:nvSpPr>
          <p:cNvPr id="7" name="Text 5"/>
          <p:cNvSpPr txBox="1"/>
          <p:nvPr/>
        </p:nvSpPr>
        <p:spPr>
          <a:xfrm>
            <a:off x="2377440" y="1783080"/>
            <a:ext cx="5120640" cy="411480"/>
          </a:xfrm>
          <a:prstGeom prst="rect">
            <a:avLst/>
          </a:prstGeom>
          <a:noFill/>
          <a:ln/>
        </p:spPr>
        <p:txBody>
          <a:bodyPr wrap="square" lIns="0" tIns="0" rIns="0" bIns="0" rtlCol="0" anchor="ctr"/>
          <a:lstStyle/>
          <a:p>
            <a:pPr indent="0" marL="0">
              <a:buNone/>
            </a:pPr>
            <a:r>
              <a:rPr lang="en-US" sz="1250" dirty="0">
                <a:solidFill>
                  <a:srgbClr val="16201E"/>
                </a:solidFill>
                <a:latin typeface="Arial" pitchFamily="34" charset="0"/>
                <a:ea typeface="Arial" pitchFamily="34" charset="-122"/>
                <a:cs typeface="Arial" pitchFamily="34" charset="-120"/>
              </a:rPr>
              <a:t>Which one wins: Logistic Regression, KNN, Random Forest, Decision Tree or the Dummy?</a:t>
            </a:r>
            <a:endParaRPr lang="en-US" sz="1250" dirty="0"/>
          </a:p>
        </p:txBody>
      </p:sp>
      <p:graphicFrame>
        <p:nvGraphicFramePr>
          <p:cNvPr id="8" name="r1_chart" descr=""/>
          <p:cNvGraphicFramePr/>
          <p:nvPr/>
        </p:nvGraphicFramePr>
        <p:xfrm>
          <a:off x="502920" y="2286000"/>
          <a:ext cx="6675120" cy="3429000"/>
        </p:xfrm>
        <a:graphic xmlns:a="http://schemas.openxmlformats.org/drawingml/2006/main">
          <a:graphicData uri="http://schemas.openxmlformats.org/drawingml/2006/chart">
            <c:chart xmlns:c="http://schemas.openxmlformats.org/drawingml/2006/chart" r:id="rId1"/>
          </a:graphicData>
        </a:graphic>
      </p:graphicFrame>
      <p:sp>
        <p:nvSpPr>
          <p:cNvPr id="9" name="r1_tuning"/>
          <p:cNvSpPr txBox="1"/>
          <p:nvPr/>
        </p:nvSpPr>
        <p:spPr>
          <a:xfrm>
            <a:off x="548640" y="5788152"/>
            <a:ext cx="6583680" cy="594360"/>
          </a:xfrm>
          <a:prstGeom prst="rect">
            <a:avLst/>
          </a:prstGeom>
          <a:noFill/>
          <a:ln/>
        </p:spPr>
        <p:txBody>
          <a:bodyPr wrap="square" lIns="0" tIns="0" rIns="0" bIns="0" rtlCol="0" anchor="t"/>
          <a:lstStyle/>
          <a:p>
            <a:pPr indent="0" marL="0">
              <a:buNone/>
            </a:pPr>
            <a:r>
              <a:rPr lang="en-US" sz="1200" b="1" dirty="0">
                <a:solidFill>
                  <a:srgbClr val="16201E"/>
                </a:solidFill>
                <a:latin typeface="Arial" pitchFamily="34" charset="0"/>
                <a:ea typeface="Arial" pitchFamily="34" charset="-122"/>
                <a:cs typeface="Arial" pitchFamily="34" charset="-120"/>
              </a:rPr>
              <a:t>Tuned with GridSearchCV: </a:t>
            </a:r>
            <a:pPr indent="0" marL="0">
              <a:buNone/>
            </a:pPr>
            <a:r>
              <a:rPr lang="en-US" sz="1200" dirty="0">
                <a:solidFill>
                  <a:srgbClr val="5B6663"/>
                </a:solidFill>
                <a:latin typeface="Arial" pitchFamily="34" charset="0"/>
                <a:ea typeface="Arial" pitchFamily="34" charset="-122"/>
                <a:cs typeface="Arial" pitchFamily="34" charset="-120"/>
              </a:rPr>
              <a:t>C = 0.1, L2 penalty, ROC-AUC 0.789 to 0.791. The unpruned decision tree memorised its homework (0.62).</a:t>
            </a:r>
            <a:endParaRPr lang="en-US" sz="1200" dirty="0"/>
          </a:p>
        </p:txBody>
      </p:sp>
      <p:pic>
        <p:nvPicPr>
          <p:cNvPr id="10" name="r2_meme" descr="/private/tmp/claude-501/-Users-shreshthbehal-Downloads-IDS-MODEL/94d7d9e0-839f-4ae9-a7c4-b56936e55bac/scratchpad/memes/captioned/samepicture.jpg">    </p:cNvPr>
          <p:cNvPicPr>
            <a:picLocks noChangeAspect="1"/>
          </p:cNvPicPr>
          <p:nvPr/>
        </p:nvPicPr>
        <p:blipFill>
          <a:blip r:embed="rId2"/>
          <a:stretch>
            <a:fillRect/>
          </a:stretch>
        </p:blipFill>
        <p:spPr>
          <a:xfrm>
            <a:off x="7589520" y="1783080"/>
            <a:ext cx="4050792" cy="4526280"/>
          </a:xfrm>
          <a:prstGeom prst="rect">
            <a:avLst/>
          </a:prstGeom>
        </p:spPr>
      </p:pic>
      <p:sp>
        <p:nvSpPr>
          <p:cNvPr id="11" name="Text 7"/>
          <p:cNvSpPr txBox="1"/>
          <p:nvPr/>
        </p:nvSpPr>
        <p:spPr>
          <a:xfrm>
            <a:off x="11094415" y="6446520"/>
            <a:ext cx="548640" cy="256032"/>
          </a:xfrm>
          <a:prstGeom prst="rect">
            <a:avLst/>
          </a:prstGeom>
          <a:noFill/>
          <a:ln/>
        </p:spPr>
        <p:txBody>
          <a:bodyPr wrap="square" lIns="0" tIns="0" rIns="0" bIns="0" rtlCol="0" anchor="ctr"/>
          <a:lstStyle/>
          <a:p>
            <a:pPr algn="r" indent="0" marL="0">
              <a:buNone/>
            </a:pPr>
            <a:r>
              <a:rPr lang="en-US" sz="1000" dirty="0">
                <a:solidFill>
                  <a:srgbClr val="5B6663"/>
                </a:solidFill>
                <a:latin typeface="Arial" pitchFamily="34" charset="0"/>
                <a:ea typeface="Arial" pitchFamily="34" charset="-122"/>
                <a:cs typeface="Arial" pitchFamily="34" charset="-120"/>
              </a:rPr>
              <a:t>6</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997050" cy="310896"/>
          </a:xfrm>
          <a:prstGeom prst="roundRect">
            <a:avLst>
              <a:gd name="adj" fmla="val 50000"/>
            </a:avLst>
          </a:prstGeom>
          <a:solidFill>
            <a:srgbClr val="12211F"/>
          </a:solidFill>
          <a:ln w="12700">
            <a:solidFill>
              <a:srgbClr val="12211F"/>
            </a:solidFill>
            <a:prstDash val="solid"/>
          </a:ln>
        </p:spPr>
      </p:sp>
      <p:sp>
        <p:nvSpPr>
          <p:cNvPr id="3" name="Text 1"/>
          <p:cNvSpPr txBox="1"/>
          <p:nvPr/>
        </p:nvSpPr>
        <p:spPr>
          <a:xfrm>
            <a:off x="548640" y="411480"/>
            <a:ext cx="1997050" cy="310896"/>
          </a:xfrm>
          <a:prstGeom prst="rect">
            <a:avLst/>
          </a:prstGeom>
          <a:noFill/>
          <a:ln/>
        </p:spPr>
        <p:txBody>
          <a:bodyPr wrap="square" lIns="0" tIns="0" rIns="0" bIns="0" rtlCol="0" anchor="ctr"/>
          <a:lstStyle/>
          <a:p>
            <a:pPr algn="ctr" indent="0" marL="0">
              <a:buNone/>
            </a:pPr>
            <a:r>
              <a:rPr lang="en-US" sz="1050" b="1" spc="200" kern="0" dirty="0">
                <a:solidFill>
                  <a:srgbClr val="FFFFFF"/>
                </a:solidFill>
                <a:latin typeface="Arial" pitchFamily="34" charset="0"/>
                <a:ea typeface="Arial" pitchFamily="34" charset="-122"/>
                <a:cs typeface="Arial" pitchFamily="34" charset="-120"/>
              </a:rPr>
              <a:t>PART 3  ·  RESULTS</a:t>
            </a:r>
            <a:endParaRPr lang="en-US" sz="1050" dirty="0"/>
          </a:p>
        </p:txBody>
      </p:sp>
      <p:sp>
        <p:nvSpPr>
          <p:cNvPr id="4" name="Text 2"/>
          <p:cNvSpPr txBox="1"/>
          <p:nvPr/>
        </p:nvSpPr>
        <p:spPr>
          <a:xfrm>
            <a:off x="548640" y="841248"/>
            <a:ext cx="11094415" cy="914400"/>
          </a:xfrm>
          <a:prstGeom prst="rect">
            <a:avLst/>
          </a:prstGeom>
          <a:noFill/>
          <a:ln/>
        </p:spPr>
        <p:txBody>
          <a:bodyPr wrap="square" lIns="0" tIns="0" rIns="0" bIns="0" rtlCol="0" anchor="t"/>
          <a:lstStyle/>
          <a:p>
            <a:pPr indent="0" marL="0">
              <a:buNone/>
            </a:pPr>
            <a:r>
              <a:rPr lang="en-US" sz="3200" b="1" dirty="0">
                <a:solidFill>
                  <a:srgbClr val="16201E"/>
                </a:solidFill>
                <a:latin typeface="Georgia" pitchFamily="34" charset="0"/>
                <a:ea typeface="Georgia" pitchFamily="34" charset="-122"/>
                <a:cs typeface="Georgia" pitchFamily="34" charset="-120"/>
              </a:rPr>
              <a:t>Report card: 78% of the job hunters caught</a:t>
            </a:r>
            <a:endParaRPr lang="en-US" sz="3200" dirty="0"/>
          </a:p>
        </p:txBody>
      </p:sp>
      <p:sp>
        <p:nvSpPr>
          <p:cNvPr id="5" name="Text 3"/>
          <p:cNvSpPr txBox="1"/>
          <p:nvPr/>
        </p:nvSpPr>
        <p:spPr>
          <a:xfrm>
            <a:off x="548640" y="1783080"/>
            <a:ext cx="2651760" cy="731520"/>
          </a:xfrm>
          <a:prstGeom prst="rect">
            <a:avLst/>
          </a:prstGeom>
          <a:noFill/>
          <a:ln/>
        </p:spPr>
        <p:txBody>
          <a:bodyPr wrap="square" lIns="0" tIns="0" rIns="0" bIns="0" rtlCol="0" anchor="t"/>
          <a:lstStyle/>
          <a:p>
            <a:pPr indent="0" marL="0">
              <a:buNone/>
            </a:pPr>
            <a:r>
              <a:rPr lang="en-US" sz="4400" b="1" dirty="0">
                <a:solidFill>
                  <a:srgbClr val="16201E"/>
                </a:solidFill>
                <a:latin typeface="Georgia" pitchFamily="34" charset="0"/>
                <a:ea typeface="Georgia" pitchFamily="34" charset="-122"/>
                <a:cs typeface="Georgia" pitchFamily="34" charset="-120"/>
              </a:rPr>
              <a:t>0.81</a:t>
            </a:r>
            <a:endParaRPr lang="en-US" sz="4400" dirty="0"/>
          </a:p>
        </p:txBody>
      </p:sp>
      <p:sp>
        <p:nvSpPr>
          <p:cNvPr id="6" name="Text 4"/>
          <p:cNvSpPr txBox="1"/>
          <p:nvPr/>
        </p:nvSpPr>
        <p:spPr>
          <a:xfrm>
            <a:off x="548640" y="2514600"/>
            <a:ext cx="2606040" cy="731520"/>
          </a:xfrm>
          <a:prstGeom prst="rect">
            <a:avLst/>
          </a:prstGeom>
          <a:noFill/>
          <a:ln/>
        </p:spPr>
        <p:txBody>
          <a:bodyPr wrap="square" lIns="0" tIns="0" rIns="0" bIns="0" rtlCol="0" anchor="t"/>
          <a:lstStyle/>
          <a:p>
            <a:pPr indent="0" marL="0">
              <a:buNone/>
            </a:pPr>
            <a:r>
              <a:rPr lang="en-US" sz="1300" b="1" dirty="0">
                <a:solidFill>
                  <a:srgbClr val="16201E"/>
                </a:solidFill>
                <a:latin typeface="Arial" pitchFamily="34" charset="0"/>
                <a:ea typeface="Arial" pitchFamily="34" charset="-122"/>
                <a:cs typeface="Arial" pitchFamily="34" charset="-120"/>
              </a:rPr>
              <a:t>ROC-AUC</a:t>
            </a:r>
            <a:endParaRPr lang="en-US" sz="1300" dirty="0"/>
          </a:p>
          <a:p>
            <a:pPr indent="0" marL="0">
              <a:buNone/>
            </a:pPr>
            <a:r>
              <a:rPr lang="en-US" sz="1150" dirty="0">
                <a:solidFill>
                  <a:srgbClr val="5B6663"/>
                </a:solidFill>
                <a:latin typeface="Arial" pitchFamily="34" charset="0"/>
                <a:ea typeface="Arial" pitchFamily="34" charset="-122"/>
                <a:cs typeface="Arial" pitchFamily="34" charset="-120"/>
              </a:rPr>
              <a:t>picks the job hunter over a non-hunter 81% of the time</a:t>
            </a:r>
            <a:endParaRPr lang="en-US" sz="1300" dirty="0"/>
          </a:p>
        </p:txBody>
      </p:sp>
      <p:sp>
        <p:nvSpPr>
          <p:cNvPr id="7" name="Text 5"/>
          <p:cNvSpPr txBox="1"/>
          <p:nvPr/>
        </p:nvSpPr>
        <p:spPr>
          <a:xfrm>
            <a:off x="3355848" y="1783080"/>
            <a:ext cx="2651760" cy="731520"/>
          </a:xfrm>
          <a:prstGeom prst="rect">
            <a:avLst/>
          </a:prstGeom>
          <a:noFill/>
          <a:ln/>
        </p:spPr>
        <p:txBody>
          <a:bodyPr wrap="square" lIns="0" tIns="0" rIns="0" bIns="0" rtlCol="0" anchor="t"/>
          <a:lstStyle/>
          <a:p>
            <a:pPr indent="0" marL="0">
              <a:buNone/>
            </a:pPr>
            <a:r>
              <a:rPr lang="en-US" sz="4400" b="1" dirty="0">
                <a:solidFill>
                  <a:srgbClr val="E4572E"/>
                </a:solidFill>
                <a:latin typeface="Georgia" pitchFamily="34" charset="0"/>
                <a:ea typeface="Georgia" pitchFamily="34" charset="-122"/>
                <a:cs typeface="Georgia" pitchFamily="34" charset="-120"/>
              </a:rPr>
              <a:t>78%</a:t>
            </a:r>
            <a:endParaRPr lang="en-US" sz="4400" dirty="0"/>
          </a:p>
        </p:txBody>
      </p:sp>
      <p:sp>
        <p:nvSpPr>
          <p:cNvPr id="8" name="Text 6"/>
          <p:cNvSpPr txBox="1"/>
          <p:nvPr/>
        </p:nvSpPr>
        <p:spPr>
          <a:xfrm>
            <a:off x="3355848" y="2514600"/>
            <a:ext cx="2606040" cy="731520"/>
          </a:xfrm>
          <a:prstGeom prst="rect">
            <a:avLst/>
          </a:prstGeom>
          <a:noFill/>
          <a:ln/>
        </p:spPr>
        <p:txBody>
          <a:bodyPr wrap="square" lIns="0" tIns="0" rIns="0" bIns="0" rtlCol="0" anchor="t"/>
          <a:lstStyle/>
          <a:p>
            <a:pPr indent="0" marL="0">
              <a:buNone/>
            </a:pPr>
            <a:r>
              <a:rPr lang="en-US" sz="1300" b="1" dirty="0">
                <a:solidFill>
                  <a:srgbClr val="16201E"/>
                </a:solidFill>
                <a:latin typeface="Arial" pitchFamily="34" charset="0"/>
                <a:ea typeface="Arial" pitchFamily="34" charset="-122"/>
                <a:cs typeface="Arial" pitchFamily="34" charset="-120"/>
              </a:rPr>
              <a:t>Recall</a:t>
            </a:r>
            <a:endParaRPr lang="en-US" sz="1300" dirty="0"/>
          </a:p>
          <a:p>
            <a:pPr indent="0" marL="0">
              <a:buNone/>
            </a:pPr>
            <a:r>
              <a:rPr lang="en-US" sz="1150" dirty="0">
                <a:solidFill>
                  <a:srgbClr val="5B6663"/>
                </a:solidFill>
                <a:latin typeface="Arial" pitchFamily="34" charset="0"/>
                <a:ea typeface="Arial" pitchFamily="34" charset="-122"/>
                <a:cs typeface="Arial" pitchFamily="34" charset="-120"/>
              </a:rPr>
              <a:t>of real job hunters are found</a:t>
            </a:r>
            <a:endParaRPr lang="en-US" sz="1300" dirty="0"/>
          </a:p>
        </p:txBody>
      </p:sp>
      <p:sp>
        <p:nvSpPr>
          <p:cNvPr id="9" name="Text 7"/>
          <p:cNvSpPr txBox="1"/>
          <p:nvPr/>
        </p:nvSpPr>
        <p:spPr>
          <a:xfrm>
            <a:off x="6163056" y="1783080"/>
            <a:ext cx="2651760" cy="731520"/>
          </a:xfrm>
          <a:prstGeom prst="rect">
            <a:avLst/>
          </a:prstGeom>
          <a:noFill/>
          <a:ln/>
        </p:spPr>
        <p:txBody>
          <a:bodyPr wrap="square" lIns="0" tIns="0" rIns="0" bIns="0" rtlCol="0" anchor="t"/>
          <a:lstStyle/>
          <a:p>
            <a:pPr indent="0" marL="0">
              <a:buNone/>
            </a:pPr>
            <a:r>
              <a:rPr lang="en-US" sz="4400" b="1" dirty="0">
                <a:solidFill>
                  <a:srgbClr val="16201E"/>
                </a:solidFill>
                <a:latin typeface="Georgia" pitchFamily="34" charset="0"/>
                <a:ea typeface="Georgia" pitchFamily="34" charset="-122"/>
                <a:cs typeface="Georgia" pitchFamily="34" charset="-120"/>
              </a:rPr>
              <a:t>52%</a:t>
            </a:r>
            <a:endParaRPr lang="en-US" sz="4400" dirty="0"/>
          </a:p>
        </p:txBody>
      </p:sp>
      <p:sp>
        <p:nvSpPr>
          <p:cNvPr id="10" name="Text 8"/>
          <p:cNvSpPr txBox="1"/>
          <p:nvPr/>
        </p:nvSpPr>
        <p:spPr>
          <a:xfrm>
            <a:off x="6163056" y="2514600"/>
            <a:ext cx="2606040" cy="731520"/>
          </a:xfrm>
          <a:prstGeom prst="rect">
            <a:avLst/>
          </a:prstGeom>
          <a:noFill/>
          <a:ln/>
        </p:spPr>
        <p:txBody>
          <a:bodyPr wrap="square" lIns="0" tIns="0" rIns="0" bIns="0" rtlCol="0" anchor="t"/>
          <a:lstStyle/>
          <a:p>
            <a:pPr indent="0" marL="0">
              <a:buNone/>
            </a:pPr>
            <a:r>
              <a:rPr lang="en-US" sz="1300" b="1" dirty="0">
                <a:solidFill>
                  <a:srgbClr val="16201E"/>
                </a:solidFill>
                <a:latin typeface="Arial" pitchFamily="34" charset="0"/>
                <a:ea typeface="Arial" pitchFamily="34" charset="-122"/>
                <a:cs typeface="Arial" pitchFamily="34" charset="-120"/>
              </a:rPr>
              <a:t>Precision</a:t>
            </a:r>
            <a:endParaRPr lang="en-US" sz="1300" dirty="0"/>
          </a:p>
          <a:p>
            <a:pPr indent="0" marL="0">
              <a:buNone/>
            </a:pPr>
            <a:r>
              <a:rPr lang="en-US" sz="1150" dirty="0">
                <a:solidFill>
                  <a:srgbClr val="5B6663"/>
                </a:solidFill>
                <a:latin typeface="Arial" pitchFamily="34" charset="0"/>
                <a:ea typeface="Arial" pitchFamily="34" charset="-122"/>
                <a:cs typeface="Arial" pitchFamily="34" charset="-120"/>
              </a:rPr>
              <a:t>of flagged trainees really are looking: 2.1x random calling</a:t>
            </a:r>
            <a:endParaRPr lang="en-US" sz="1300" dirty="0"/>
          </a:p>
        </p:txBody>
      </p:sp>
      <p:sp>
        <p:nvSpPr>
          <p:cNvPr id="11" name="Text 9"/>
          <p:cNvSpPr txBox="1"/>
          <p:nvPr/>
        </p:nvSpPr>
        <p:spPr>
          <a:xfrm>
            <a:off x="8970264" y="1783080"/>
            <a:ext cx="2651760" cy="731520"/>
          </a:xfrm>
          <a:prstGeom prst="rect">
            <a:avLst/>
          </a:prstGeom>
          <a:noFill/>
          <a:ln/>
        </p:spPr>
        <p:txBody>
          <a:bodyPr wrap="square" lIns="0" tIns="0" rIns="0" bIns="0" rtlCol="0" anchor="t"/>
          <a:lstStyle/>
          <a:p>
            <a:pPr indent="0" marL="0">
              <a:buNone/>
            </a:pPr>
            <a:r>
              <a:rPr lang="en-US" sz="4400" b="1" dirty="0">
                <a:solidFill>
                  <a:srgbClr val="16201E"/>
                </a:solidFill>
                <a:latin typeface="Georgia" pitchFamily="34" charset="0"/>
                <a:ea typeface="Georgia" pitchFamily="34" charset="-122"/>
                <a:cs typeface="Georgia" pitchFamily="34" charset="-120"/>
              </a:rPr>
              <a:t>0.63</a:t>
            </a:r>
            <a:endParaRPr lang="en-US" sz="4400" dirty="0"/>
          </a:p>
        </p:txBody>
      </p:sp>
      <p:sp>
        <p:nvSpPr>
          <p:cNvPr id="12" name="Text 10"/>
          <p:cNvSpPr txBox="1"/>
          <p:nvPr/>
        </p:nvSpPr>
        <p:spPr>
          <a:xfrm>
            <a:off x="8970264" y="2514600"/>
            <a:ext cx="2606040" cy="731520"/>
          </a:xfrm>
          <a:prstGeom prst="rect">
            <a:avLst/>
          </a:prstGeom>
          <a:noFill/>
          <a:ln/>
        </p:spPr>
        <p:txBody>
          <a:bodyPr wrap="square" lIns="0" tIns="0" rIns="0" bIns="0" rtlCol="0" anchor="t"/>
          <a:lstStyle/>
          <a:p>
            <a:pPr indent="0" marL="0">
              <a:buNone/>
            </a:pPr>
            <a:r>
              <a:rPr lang="en-US" sz="1300" b="1" dirty="0">
                <a:solidFill>
                  <a:srgbClr val="16201E"/>
                </a:solidFill>
                <a:latin typeface="Arial" pitchFamily="34" charset="0"/>
                <a:ea typeface="Arial" pitchFamily="34" charset="-122"/>
                <a:cs typeface="Arial" pitchFamily="34" charset="-120"/>
              </a:rPr>
              <a:t>F1</a:t>
            </a:r>
            <a:endParaRPr lang="en-US" sz="1300" dirty="0"/>
          </a:p>
          <a:p>
            <a:pPr indent="0" marL="0">
              <a:buNone/>
            </a:pPr>
            <a:r>
              <a:rPr lang="en-US" sz="1150" dirty="0">
                <a:solidFill>
                  <a:srgbClr val="5B6663"/>
                </a:solidFill>
                <a:latin typeface="Arial" pitchFamily="34" charset="0"/>
                <a:ea typeface="Arial" pitchFamily="34" charset="-122"/>
                <a:cs typeface="Arial" pitchFamily="34" charset="-120"/>
              </a:rPr>
              <a:t>balance of precision and recall</a:t>
            </a:r>
            <a:endParaRPr lang="en-US" sz="1300" dirty="0"/>
          </a:p>
        </p:txBody>
      </p:sp>
      <p:sp>
        <p:nvSpPr>
          <p:cNvPr id="13" name="Text 11"/>
          <p:cNvSpPr txBox="1"/>
          <p:nvPr/>
        </p:nvSpPr>
        <p:spPr>
          <a:xfrm>
            <a:off x="2148840" y="3566160"/>
            <a:ext cx="1783080" cy="320040"/>
          </a:xfrm>
          <a:prstGeom prst="rect">
            <a:avLst/>
          </a:prstGeom>
          <a:noFill/>
          <a:ln/>
        </p:spPr>
        <p:txBody>
          <a:bodyPr wrap="square" lIns="0" tIns="0" rIns="0" bIns="0" rtlCol="0" anchor="b"/>
          <a:lstStyle/>
          <a:p>
            <a:pPr algn="ctr" indent="0" marL="0">
              <a:buNone/>
            </a:pPr>
            <a:r>
              <a:rPr lang="en-US" sz="1100" b="1" dirty="0">
                <a:solidFill>
                  <a:srgbClr val="5B6663"/>
                </a:solidFill>
                <a:latin typeface="Arial" pitchFamily="34" charset="0"/>
                <a:ea typeface="Arial" pitchFamily="34" charset="-122"/>
                <a:cs typeface="Arial" pitchFamily="34" charset="-120"/>
              </a:rPr>
              <a:t>Predicted: not looking</a:t>
            </a:r>
            <a:endParaRPr lang="en-US" sz="1100" dirty="0"/>
          </a:p>
        </p:txBody>
      </p:sp>
      <p:sp>
        <p:nvSpPr>
          <p:cNvPr id="14" name="Text 12"/>
          <p:cNvSpPr txBox="1"/>
          <p:nvPr/>
        </p:nvSpPr>
        <p:spPr>
          <a:xfrm>
            <a:off x="4023360" y="3566160"/>
            <a:ext cx="1783080" cy="320040"/>
          </a:xfrm>
          <a:prstGeom prst="rect">
            <a:avLst/>
          </a:prstGeom>
          <a:noFill/>
          <a:ln/>
        </p:spPr>
        <p:txBody>
          <a:bodyPr wrap="square" lIns="0" tIns="0" rIns="0" bIns="0" rtlCol="0" anchor="b"/>
          <a:lstStyle/>
          <a:p>
            <a:pPr algn="ctr" indent="0" marL="0">
              <a:buNone/>
            </a:pPr>
            <a:r>
              <a:rPr lang="en-US" sz="1100" b="1" dirty="0">
                <a:solidFill>
                  <a:srgbClr val="5B6663"/>
                </a:solidFill>
                <a:latin typeface="Arial" pitchFamily="34" charset="0"/>
                <a:ea typeface="Arial" pitchFamily="34" charset="-122"/>
                <a:cs typeface="Arial" pitchFamily="34" charset="-120"/>
              </a:rPr>
              <a:t>Predicted: looking</a:t>
            </a:r>
            <a:endParaRPr lang="en-US" sz="1100" dirty="0"/>
          </a:p>
        </p:txBody>
      </p:sp>
      <p:sp>
        <p:nvSpPr>
          <p:cNvPr id="15" name="Text 13"/>
          <p:cNvSpPr txBox="1"/>
          <p:nvPr/>
        </p:nvSpPr>
        <p:spPr>
          <a:xfrm>
            <a:off x="548640" y="3931920"/>
            <a:ext cx="1463040" cy="1097280"/>
          </a:xfrm>
          <a:prstGeom prst="rect">
            <a:avLst/>
          </a:prstGeom>
          <a:noFill/>
          <a:ln/>
        </p:spPr>
        <p:txBody>
          <a:bodyPr wrap="square" lIns="0" tIns="0" rIns="0" bIns="0" rtlCol="0" anchor="ctr"/>
          <a:lstStyle/>
          <a:p>
            <a:pPr algn="r" indent="0" marL="0">
              <a:buNone/>
            </a:pPr>
            <a:r>
              <a:rPr lang="en-US" sz="1100" b="1" dirty="0">
                <a:solidFill>
                  <a:srgbClr val="5B6663"/>
                </a:solidFill>
                <a:latin typeface="Arial" pitchFamily="34" charset="0"/>
                <a:ea typeface="Arial" pitchFamily="34" charset="-122"/>
                <a:cs typeface="Arial" pitchFamily="34" charset="-120"/>
              </a:rPr>
              <a:t>Actually not looking</a:t>
            </a:r>
            <a:endParaRPr lang="en-US" sz="1100" dirty="0"/>
          </a:p>
        </p:txBody>
      </p:sp>
      <p:sp>
        <p:nvSpPr>
          <p:cNvPr id="16" name="Text 14"/>
          <p:cNvSpPr txBox="1"/>
          <p:nvPr/>
        </p:nvSpPr>
        <p:spPr>
          <a:xfrm>
            <a:off x="548640" y="5120640"/>
            <a:ext cx="1463040" cy="1097280"/>
          </a:xfrm>
          <a:prstGeom prst="rect">
            <a:avLst/>
          </a:prstGeom>
          <a:noFill/>
          <a:ln/>
        </p:spPr>
        <p:txBody>
          <a:bodyPr wrap="square" lIns="0" tIns="0" rIns="0" bIns="0" rtlCol="0" anchor="ctr"/>
          <a:lstStyle/>
          <a:p>
            <a:pPr algn="r" indent="0" marL="0">
              <a:buNone/>
            </a:pPr>
            <a:r>
              <a:rPr lang="en-US" sz="1100" b="1" dirty="0">
                <a:solidFill>
                  <a:srgbClr val="5B6663"/>
                </a:solidFill>
                <a:latin typeface="Arial" pitchFamily="34" charset="0"/>
                <a:ea typeface="Arial" pitchFamily="34" charset="-122"/>
                <a:cs typeface="Arial" pitchFamily="34" charset="-120"/>
              </a:rPr>
              <a:t>Actually looking</a:t>
            </a:r>
            <a:endParaRPr lang="en-US" sz="1100" dirty="0"/>
          </a:p>
        </p:txBody>
      </p:sp>
      <p:sp>
        <p:nvSpPr>
          <p:cNvPr id="17" name="Shape 15"/>
          <p:cNvSpPr/>
          <p:nvPr/>
        </p:nvSpPr>
        <p:spPr>
          <a:xfrm>
            <a:off x="2148840" y="3931920"/>
            <a:ext cx="1783080" cy="1097280"/>
          </a:xfrm>
          <a:prstGeom prst="roundRect">
            <a:avLst>
              <a:gd name="adj" fmla="val 6667"/>
            </a:avLst>
          </a:prstGeom>
          <a:solidFill>
            <a:srgbClr val="CFE3DC"/>
          </a:solidFill>
          <a:ln w="12700">
            <a:solidFill>
              <a:srgbClr val="CFE3DC"/>
            </a:solidFill>
            <a:prstDash val="solid"/>
          </a:ln>
        </p:spPr>
      </p:sp>
      <p:sp>
        <p:nvSpPr>
          <p:cNvPr id="18" name="Text 16"/>
          <p:cNvSpPr txBox="1"/>
          <p:nvPr/>
        </p:nvSpPr>
        <p:spPr>
          <a:xfrm>
            <a:off x="2148840" y="3931920"/>
            <a:ext cx="1783080" cy="1097280"/>
          </a:xfrm>
          <a:prstGeom prst="rect">
            <a:avLst/>
          </a:prstGeom>
          <a:noFill/>
          <a:ln/>
        </p:spPr>
        <p:txBody>
          <a:bodyPr wrap="square" lIns="0" tIns="0" rIns="0" bIns="0" rtlCol="0" anchor="ctr"/>
          <a:lstStyle/>
          <a:p>
            <a:pPr algn="ctr" indent="0" marL="0">
              <a:buNone/>
            </a:pPr>
            <a:r>
              <a:rPr lang="en-US" sz="2400" b="1" dirty="0">
                <a:solidFill>
                  <a:srgbClr val="16201E"/>
                </a:solidFill>
                <a:latin typeface="Georgia" pitchFamily="34" charset="0"/>
                <a:ea typeface="Georgia" pitchFamily="34" charset="-122"/>
                <a:cs typeface="Georgia" pitchFamily="34" charset="-120"/>
              </a:rPr>
              <a:t>2,197</a:t>
            </a:r>
            <a:endParaRPr lang="en-US" sz="2400" dirty="0"/>
          </a:p>
          <a:p>
            <a:pPr algn="ctr" indent="0" marL="0">
              <a:buNone/>
            </a:pPr>
            <a:r>
              <a:rPr lang="en-US" sz="1100" dirty="0">
                <a:solidFill>
                  <a:srgbClr val="16201E"/>
                </a:solidFill>
                <a:latin typeface="Arial" pitchFamily="34" charset="0"/>
                <a:ea typeface="Arial" pitchFamily="34" charset="-122"/>
                <a:cs typeface="Arial" pitchFamily="34" charset="-120"/>
              </a:rPr>
              <a:t>True negative</a:t>
            </a:r>
            <a:endParaRPr lang="en-US" sz="2400" dirty="0"/>
          </a:p>
        </p:txBody>
      </p:sp>
      <p:sp>
        <p:nvSpPr>
          <p:cNvPr id="19" name="Shape 17"/>
          <p:cNvSpPr/>
          <p:nvPr/>
        </p:nvSpPr>
        <p:spPr>
          <a:xfrm>
            <a:off x="4023360" y="3931920"/>
            <a:ext cx="1783080" cy="1097280"/>
          </a:xfrm>
          <a:prstGeom prst="roundRect">
            <a:avLst>
              <a:gd name="adj" fmla="val 6667"/>
            </a:avLst>
          </a:prstGeom>
          <a:solidFill>
            <a:srgbClr val="F1F4F2"/>
          </a:solidFill>
          <a:ln w="12700">
            <a:solidFill>
              <a:srgbClr val="F1F4F2"/>
            </a:solidFill>
            <a:prstDash val="solid"/>
          </a:ln>
        </p:spPr>
      </p:sp>
      <p:sp>
        <p:nvSpPr>
          <p:cNvPr id="20" name="Text 18"/>
          <p:cNvSpPr txBox="1"/>
          <p:nvPr/>
        </p:nvSpPr>
        <p:spPr>
          <a:xfrm>
            <a:off x="4023360" y="3931920"/>
            <a:ext cx="1783080" cy="1097280"/>
          </a:xfrm>
          <a:prstGeom prst="rect">
            <a:avLst/>
          </a:prstGeom>
          <a:noFill/>
          <a:ln/>
        </p:spPr>
        <p:txBody>
          <a:bodyPr wrap="square" lIns="0" tIns="0" rIns="0" bIns="0" rtlCol="0" anchor="ctr"/>
          <a:lstStyle/>
          <a:p>
            <a:pPr algn="ctr" indent="0" marL="0">
              <a:buNone/>
            </a:pPr>
            <a:r>
              <a:rPr lang="en-US" sz="2400" b="1" dirty="0">
                <a:solidFill>
                  <a:srgbClr val="16201E"/>
                </a:solidFill>
                <a:latin typeface="Georgia" pitchFamily="34" charset="0"/>
                <a:ea typeface="Georgia" pitchFamily="34" charset="-122"/>
                <a:cs typeface="Georgia" pitchFamily="34" charset="-120"/>
              </a:rPr>
              <a:t>680</a:t>
            </a:r>
            <a:endParaRPr lang="en-US" sz="2400" dirty="0"/>
          </a:p>
          <a:p>
            <a:pPr algn="ctr" indent="0" marL="0">
              <a:buNone/>
            </a:pPr>
            <a:r>
              <a:rPr lang="en-US" sz="1100" dirty="0">
                <a:solidFill>
                  <a:srgbClr val="16201E"/>
                </a:solidFill>
                <a:latin typeface="Arial" pitchFamily="34" charset="0"/>
                <a:ea typeface="Arial" pitchFamily="34" charset="-122"/>
                <a:cs typeface="Arial" pitchFamily="34" charset="-120"/>
              </a:rPr>
              <a:t>False positive</a:t>
            </a:r>
            <a:endParaRPr lang="en-US" sz="2400" dirty="0"/>
          </a:p>
        </p:txBody>
      </p:sp>
      <p:sp>
        <p:nvSpPr>
          <p:cNvPr id="21" name="Shape 19"/>
          <p:cNvSpPr/>
          <p:nvPr/>
        </p:nvSpPr>
        <p:spPr>
          <a:xfrm>
            <a:off x="2148840" y="5120640"/>
            <a:ext cx="1783080" cy="1097280"/>
          </a:xfrm>
          <a:prstGeom prst="roundRect">
            <a:avLst>
              <a:gd name="adj" fmla="val 6667"/>
            </a:avLst>
          </a:prstGeom>
          <a:solidFill>
            <a:srgbClr val="F1F4F2"/>
          </a:solidFill>
          <a:ln w="12700">
            <a:solidFill>
              <a:srgbClr val="F1F4F2"/>
            </a:solidFill>
            <a:prstDash val="solid"/>
          </a:ln>
        </p:spPr>
      </p:sp>
      <p:sp>
        <p:nvSpPr>
          <p:cNvPr id="22" name="Text 20"/>
          <p:cNvSpPr txBox="1"/>
          <p:nvPr/>
        </p:nvSpPr>
        <p:spPr>
          <a:xfrm>
            <a:off x="2148840" y="5120640"/>
            <a:ext cx="1783080" cy="1097280"/>
          </a:xfrm>
          <a:prstGeom prst="rect">
            <a:avLst/>
          </a:prstGeom>
          <a:noFill/>
          <a:ln/>
        </p:spPr>
        <p:txBody>
          <a:bodyPr wrap="square" lIns="0" tIns="0" rIns="0" bIns="0" rtlCol="0" anchor="ctr"/>
          <a:lstStyle/>
          <a:p>
            <a:pPr algn="ctr" indent="0" marL="0">
              <a:buNone/>
            </a:pPr>
            <a:r>
              <a:rPr lang="en-US" sz="2400" b="1" dirty="0">
                <a:solidFill>
                  <a:srgbClr val="16201E"/>
                </a:solidFill>
                <a:latin typeface="Georgia" pitchFamily="34" charset="0"/>
                <a:ea typeface="Georgia" pitchFamily="34" charset="-122"/>
                <a:cs typeface="Georgia" pitchFamily="34" charset="-120"/>
              </a:rPr>
              <a:t>207</a:t>
            </a:r>
            <a:endParaRPr lang="en-US" sz="2400" dirty="0"/>
          </a:p>
          <a:p>
            <a:pPr algn="ctr" indent="0" marL="0">
              <a:buNone/>
            </a:pPr>
            <a:r>
              <a:rPr lang="en-US" sz="1100" dirty="0">
                <a:solidFill>
                  <a:srgbClr val="16201E"/>
                </a:solidFill>
                <a:latin typeface="Arial" pitchFamily="34" charset="0"/>
                <a:ea typeface="Arial" pitchFamily="34" charset="-122"/>
                <a:cs typeface="Arial" pitchFamily="34" charset="-120"/>
              </a:rPr>
              <a:t>False negative</a:t>
            </a:r>
            <a:endParaRPr lang="en-US" sz="2400" dirty="0"/>
          </a:p>
        </p:txBody>
      </p:sp>
      <p:sp>
        <p:nvSpPr>
          <p:cNvPr id="23" name="Shape 21"/>
          <p:cNvSpPr/>
          <p:nvPr/>
        </p:nvSpPr>
        <p:spPr>
          <a:xfrm>
            <a:off x="4023360" y="5120640"/>
            <a:ext cx="1783080" cy="1097280"/>
          </a:xfrm>
          <a:prstGeom prst="roundRect">
            <a:avLst>
              <a:gd name="adj" fmla="val 6667"/>
            </a:avLst>
          </a:prstGeom>
          <a:solidFill>
            <a:srgbClr val="E4572E"/>
          </a:solidFill>
          <a:ln w="12700">
            <a:solidFill>
              <a:srgbClr val="E4572E"/>
            </a:solidFill>
            <a:prstDash val="solid"/>
          </a:ln>
        </p:spPr>
      </p:sp>
      <p:sp>
        <p:nvSpPr>
          <p:cNvPr id="24" name="Text 22"/>
          <p:cNvSpPr txBox="1"/>
          <p:nvPr/>
        </p:nvSpPr>
        <p:spPr>
          <a:xfrm>
            <a:off x="4023360" y="5120640"/>
            <a:ext cx="1783080" cy="109728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748</a:t>
            </a:r>
            <a:endParaRPr lang="en-US" sz="2400" dirty="0"/>
          </a:p>
          <a:p>
            <a:pPr algn="ctr" indent="0" marL="0">
              <a:buNone/>
            </a:pPr>
            <a:r>
              <a:rPr lang="en-US" sz="1100" dirty="0">
                <a:solidFill>
                  <a:srgbClr val="FFFFFF"/>
                </a:solidFill>
                <a:latin typeface="Arial" pitchFamily="34" charset="0"/>
                <a:ea typeface="Arial" pitchFamily="34" charset="-122"/>
                <a:cs typeface="Arial" pitchFamily="34" charset="-120"/>
              </a:rPr>
              <a:t>True positive</a:t>
            </a:r>
            <a:endParaRPr lang="en-US" sz="2400" dirty="0"/>
          </a:p>
        </p:txBody>
      </p:sp>
      <p:sp>
        <p:nvSpPr>
          <p:cNvPr id="25" name="Text 23"/>
          <p:cNvSpPr txBox="1"/>
          <p:nvPr/>
        </p:nvSpPr>
        <p:spPr>
          <a:xfrm>
            <a:off x="2148840" y="6309360"/>
            <a:ext cx="4526280" cy="274320"/>
          </a:xfrm>
          <a:prstGeom prst="rect">
            <a:avLst/>
          </a:prstGeom>
          <a:noFill/>
          <a:ln/>
        </p:spPr>
        <p:txBody>
          <a:bodyPr wrap="square" lIns="0" tIns="0" rIns="0" bIns="0" rtlCol="0" anchor="t"/>
          <a:lstStyle/>
          <a:p>
            <a:pPr indent="0" marL="0">
              <a:buNone/>
            </a:pPr>
            <a:r>
              <a:rPr lang="en-US" sz="1050" dirty="0">
                <a:solidFill>
                  <a:srgbClr val="5B6663"/>
                </a:solidFill>
                <a:latin typeface="Arial" pitchFamily="34" charset="0"/>
                <a:ea typeface="Arial" pitchFamily="34" charset="-122"/>
                <a:cs typeface="Arial" pitchFamily="34" charset="-120"/>
              </a:rPr>
              <a:t>3,832 test trainees at threshold 0.5. No overfitting: CV ROC-AUC 0.791.</a:t>
            </a:r>
            <a:endParaRPr lang="en-US" sz="1050" dirty="0"/>
          </a:p>
        </p:txBody>
      </p:sp>
      <p:pic>
        <p:nvPicPr>
          <p:cNvPr id="26" name="r1_meme" descr="/private/tmp/claude-501/-Users-shreshthbehal-Downloads-IDS-MODEL/94d7d9e0-839f-4ae9-a7c4-b56936e55bac/scratchpad/memes/captioned/thisisfine.jpg">    </p:cNvPr>
          <p:cNvPicPr>
            <a:picLocks noChangeAspect="1"/>
          </p:cNvPicPr>
          <p:nvPr/>
        </p:nvPicPr>
        <p:blipFill>
          <a:blip r:embed="rId1"/>
          <a:stretch>
            <a:fillRect/>
          </a:stretch>
        </p:blipFill>
        <p:spPr>
          <a:xfrm>
            <a:off x="7178040" y="3429000"/>
            <a:ext cx="4462272" cy="2898648"/>
          </a:xfrm>
          <a:prstGeom prst="rect">
            <a:avLst/>
          </a:prstGeom>
        </p:spPr>
      </p:pic>
      <p:sp>
        <p:nvSpPr>
          <p:cNvPr id="27" name="Text 24"/>
          <p:cNvSpPr txBox="1"/>
          <p:nvPr/>
        </p:nvSpPr>
        <p:spPr>
          <a:xfrm>
            <a:off x="11094415" y="6446520"/>
            <a:ext cx="548640" cy="256032"/>
          </a:xfrm>
          <a:prstGeom prst="rect">
            <a:avLst/>
          </a:prstGeom>
          <a:noFill/>
          <a:ln/>
        </p:spPr>
        <p:txBody>
          <a:bodyPr wrap="square" lIns="0" tIns="0" rIns="0" bIns="0" rtlCol="0" anchor="ctr"/>
          <a:lstStyle/>
          <a:p>
            <a:pPr algn="r" indent="0" marL="0">
              <a:buNone/>
            </a:pPr>
            <a:r>
              <a:rPr lang="en-US" sz="1000" dirty="0">
                <a:solidFill>
                  <a:srgbClr val="5B6663"/>
                </a:solidFill>
                <a:latin typeface="Arial" pitchFamily="34" charset="0"/>
                <a:ea typeface="Arial" pitchFamily="34" charset="-122"/>
                <a:cs typeface="Arial" pitchFamily="34" charset="-120"/>
              </a:rPr>
              <a:t>7</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997050" cy="310896"/>
          </a:xfrm>
          <a:prstGeom prst="roundRect">
            <a:avLst>
              <a:gd name="adj" fmla="val 50000"/>
            </a:avLst>
          </a:prstGeom>
          <a:solidFill>
            <a:srgbClr val="12211F"/>
          </a:solidFill>
          <a:ln w="12700">
            <a:solidFill>
              <a:srgbClr val="12211F"/>
            </a:solidFill>
            <a:prstDash val="solid"/>
          </a:ln>
        </p:spPr>
      </p:sp>
      <p:sp>
        <p:nvSpPr>
          <p:cNvPr id="3" name="Text 1"/>
          <p:cNvSpPr txBox="1"/>
          <p:nvPr/>
        </p:nvSpPr>
        <p:spPr>
          <a:xfrm>
            <a:off x="548640" y="411480"/>
            <a:ext cx="1997050" cy="310896"/>
          </a:xfrm>
          <a:prstGeom prst="rect">
            <a:avLst/>
          </a:prstGeom>
          <a:noFill/>
          <a:ln/>
        </p:spPr>
        <p:txBody>
          <a:bodyPr wrap="square" lIns="0" tIns="0" rIns="0" bIns="0" rtlCol="0" anchor="ctr"/>
          <a:lstStyle/>
          <a:p>
            <a:pPr algn="ctr" indent="0" marL="0">
              <a:buNone/>
            </a:pPr>
            <a:r>
              <a:rPr lang="en-US" sz="1050" b="1" spc="200" kern="0" dirty="0">
                <a:solidFill>
                  <a:srgbClr val="FFFFFF"/>
                </a:solidFill>
                <a:latin typeface="Arial" pitchFamily="34" charset="0"/>
                <a:ea typeface="Arial" pitchFamily="34" charset="-122"/>
                <a:cs typeface="Arial" pitchFamily="34" charset="-120"/>
              </a:rPr>
              <a:t>PART 3  ·  RESULTS</a:t>
            </a:r>
            <a:endParaRPr lang="en-US" sz="1050" dirty="0"/>
          </a:p>
        </p:txBody>
      </p:sp>
      <p:sp>
        <p:nvSpPr>
          <p:cNvPr id="4" name="Text 2"/>
          <p:cNvSpPr txBox="1"/>
          <p:nvPr/>
        </p:nvSpPr>
        <p:spPr>
          <a:xfrm>
            <a:off x="548640" y="841248"/>
            <a:ext cx="11094415" cy="914400"/>
          </a:xfrm>
          <a:prstGeom prst="rect">
            <a:avLst/>
          </a:prstGeom>
          <a:noFill/>
          <a:ln/>
        </p:spPr>
        <p:txBody>
          <a:bodyPr wrap="square" lIns="0" tIns="0" rIns="0" bIns="0" rtlCol="0" anchor="t"/>
          <a:lstStyle/>
          <a:p>
            <a:pPr indent="0" marL="0">
              <a:buNone/>
            </a:pPr>
            <a:r>
              <a:rPr lang="en-US" sz="3200" b="1" dirty="0">
                <a:solidFill>
                  <a:srgbClr val="16201E"/>
                </a:solidFill>
                <a:latin typeface="Georgia" pitchFamily="34" charset="0"/>
                <a:ea typeface="Georgia" pitchFamily="34" charset="-122"/>
                <a:cs typeface="Georgia" pitchFamily="34" charset="-120"/>
              </a:rPr>
              <a:t>You're HR. Two recruiters. Pick a cut-off.</a:t>
            </a:r>
            <a:endParaRPr lang="en-US" sz="3200" dirty="0"/>
          </a:p>
        </p:txBody>
      </p:sp>
      <p:sp>
        <p:nvSpPr>
          <p:cNvPr id="5" name="Shape 3"/>
          <p:cNvSpPr/>
          <p:nvPr/>
        </p:nvSpPr>
        <p:spPr>
          <a:xfrm>
            <a:off x="548640" y="1828800"/>
            <a:ext cx="1190549" cy="310896"/>
          </a:xfrm>
          <a:prstGeom prst="roundRect">
            <a:avLst>
              <a:gd name="adj" fmla="val 50000"/>
            </a:avLst>
          </a:prstGeom>
          <a:solidFill>
            <a:srgbClr val="FFD23F"/>
          </a:solidFill>
          <a:ln w="12700">
            <a:solidFill>
              <a:srgbClr val="FFD23F"/>
            </a:solidFill>
            <a:prstDash val="solid"/>
          </a:ln>
        </p:spPr>
      </p:sp>
      <p:sp>
        <p:nvSpPr>
          <p:cNvPr id="6" name="Text 4"/>
          <p:cNvSpPr txBox="1"/>
          <p:nvPr/>
        </p:nvSpPr>
        <p:spPr>
          <a:xfrm>
            <a:off x="548640" y="1828800"/>
            <a:ext cx="1190549" cy="310896"/>
          </a:xfrm>
          <a:prstGeom prst="rect">
            <a:avLst/>
          </a:prstGeom>
          <a:noFill/>
          <a:ln/>
        </p:spPr>
        <p:txBody>
          <a:bodyPr wrap="square" lIns="0" tIns="0" rIns="0" bIns="0" rtlCol="0" anchor="ctr"/>
          <a:lstStyle/>
          <a:p>
            <a:pPr algn="ctr" indent="0" marL="0">
              <a:buNone/>
            </a:pPr>
            <a:r>
              <a:rPr lang="en-US" sz="1050" b="1" spc="200" kern="0" dirty="0">
                <a:solidFill>
                  <a:srgbClr val="12211F"/>
                </a:solidFill>
                <a:latin typeface="Arial" pitchFamily="34" charset="0"/>
                <a:ea typeface="Arial" pitchFamily="34" charset="-122"/>
                <a:cs typeface="Arial" pitchFamily="34" charset="-120"/>
              </a:rPr>
              <a:t>YOUR CALL</a:t>
            </a:r>
            <a:endParaRPr lang="en-US" sz="1050" dirty="0"/>
          </a:p>
        </p:txBody>
      </p:sp>
      <p:sp>
        <p:nvSpPr>
          <p:cNvPr id="7" name="Text 5"/>
          <p:cNvSpPr txBox="1"/>
          <p:nvPr/>
        </p:nvSpPr>
        <p:spPr>
          <a:xfrm>
            <a:off x="1783080" y="1828800"/>
            <a:ext cx="5486400" cy="310896"/>
          </a:xfrm>
          <a:prstGeom prst="rect">
            <a:avLst/>
          </a:prstGeom>
          <a:noFill/>
          <a:ln/>
        </p:spPr>
        <p:txBody>
          <a:bodyPr wrap="square" lIns="0" tIns="0" rIns="0" bIns="0" rtlCol="0" anchor="ctr"/>
          <a:lstStyle/>
          <a:p>
            <a:pPr indent="0" marL="0">
              <a:buNone/>
            </a:pPr>
            <a:r>
              <a:rPr lang="en-US" sz="1300" dirty="0">
                <a:solidFill>
                  <a:srgbClr val="16201E"/>
                </a:solidFill>
                <a:latin typeface="Arial" pitchFamily="34" charset="0"/>
                <a:ea typeface="Arial" pitchFamily="34" charset="-122"/>
                <a:cs typeface="Arial" pitchFamily="34" charset="-120"/>
              </a:rPr>
              <a:t>Catch more job hunters, or waste fewer calls?</a:t>
            </a:r>
            <a:endParaRPr lang="en-US" sz="1300" dirty="0"/>
          </a:p>
        </p:txBody>
      </p:sp>
      <p:graphicFrame>
        <p:nvGraphicFramePr>
          <p:cNvPr id="8" name="Chart 0" descr=""/>
          <p:cNvGraphicFramePr/>
          <p:nvPr/>
        </p:nvGraphicFramePr>
        <p:xfrm>
          <a:off x="502920" y="2240280"/>
          <a:ext cx="7772400" cy="2697480"/>
        </p:xfrm>
        <a:graphic xmlns:a="http://schemas.openxmlformats.org/drawingml/2006/main">
          <a:graphicData uri="http://schemas.openxmlformats.org/drawingml/2006/chart">
            <c:chart xmlns:c="http://schemas.openxmlformats.org/drawingml/2006/chart" r:id="rId1"/>
          </a:graphicData>
        </a:graphic>
      </p:graphicFrame>
      <p:sp>
        <p:nvSpPr>
          <p:cNvPr id="9" name="r1_card"/>
          <p:cNvSpPr/>
          <p:nvPr/>
        </p:nvSpPr>
        <p:spPr>
          <a:xfrm>
            <a:off x="548640" y="5074920"/>
            <a:ext cx="3749040" cy="1280160"/>
          </a:xfrm>
          <a:prstGeom prst="roundRect">
            <a:avLst>
              <a:gd name="adj" fmla="val 5714"/>
            </a:avLst>
          </a:prstGeom>
          <a:solidFill>
            <a:srgbClr val="F1F4F2"/>
          </a:solidFill>
          <a:ln w="12700">
            <a:solidFill>
              <a:srgbClr val="F1F4F2"/>
            </a:solidFill>
            <a:prstDash val="solid"/>
          </a:ln>
        </p:spPr>
      </p:sp>
      <p:sp>
        <p:nvSpPr>
          <p:cNvPr id="10" name="r1_num"/>
          <p:cNvSpPr txBox="1"/>
          <p:nvPr/>
        </p:nvSpPr>
        <p:spPr>
          <a:xfrm>
            <a:off x="777240" y="5257800"/>
            <a:ext cx="914400" cy="548640"/>
          </a:xfrm>
          <a:prstGeom prst="rect">
            <a:avLst/>
          </a:prstGeom>
          <a:noFill/>
          <a:ln/>
        </p:spPr>
        <p:txBody>
          <a:bodyPr wrap="square" lIns="0" tIns="0" rIns="0" bIns="0" rtlCol="0" anchor="t"/>
          <a:lstStyle/>
          <a:p>
            <a:pPr indent="0" marL="0">
              <a:buNone/>
            </a:pPr>
            <a:r>
              <a:rPr lang="en-US" sz="3000" b="1" dirty="0">
                <a:solidFill>
                  <a:srgbClr val="2E6B5E"/>
                </a:solidFill>
                <a:latin typeface="Georgia" pitchFamily="34" charset="0"/>
                <a:ea typeface="Georgia" pitchFamily="34" charset="-122"/>
                <a:cs typeface="Georgia" pitchFamily="34" charset="-120"/>
              </a:rPr>
              <a:t>0.5</a:t>
            </a:r>
            <a:endParaRPr lang="en-US" sz="3000" dirty="0"/>
          </a:p>
        </p:txBody>
      </p:sp>
      <p:sp>
        <p:nvSpPr>
          <p:cNvPr id="11" name="r1_head"/>
          <p:cNvSpPr txBox="1"/>
          <p:nvPr/>
        </p:nvSpPr>
        <p:spPr>
          <a:xfrm>
            <a:off x="1691640" y="5257800"/>
            <a:ext cx="2468880" cy="457200"/>
          </a:xfrm>
          <a:prstGeom prst="rect">
            <a:avLst/>
          </a:prstGeom>
          <a:noFill/>
          <a:ln/>
        </p:spPr>
        <p:txBody>
          <a:bodyPr wrap="square" lIns="0" tIns="0" rIns="0" bIns="0" rtlCol="0" anchor="ctr"/>
          <a:lstStyle/>
          <a:p>
            <a:pPr indent="0" marL="0">
              <a:buNone/>
            </a:pPr>
            <a:r>
              <a:rPr lang="en-US" sz="1500" b="1" dirty="0">
                <a:solidFill>
                  <a:srgbClr val="16201E"/>
                </a:solidFill>
                <a:latin typeface="Arial" pitchFamily="34" charset="0"/>
                <a:ea typeface="Arial" pitchFamily="34" charset="-122"/>
                <a:cs typeface="Arial" pitchFamily="34" charset="-120"/>
              </a:rPr>
              <a:t>Wide net</a:t>
            </a:r>
            <a:endParaRPr lang="en-US" sz="1500" dirty="0"/>
          </a:p>
        </p:txBody>
      </p:sp>
      <p:sp>
        <p:nvSpPr>
          <p:cNvPr id="12" name="r1_body"/>
          <p:cNvSpPr txBox="1"/>
          <p:nvPr/>
        </p:nvSpPr>
        <p:spPr>
          <a:xfrm>
            <a:off x="777240" y="5824728"/>
            <a:ext cx="3337560" cy="457200"/>
          </a:xfrm>
          <a:prstGeom prst="rect">
            <a:avLst/>
          </a:prstGeom>
          <a:noFill/>
          <a:ln/>
        </p:spPr>
        <p:txBody>
          <a:bodyPr wrap="square" lIns="0" tIns="0" rIns="0" bIns="0" rtlCol="0" anchor="t"/>
          <a:lstStyle/>
          <a:p>
            <a:pPr indent="0" marL="0">
              <a:buNone/>
            </a:pPr>
            <a:r>
              <a:rPr lang="en-US" sz="1150" dirty="0">
                <a:solidFill>
                  <a:srgbClr val="16201E"/>
                </a:solidFill>
                <a:latin typeface="Arial" pitchFamily="34" charset="0"/>
                <a:ea typeface="Arial" pitchFamily="34" charset="-122"/>
                <a:cs typeface="Arial" pitchFamily="34" charset="-120"/>
              </a:rPr>
              <a:t>Call 37% of trainees, reach 78% of job hunters, 52% of calls land.</a:t>
            </a:r>
            <a:endParaRPr lang="en-US" sz="1150" dirty="0"/>
          </a:p>
        </p:txBody>
      </p:sp>
      <p:sp>
        <p:nvSpPr>
          <p:cNvPr id="13" name="r2_card"/>
          <p:cNvSpPr/>
          <p:nvPr/>
        </p:nvSpPr>
        <p:spPr>
          <a:xfrm>
            <a:off x="4480560" y="5074920"/>
            <a:ext cx="3749040" cy="1280160"/>
          </a:xfrm>
          <a:prstGeom prst="roundRect">
            <a:avLst>
              <a:gd name="adj" fmla="val 5714"/>
            </a:avLst>
          </a:prstGeom>
          <a:solidFill>
            <a:srgbClr val="F1F4F2"/>
          </a:solidFill>
          <a:ln w="12700">
            <a:solidFill>
              <a:srgbClr val="F1F4F2"/>
            </a:solidFill>
            <a:prstDash val="solid"/>
          </a:ln>
        </p:spPr>
      </p:sp>
      <p:sp>
        <p:nvSpPr>
          <p:cNvPr id="14" name="r2_num"/>
          <p:cNvSpPr txBox="1"/>
          <p:nvPr/>
        </p:nvSpPr>
        <p:spPr>
          <a:xfrm>
            <a:off x="4709160" y="5257800"/>
            <a:ext cx="914400" cy="548640"/>
          </a:xfrm>
          <a:prstGeom prst="rect">
            <a:avLst/>
          </a:prstGeom>
          <a:noFill/>
          <a:ln/>
        </p:spPr>
        <p:txBody>
          <a:bodyPr wrap="square" lIns="0" tIns="0" rIns="0" bIns="0" rtlCol="0" anchor="t"/>
          <a:lstStyle/>
          <a:p>
            <a:pPr indent="0" marL="0">
              <a:buNone/>
            </a:pPr>
            <a:r>
              <a:rPr lang="en-US" sz="3000" b="1" dirty="0">
                <a:solidFill>
                  <a:srgbClr val="E4572E"/>
                </a:solidFill>
                <a:latin typeface="Georgia" pitchFamily="34" charset="0"/>
                <a:ea typeface="Georgia" pitchFamily="34" charset="-122"/>
                <a:cs typeface="Georgia" pitchFamily="34" charset="-120"/>
              </a:rPr>
              <a:t>0.7</a:t>
            </a:r>
            <a:endParaRPr lang="en-US" sz="3000" dirty="0"/>
          </a:p>
        </p:txBody>
      </p:sp>
      <p:sp>
        <p:nvSpPr>
          <p:cNvPr id="15" name="r2_head"/>
          <p:cNvSpPr txBox="1"/>
          <p:nvPr/>
        </p:nvSpPr>
        <p:spPr>
          <a:xfrm>
            <a:off x="5623560" y="5257800"/>
            <a:ext cx="2468880" cy="457200"/>
          </a:xfrm>
          <a:prstGeom prst="rect">
            <a:avLst/>
          </a:prstGeom>
          <a:noFill/>
          <a:ln/>
        </p:spPr>
        <p:txBody>
          <a:bodyPr wrap="square" lIns="0" tIns="0" rIns="0" bIns="0" rtlCol="0" anchor="ctr"/>
          <a:lstStyle/>
          <a:p>
            <a:pPr indent="0" marL="0">
              <a:buNone/>
            </a:pPr>
            <a:r>
              <a:rPr lang="en-US" sz="1500" b="1" dirty="0">
                <a:solidFill>
                  <a:srgbClr val="16201E"/>
                </a:solidFill>
                <a:latin typeface="Arial" pitchFamily="34" charset="0"/>
                <a:ea typeface="Arial" pitchFamily="34" charset="-122"/>
                <a:cs typeface="Arial" pitchFamily="34" charset="-120"/>
              </a:rPr>
              <a:t>Short list</a:t>
            </a:r>
            <a:endParaRPr lang="en-US" sz="1500" dirty="0"/>
          </a:p>
        </p:txBody>
      </p:sp>
      <p:sp>
        <p:nvSpPr>
          <p:cNvPr id="16" name="r2_body"/>
          <p:cNvSpPr txBox="1"/>
          <p:nvPr/>
        </p:nvSpPr>
        <p:spPr>
          <a:xfrm>
            <a:off x="4709160" y="5824728"/>
            <a:ext cx="3337560" cy="457200"/>
          </a:xfrm>
          <a:prstGeom prst="rect">
            <a:avLst/>
          </a:prstGeom>
          <a:noFill/>
          <a:ln/>
        </p:spPr>
        <p:txBody>
          <a:bodyPr wrap="square" lIns="0" tIns="0" rIns="0" bIns="0" rtlCol="0" anchor="t"/>
          <a:lstStyle/>
          <a:p>
            <a:pPr indent="0" marL="0">
              <a:buNone/>
            </a:pPr>
            <a:r>
              <a:rPr lang="en-US" sz="1150" dirty="0">
                <a:solidFill>
                  <a:srgbClr val="16201E"/>
                </a:solidFill>
                <a:latin typeface="Arial" pitchFamily="34" charset="0"/>
                <a:ea typeface="Arial" pitchFamily="34" charset="-122"/>
                <a:cs typeface="Arial" pitchFamily="34" charset="-120"/>
              </a:rPr>
              <a:t>Call 21% of trainees, reach 51% of job hunters, 60% of calls land.</a:t>
            </a:r>
            <a:endParaRPr lang="en-US" sz="1150" dirty="0"/>
          </a:p>
        </p:txBody>
      </p:sp>
      <p:pic>
        <p:nvPicPr>
          <p:cNvPr id="17" name="Image 0" descr="/private/tmp/claude-501/-Users-shreshthbehal-Downloads-IDS-MODEL/94d7d9e0-839f-4ae9-a7c4-b56936e55bac/scratchpad/memes/captioned/twobuttons.jpg">    </p:cNvPr>
          <p:cNvPicPr>
            <a:picLocks noChangeAspect="1"/>
          </p:cNvPicPr>
          <p:nvPr/>
        </p:nvPicPr>
        <p:blipFill>
          <a:blip r:embed="rId2"/>
          <a:stretch>
            <a:fillRect/>
          </a:stretch>
        </p:blipFill>
        <p:spPr>
          <a:xfrm>
            <a:off x="8641080" y="1783080"/>
            <a:ext cx="2999232" cy="4544568"/>
          </a:xfrm>
          <a:prstGeom prst="rect">
            <a:avLst/>
          </a:prstGeom>
        </p:spPr>
      </p:pic>
      <p:sp>
        <p:nvSpPr>
          <p:cNvPr id="18" name="Text 14"/>
          <p:cNvSpPr txBox="1"/>
          <p:nvPr/>
        </p:nvSpPr>
        <p:spPr>
          <a:xfrm>
            <a:off x="11094415" y="6446520"/>
            <a:ext cx="548640" cy="256032"/>
          </a:xfrm>
          <a:prstGeom prst="rect">
            <a:avLst/>
          </a:prstGeom>
          <a:noFill/>
          <a:ln/>
        </p:spPr>
        <p:txBody>
          <a:bodyPr wrap="square" lIns="0" tIns="0" rIns="0" bIns="0" rtlCol="0" anchor="ctr"/>
          <a:lstStyle/>
          <a:p>
            <a:pPr algn="r" indent="0" marL="0">
              <a:buNone/>
            </a:pPr>
            <a:r>
              <a:rPr lang="en-US" sz="1000" dirty="0">
                <a:solidFill>
                  <a:srgbClr val="5B6663"/>
                </a:solidFill>
                <a:latin typeface="Arial" pitchFamily="34" charset="0"/>
                <a:ea typeface="Arial" pitchFamily="34" charset="-122"/>
                <a:cs typeface="Arial" pitchFamily="34" charset="-120"/>
              </a:rPr>
              <a:t>8</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997050" cy="310896"/>
          </a:xfrm>
          <a:prstGeom prst="roundRect">
            <a:avLst>
              <a:gd name="adj" fmla="val 50000"/>
            </a:avLst>
          </a:prstGeom>
          <a:solidFill>
            <a:srgbClr val="12211F"/>
          </a:solidFill>
          <a:ln w="12700">
            <a:solidFill>
              <a:srgbClr val="12211F"/>
            </a:solidFill>
            <a:prstDash val="solid"/>
          </a:ln>
        </p:spPr>
      </p:sp>
      <p:sp>
        <p:nvSpPr>
          <p:cNvPr id="3" name="Text 1"/>
          <p:cNvSpPr txBox="1"/>
          <p:nvPr/>
        </p:nvSpPr>
        <p:spPr>
          <a:xfrm>
            <a:off x="548640" y="411480"/>
            <a:ext cx="1997050" cy="310896"/>
          </a:xfrm>
          <a:prstGeom prst="rect">
            <a:avLst/>
          </a:prstGeom>
          <a:noFill/>
          <a:ln/>
        </p:spPr>
        <p:txBody>
          <a:bodyPr wrap="square" lIns="0" tIns="0" rIns="0" bIns="0" rtlCol="0" anchor="ctr"/>
          <a:lstStyle/>
          <a:p>
            <a:pPr algn="ctr" indent="0" marL="0">
              <a:buNone/>
            </a:pPr>
            <a:r>
              <a:rPr lang="en-US" sz="1050" b="1" spc="200" kern="0" dirty="0">
                <a:solidFill>
                  <a:srgbClr val="FFFFFF"/>
                </a:solidFill>
                <a:latin typeface="Arial" pitchFamily="34" charset="0"/>
                <a:ea typeface="Arial" pitchFamily="34" charset="-122"/>
                <a:cs typeface="Arial" pitchFamily="34" charset="-120"/>
              </a:rPr>
              <a:t>PART 3  ·  RESULTS</a:t>
            </a:r>
            <a:endParaRPr lang="en-US" sz="1050" dirty="0"/>
          </a:p>
        </p:txBody>
      </p:sp>
      <p:sp>
        <p:nvSpPr>
          <p:cNvPr id="4" name="Text 2"/>
          <p:cNvSpPr txBox="1"/>
          <p:nvPr/>
        </p:nvSpPr>
        <p:spPr>
          <a:xfrm>
            <a:off x="548640" y="841248"/>
            <a:ext cx="11094415" cy="914400"/>
          </a:xfrm>
          <a:prstGeom prst="rect">
            <a:avLst/>
          </a:prstGeom>
          <a:noFill/>
          <a:ln/>
        </p:spPr>
        <p:txBody>
          <a:bodyPr wrap="square" lIns="0" tIns="0" rIns="0" bIns="0" rtlCol="0" anchor="t"/>
          <a:lstStyle/>
          <a:p>
            <a:pPr indent="0" marL="0">
              <a:buNone/>
            </a:pPr>
            <a:r>
              <a:rPr lang="en-US" sz="3200" b="1" dirty="0">
                <a:solidFill>
                  <a:srgbClr val="16201E"/>
                </a:solidFill>
                <a:latin typeface="Georgia" pitchFamily="34" charset="0"/>
                <a:ea typeface="Georgia" pitchFamily="34" charset="-122"/>
                <a:cs typeface="Georgia" pitchFamily="34" charset="-120"/>
              </a:rPr>
              <a:t>Plot twist: it's mostly about where you live</a:t>
            </a:r>
            <a:endParaRPr lang="en-US" sz="3200" dirty="0"/>
          </a:p>
        </p:txBody>
      </p:sp>
      <p:graphicFrame>
        <p:nvGraphicFramePr>
          <p:cNvPr id="5" name="Chart 0" descr=""/>
          <p:cNvGraphicFramePr/>
          <p:nvPr/>
        </p:nvGraphicFramePr>
        <p:xfrm>
          <a:off x="502920" y="1783080"/>
          <a:ext cx="5989320" cy="4572000"/>
        </p:xfrm>
        <a:graphic xmlns:a="http://schemas.openxmlformats.org/drawingml/2006/main">
          <a:graphicData uri="http://schemas.openxmlformats.org/drawingml/2006/chart">
            <c:chart xmlns:c="http://schemas.openxmlformats.org/drawingml/2006/chart" r:id="rId1"/>
          </a:graphicData>
        </a:graphic>
      </p:graphicFrame>
      <p:pic>
        <p:nvPicPr>
          <p:cNvPr id="6" name="Image 0" descr="/private/tmp/claude-501/-Users-shreshthbehal-Downloads-IDS-MODEL/94d7d9e0-839f-4ae9-a7c4-b56936e55bac/scratchpad/memes/captioned/distracted.jpg">    </p:cNvPr>
          <p:cNvPicPr>
            <a:picLocks noChangeAspect="1"/>
          </p:cNvPicPr>
          <p:nvPr/>
        </p:nvPicPr>
        <p:blipFill>
          <a:blip r:embed="rId2"/>
          <a:stretch>
            <a:fillRect/>
          </a:stretch>
        </p:blipFill>
        <p:spPr>
          <a:xfrm>
            <a:off x="6720840" y="1783080"/>
            <a:ext cx="4919472" cy="3282696"/>
          </a:xfrm>
          <a:prstGeom prst="rect">
            <a:avLst/>
          </a:prstGeom>
        </p:spPr>
      </p:pic>
      <p:sp>
        <p:nvSpPr>
          <p:cNvPr id="7" name="Text 3"/>
          <p:cNvSpPr txBox="1"/>
          <p:nvPr/>
        </p:nvSpPr>
        <p:spPr>
          <a:xfrm>
            <a:off x="6720840" y="5230368"/>
            <a:ext cx="1572768" cy="1143000"/>
          </a:xfrm>
          <a:prstGeom prst="rect">
            <a:avLst/>
          </a:prstGeom>
          <a:noFill/>
          <a:ln/>
        </p:spPr>
        <p:txBody>
          <a:bodyPr wrap="square" lIns="0" tIns="0" rIns="0" bIns="0" rtlCol="0" anchor="t"/>
          <a:lstStyle/>
          <a:p>
            <a:pPr indent="0" marL="0">
              <a:buNone/>
            </a:pPr>
            <a:r>
              <a:rPr lang="en-US" sz="1700" b="1" dirty="0">
                <a:solidFill>
                  <a:srgbClr val="E4572E"/>
                </a:solidFill>
                <a:latin typeface="Georgia" pitchFamily="34" charset="0"/>
                <a:ea typeface="Georgia" pitchFamily="34" charset="-122"/>
                <a:cs typeface="Georgia" pitchFamily="34" charset="-120"/>
              </a:rPr>
              <a:t>58% vs 17%</a:t>
            </a:r>
            <a:endParaRPr lang="en-US" sz="1700" dirty="0"/>
          </a:p>
          <a:p>
            <a:pPr indent="0" marL="0">
              <a:buNone/>
            </a:pPr>
            <a:r>
              <a:rPr lang="en-US" sz="1100" dirty="0">
                <a:solidFill>
                  <a:srgbClr val="5B6663"/>
                </a:solidFill>
                <a:latin typeface="Arial" pitchFamily="34" charset="0"/>
                <a:ea typeface="Arial" pitchFamily="34" charset="-122"/>
                <a:cs typeface="Arial" pitchFamily="34" charset="-120"/>
              </a:rPr>
              <a:t>job hunting in cities below 0.60 vs 0.90 and up</a:t>
            </a:r>
            <a:endParaRPr lang="en-US" sz="1700" dirty="0"/>
          </a:p>
        </p:txBody>
      </p:sp>
      <p:sp>
        <p:nvSpPr>
          <p:cNvPr id="8" name="Text 4"/>
          <p:cNvSpPr txBox="1"/>
          <p:nvPr/>
        </p:nvSpPr>
        <p:spPr>
          <a:xfrm>
            <a:off x="8394192" y="5230368"/>
            <a:ext cx="1572768" cy="1143000"/>
          </a:xfrm>
          <a:prstGeom prst="rect">
            <a:avLst/>
          </a:prstGeom>
          <a:noFill/>
          <a:ln/>
        </p:spPr>
        <p:txBody>
          <a:bodyPr wrap="square" lIns="0" tIns="0" rIns="0" bIns="0" rtlCol="0" anchor="t"/>
          <a:lstStyle/>
          <a:p>
            <a:pPr indent="0" marL="0">
              <a:buNone/>
            </a:pPr>
            <a:r>
              <a:rPr lang="en-US" sz="1700" b="1" dirty="0">
                <a:solidFill>
                  <a:srgbClr val="16201E"/>
                </a:solidFill>
                <a:latin typeface="Georgia" pitchFamily="34" charset="0"/>
                <a:ea typeface="Georgia" pitchFamily="34" charset="-122"/>
                <a:cs typeface="Georgia" pitchFamily="34" charset="-120"/>
              </a:rPr>
              <a:t>39% vs 18%</a:t>
            </a:r>
            <a:endParaRPr lang="en-US" sz="1700" dirty="0"/>
          </a:p>
          <a:p>
            <a:pPr indent="0" marL="0">
              <a:buNone/>
            </a:pPr>
            <a:r>
              <a:rPr lang="en-US" sz="1100" dirty="0">
                <a:solidFill>
                  <a:srgbClr val="5B6663"/>
                </a:solidFill>
                <a:latin typeface="Arial" pitchFamily="34" charset="0"/>
                <a:ea typeface="Arial" pitchFamily="34" charset="-122"/>
                <a:cs typeface="Arial" pitchFamily="34" charset="-120"/>
              </a:rPr>
              <a:t>no employer on record vs Pvt Ltd</a:t>
            </a:r>
            <a:endParaRPr lang="en-US" sz="1700" dirty="0"/>
          </a:p>
        </p:txBody>
      </p:sp>
      <p:sp>
        <p:nvSpPr>
          <p:cNvPr id="9" name="Text 5"/>
          <p:cNvSpPr txBox="1"/>
          <p:nvPr/>
        </p:nvSpPr>
        <p:spPr>
          <a:xfrm>
            <a:off x="10067544" y="5230368"/>
            <a:ext cx="1572768" cy="1143000"/>
          </a:xfrm>
          <a:prstGeom prst="rect">
            <a:avLst/>
          </a:prstGeom>
          <a:noFill/>
          <a:ln/>
        </p:spPr>
        <p:txBody>
          <a:bodyPr wrap="square" lIns="0" tIns="0" rIns="0" bIns="0" rtlCol="0" anchor="t"/>
          <a:lstStyle/>
          <a:p>
            <a:pPr indent="0" marL="0">
              <a:buNone/>
            </a:pPr>
            <a:r>
              <a:rPr lang="en-US" sz="1700" b="1" dirty="0">
                <a:solidFill>
                  <a:srgbClr val="16201E"/>
                </a:solidFill>
                <a:latin typeface="Georgia" pitchFamily="34" charset="0"/>
                <a:ea typeface="Georgia" pitchFamily="34" charset="-122"/>
                <a:cs typeface="Georgia" pitchFamily="34" charset="-120"/>
              </a:rPr>
              <a:t>0.0003</a:t>
            </a:r>
            <a:endParaRPr lang="en-US" sz="1700" dirty="0"/>
          </a:p>
          <a:p>
            <a:pPr indent="0" marL="0">
              <a:buNone/>
            </a:pPr>
            <a:r>
              <a:rPr lang="en-US" sz="1100" dirty="0">
                <a:solidFill>
                  <a:srgbClr val="5B6663"/>
                </a:solidFill>
                <a:latin typeface="Arial" pitchFamily="34" charset="0"/>
                <a:ea typeface="Arial" pitchFamily="34" charset="-122"/>
                <a:cs typeface="Arial" pitchFamily="34" charset="-120"/>
              </a:rPr>
              <a:t>ROC-AUC lost when we drop gender</a:t>
            </a:r>
            <a:endParaRPr lang="en-US" sz="1700" dirty="0"/>
          </a:p>
        </p:txBody>
      </p:sp>
      <p:sp>
        <p:nvSpPr>
          <p:cNvPr id="10" name="Text 6"/>
          <p:cNvSpPr txBox="1"/>
          <p:nvPr/>
        </p:nvSpPr>
        <p:spPr>
          <a:xfrm>
            <a:off x="11094415" y="6446520"/>
            <a:ext cx="548640" cy="256032"/>
          </a:xfrm>
          <a:prstGeom prst="rect">
            <a:avLst/>
          </a:prstGeom>
          <a:noFill/>
          <a:ln/>
        </p:spPr>
        <p:txBody>
          <a:bodyPr wrap="square" lIns="0" tIns="0" rIns="0" bIns="0" rtlCol="0" anchor="ctr"/>
          <a:lstStyle/>
          <a:p>
            <a:pPr algn="r" indent="0" marL="0">
              <a:buNone/>
            </a:pPr>
            <a:r>
              <a:rPr lang="en-US" sz="1000" dirty="0">
                <a:solidFill>
                  <a:srgbClr val="5B6663"/>
                </a:solidFill>
                <a:latin typeface="Arial" pitchFamily="34" charset="0"/>
                <a:ea typeface="Arial" pitchFamily="34" charset="-122"/>
                <a:cs typeface="Arial" pitchFamily="34" charset="-120"/>
              </a:rPr>
              <a:t>9</a:t>
            </a:r>
            <a:endParaRPr lang="en-US" sz="10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11F"/>
        </a:solidFill>
      </p:bgPr>
    </p:bg>
    <p:spTree>
      <p:nvGrpSpPr>
        <p:cNvPr id="1" name=""/>
        <p:cNvGrpSpPr/>
        <p:nvPr/>
      </p:nvGrpSpPr>
      <p:grpSpPr>
        <a:xfrm>
          <a:off x="0" y="0"/>
          <a:ext cx="0" cy="0"/>
          <a:chOff x="0" y="0"/>
          <a:chExt cx="0" cy="0"/>
        </a:xfrm>
      </p:grpSpPr>
      <p:sp>
        <p:nvSpPr>
          <p:cNvPr id="2" name="Shape 0"/>
          <p:cNvSpPr/>
          <p:nvPr/>
        </p:nvSpPr>
        <p:spPr>
          <a:xfrm>
            <a:off x="548640" y="411480"/>
            <a:ext cx="2355494" cy="310896"/>
          </a:xfrm>
          <a:prstGeom prst="roundRect">
            <a:avLst>
              <a:gd name="adj" fmla="val 50000"/>
            </a:avLst>
          </a:prstGeom>
          <a:solidFill>
            <a:srgbClr val="FFFFFF"/>
          </a:solidFill>
          <a:ln w="12700">
            <a:solidFill>
              <a:srgbClr val="FFFFFF"/>
            </a:solidFill>
            <a:prstDash val="solid"/>
          </a:ln>
        </p:spPr>
      </p:sp>
      <p:sp>
        <p:nvSpPr>
          <p:cNvPr id="3" name="Text 1"/>
          <p:cNvSpPr txBox="1"/>
          <p:nvPr/>
        </p:nvSpPr>
        <p:spPr>
          <a:xfrm>
            <a:off x="548640" y="411480"/>
            <a:ext cx="2355494" cy="310896"/>
          </a:xfrm>
          <a:prstGeom prst="rect">
            <a:avLst/>
          </a:prstGeom>
          <a:noFill/>
          <a:ln/>
        </p:spPr>
        <p:txBody>
          <a:bodyPr wrap="square" lIns="0" tIns="0" rIns="0" bIns="0" rtlCol="0" anchor="ctr"/>
          <a:lstStyle/>
          <a:p>
            <a:pPr algn="ctr" indent="0" marL="0">
              <a:buNone/>
            </a:pPr>
            <a:r>
              <a:rPr lang="en-US" sz="1050" b="1" spc="200" kern="0" dirty="0">
                <a:solidFill>
                  <a:srgbClr val="12211F"/>
                </a:solidFill>
                <a:latin typeface="Arial" pitchFamily="34" charset="0"/>
                <a:ea typeface="Arial" pitchFamily="34" charset="-122"/>
                <a:cs typeface="Arial" pitchFamily="34" charset="-120"/>
              </a:rPr>
              <a:t>PART 4  ·  CONCLUSIONS</a:t>
            </a:r>
            <a:endParaRPr lang="en-US" sz="1050" dirty="0"/>
          </a:p>
        </p:txBody>
      </p:sp>
      <p:sp>
        <p:nvSpPr>
          <p:cNvPr id="4" name="Text 2"/>
          <p:cNvSpPr txBox="1"/>
          <p:nvPr/>
        </p:nvSpPr>
        <p:spPr>
          <a:xfrm>
            <a:off x="548640" y="841248"/>
            <a:ext cx="11094415" cy="914400"/>
          </a:xfrm>
          <a:prstGeom prst="rect">
            <a:avLst/>
          </a:prstGeom>
          <a:noFill/>
          <a:ln/>
        </p:spPr>
        <p:txBody>
          <a:bodyPr wrap="square" lIns="0" tIns="0" rIns="0" bIns="0" rtlCol="0" anchor="t"/>
          <a:lstStyle/>
          <a:p>
            <a:pPr indent="0" marL="0">
              <a:buNone/>
            </a:pPr>
            <a:r>
              <a:rPr lang="en-US" sz="3200" b="1" dirty="0">
                <a:solidFill>
                  <a:srgbClr val="FFFFFF"/>
                </a:solidFill>
                <a:latin typeface="Georgia" pitchFamily="34" charset="0"/>
                <a:ea typeface="Georgia" pitchFamily="34" charset="-122"/>
                <a:cs typeface="Georgia" pitchFamily="34" charset="-120"/>
              </a:rPr>
              <a:t>So, should HR call them? Yes, in the right order.</a:t>
            </a:r>
            <a:endParaRPr lang="en-US" sz="3200" dirty="0"/>
          </a:p>
        </p:txBody>
      </p:sp>
      <p:sp>
        <p:nvSpPr>
          <p:cNvPr id="5" name="Text 3"/>
          <p:cNvSpPr txBox="1"/>
          <p:nvPr/>
        </p:nvSpPr>
        <p:spPr>
          <a:xfrm>
            <a:off x="548640" y="1828800"/>
            <a:ext cx="10515600" cy="457200"/>
          </a:xfrm>
          <a:prstGeom prst="rect">
            <a:avLst/>
          </a:prstGeom>
          <a:noFill/>
          <a:ln/>
        </p:spPr>
        <p:txBody>
          <a:bodyPr wrap="square" lIns="0" tIns="0" rIns="0" bIns="0" rtlCol="0" anchor="t"/>
          <a:lstStyle/>
          <a:p>
            <a:pPr indent="0" marL="0">
              <a:buNone/>
            </a:pPr>
            <a:r>
              <a:rPr lang="en-US" sz="1500" dirty="0">
                <a:solidFill>
                  <a:srgbClr val="B9C6C2"/>
                </a:solidFill>
                <a:latin typeface="Arial" pitchFamily="34" charset="0"/>
                <a:ea typeface="Arial" pitchFamily="34" charset="-122"/>
                <a:cs typeface="Arial" pitchFamily="34" charset="-120"/>
              </a:rPr>
              <a:t>Test ROC-AUC 0.81, against 0.50 for a coin flip. Across five different random splits it stays between 0.78 and 0.81.</a:t>
            </a:r>
            <a:endParaRPr lang="en-US" sz="1500" dirty="0"/>
          </a:p>
        </p:txBody>
      </p:sp>
      <p:sp>
        <p:nvSpPr>
          <p:cNvPr id="6" name="Text 4"/>
          <p:cNvSpPr txBox="1"/>
          <p:nvPr/>
        </p:nvSpPr>
        <p:spPr>
          <a:xfrm>
            <a:off x="548640" y="2788920"/>
            <a:ext cx="914400" cy="914400"/>
          </a:xfrm>
          <a:prstGeom prst="rect">
            <a:avLst/>
          </a:prstGeom>
          <a:noFill/>
          <a:ln/>
        </p:spPr>
        <p:txBody>
          <a:bodyPr wrap="square" lIns="0" tIns="0" rIns="0" bIns="0" rtlCol="0" anchor="t"/>
          <a:lstStyle/>
          <a:p>
            <a:pPr indent="0" marL="0">
              <a:buNone/>
            </a:pPr>
            <a:r>
              <a:rPr lang="en-US" sz="6000" b="1" dirty="0">
                <a:solidFill>
                  <a:srgbClr val="E4572E"/>
                </a:solidFill>
                <a:latin typeface="Georgia" pitchFamily="34" charset="0"/>
                <a:ea typeface="Georgia" pitchFamily="34" charset="-122"/>
                <a:cs typeface="Georgia" pitchFamily="34" charset="-120"/>
              </a:rPr>
              <a:t>1</a:t>
            </a:r>
            <a:endParaRPr lang="en-US" sz="6000" dirty="0"/>
          </a:p>
        </p:txBody>
      </p:sp>
      <p:sp>
        <p:nvSpPr>
          <p:cNvPr id="7" name="Text 5"/>
          <p:cNvSpPr txBox="1"/>
          <p:nvPr/>
        </p:nvSpPr>
        <p:spPr>
          <a:xfrm>
            <a:off x="548640" y="3840480"/>
            <a:ext cx="342900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Rank, don't label</a:t>
            </a:r>
            <a:endParaRPr lang="en-US" sz="1800" dirty="0"/>
          </a:p>
        </p:txBody>
      </p:sp>
      <p:sp>
        <p:nvSpPr>
          <p:cNvPr id="8" name="Text 6"/>
          <p:cNvSpPr txBox="1"/>
          <p:nvPr/>
        </p:nvSpPr>
        <p:spPr>
          <a:xfrm>
            <a:off x="548640" y="4315968"/>
            <a:ext cx="3429000" cy="1097280"/>
          </a:xfrm>
          <a:prstGeom prst="rect">
            <a:avLst/>
          </a:prstGeom>
          <a:noFill/>
          <a:ln/>
        </p:spPr>
        <p:txBody>
          <a:bodyPr wrap="square" lIns="0" tIns="0" rIns="0" bIns="0" rtlCol="0" anchor="t"/>
          <a:lstStyle/>
          <a:p>
            <a:pPr indent="0" marL="0">
              <a:buNone/>
            </a:pPr>
            <a:r>
              <a:rPr lang="en-US" sz="1400" dirty="0">
                <a:solidFill>
                  <a:srgbClr val="B9C6C2"/>
                </a:solidFill>
                <a:latin typeface="Arial" pitchFamily="34" charset="0"/>
                <a:ea typeface="Arial" pitchFamily="34" charset="-122"/>
                <a:cs typeface="Arial" pitchFamily="34" charset="-120"/>
              </a:rPr>
              <a:t>Use the score to decide who to call first, never as a yes or no verdict on a person.</a:t>
            </a:r>
            <a:endParaRPr lang="en-US" sz="1400" dirty="0"/>
          </a:p>
        </p:txBody>
      </p:sp>
      <p:sp>
        <p:nvSpPr>
          <p:cNvPr id="9" name="Text 7"/>
          <p:cNvSpPr txBox="1"/>
          <p:nvPr/>
        </p:nvSpPr>
        <p:spPr>
          <a:xfrm>
            <a:off x="4297680" y="2788920"/>
            <a:ext cx="914400" cy="914400"/>
          </a:xfrm>
          <a:prstGeom prst="rect">
            <a:avLst/>
          </a:prstGeom>
          <a:noFill/>
          <a:ln/>
        </p:spPr>
        <p:txBody>
          <a:bodyPr wrap="square" lIns="0" tIns="0" rIns="0" bIns="0" rtlCol="0" anchor="t"/>
          <a:lstStyle/>
          <a:p>
            <a:pPr indent="0" marL="0">
              <a:buNone/>
            </a:pPr>
            <a:r>
              <a:rPr lang="en-US" sz="6000" b="1" dirty="0">
                <a:solidFill>
                  <a:srgbClr val="E4572E"/>
                </a:solidFill>
                <a:latin typeface="Georgia" pitchFamily="34" charset="0"/>
                <a:ea typeface="Georgia" pitchFamily="34" charset="-122"/>
                <a:cs typeface="Georgia" pitchFamily="34" charset="-120"/>
              </a:rPr>
              <a:t>2</a:t>
            </a:r>
            <a:endParaRPr lang="en-US" sz="6000" dirty="0"/>
          </a:p>
        </p:txBody>
      </p:sp>
      <p:sp>
        <p:nvSpPr>
          <p:cNvPr id="10" name="Text 8"/>
          <p:cNvSpPr txBox="1"/>
          <p:nvPr/>
        </p:nvSpPr>
        <p:spPr>
          <a:xfrm>
            <a:off x="4297680" y="3840480"/>
            <a:ext cx="342900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Set the cut-off by capacity</a:t>
            </a:r>
            <a:endParaRPr lang="en-US" sz="1800" dirty="0"/>
          </a:p>
        </p:txBody>
      </p:sp>
      <p:sp>
        <p:nvSpPr>
          <p:cNvPr id="11" name="Text 9"/>
          <p:cNvSpPr txBox="1"/>
          <p:nvPr/>
        </p:nvSpPr>
        <p:spPr>
          <a:xfrm>
            <a:off x="4297680" y="4315968"/>
            <a:ext cx="3429000" cy="1097280"/>
          </a:xfrm>
          <a:prstGeom prst="rect">
            <a:avLst/>
          </a:prstGeom>
          <a:noFill/>
          <a:ln/>
        </p:spPr>
        <p:txBody>
          <a:bodyPr wrap="square" lIns="0" tIns="0" rIns="0" bIns="0" rtlCol="0" anchor="t"/>
          <a:lstStyle/>
          <a:p>
            <a:pPr indent="0" marL="0">
              <a:buNone/>
            </a:pPr>
            <a:r>
              <a:rPr lang="en-US" sz="1400" dirty="0">
                <a:solidFill>
                  <a:srgbClr val="B9C6C2"/>
                </a:solidFill>
                <a:latin typeface="Arial" pitchFamily="34" charset="0"/>
                <a:ea typeface="Arial" pitchFamily="34" charset="-122"/>
                <a:cs typeface="Arial" pitchFamily="34" charset="-120"/>
              </a:rPr>
              <a:t>0.5 when HR wants coverage, 0.7 when recruiter time is short.</a:t>
            </a:r>
            <a:endParaRPr lang="en-US" sz="1400" dirty="0"/>
          </a:p>
        </p:txBody>
      </p:sp>
      <p:sp>
        <p:nvSpPr>
          <p:cNvPr id="12" name="Text 10"/>
          <p:cNvSpPr txBox="1"/>
          <p:nvPr/>
        </p:nvSpPr>
        <p:spPr>
          <a:xfrm>
            <a:off x="8046720" y="2788920"/>
            <a:ext cx="914400" cy="914400"/>
          </a:xfrm>
          <a:prstGeom prst="rect">
            <a:avLst/>
          </a:prstGeom>
          <a:noFill/>
          <a:ln/>
        </p:spPr>
        <p:txBody>
          <a:bodyPr wrap="square" lIns="0" tIns="0" rIns="0" bIns="0" rtlCol="0" anchor="t"/>
          <a:lstStyle/>
          <a:p>
            <a:pPr indent="0" marL="0">
              <a:buNone/>
            </a:pPr>
            <a:r>
              <a:rPr lang="en-US" sz="6000" b="1" dirty="0">
                <a:solidFill>
                  <a:srgbClr val="E4572E"/>
                </a:solidFill>
                <a:latin typeface="Georgia" pitchFamily="34" charset="0"/>
                <a:ea typeface="Georgia" pitchFamily="34" charset="-122"/>
                <a:cs typeface="Georgia" pitchFamily="34" charset="-120"/>
              </a:rPr>
              <a:t>3</a:t>
            </a:r>
            <a:endParaRPr lang="en-US" sz="6000" dirty="0"/>
          </a:p>
        </p:txBody>
      </p:sp>
      <p:sp>
        <p:nvSpPr>
          <p:cNvPr id="13" name="Text 11"/>
          <p:cNvSpPr txBox="1"/>
          <p:nvPr/>
        </p:nvSpPr>
        <p:spPr>
          <a:xfrm>
            <a:off x="8046720" y="3840480"/>
            <a:ext cx="342900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Target where movers are</a:t>
            </a:r>
            <a:endParaRPr lang="en-US" sz="1800" dirty="0"/>
          </a:p>
        </p:txBody>
      </p:sp>
      <p:sp>
        <p:nvSpPr>
          <p:cNvPr id="14" name="Text 12"/>
          <p:cNvSpPr txBox="1"/>
          <p:nvPr/>
        </p:nvSpPr>
        <p:spPr>
          <a:xfrm>
            <a:off x="8046720" y="4315968"/>
            <a:ext cx="3429000" cy="1097280"/>
          </a:xfrm>
          <a:prstGeom prst="rect">
            <a:avLst/>
          </a:prstGeom>
          <a:noFill/>
          <a:ln/>
        </p:spPr>
        <p:txBody>
          <a:bodyPr wrap="square" lIns="0" tIns="0" rIns="0" bIns="0" rtlCol="0" anchor="t"/>
          <a:lstStyle/>
          <a:p>
            <a:pPr indent="0" marL="0">
              <a:buNone/>
            </a:pPr>
            <a:r>
              <a:rPr lang="en-US" sz="1400" dirty="0">
                <a:solidFill>
                  <a:srgbClr val="B9C6C2"/>
                </a:solidFill>
                <a:latin typeface="Arial" pitchFamily="34" charset="0"/>
                <a:ea typeface="Arial" pitchFamily="34" charset="-122"/>
                <a:cs typeface="Arial" pitchFamily="34" charset="-120"/>
              </a:rPr>
              <a:t>Trainees from less developed cities and people early in their careers.</a:t>
            </a:r>
            <a:endParaRPr lang="en-US" sz="1400" dirty="0"/>
          </a:p>
        </p:txBody>
      </p:sp>
      <p:sp>
        <p:nvSpPr>
          <p:cNvPr id="15" name="Shape 13"/>
          <p:cNvSpPr/>
          <p:nvPr/>
        </p:nvSpPr>
        <p:spPr>
          <a:xfrm>
            <a:off x="548640" y="6144768"/>
            <a:ext cx="182880" cy="182880"/>
          </a:xfrm>
          <a:prstGeom prst="ellipse">
            <a:avLst/>
          </a:prstGeom>
          <a:solidFill>
            <a:srgbClr val="2C3F3B"/>
          </a:solidFill>
          <a:ln w="12700">
            <a:solidFill>
              <a:srgbClr val="2C3F3B"/>
            </a:solidFill>
            <a:prstDash val="solid"/>
          </a:ln>
        </p:spPr>
      </p:sp>
      <p:sp>
        <p:nvSpPr>
          <p:cNvPr id="16" name="Shape 14"/>
          <p:cNvSpPr/>
          <p:nvPr/>
        </p:nvSpPr>
        <p:spPr>
          <a:xfrm>
            <a:off x="841248" y="6144768"/>
            <a:ext cx="182880" cy="182880"/>
          </a:xfrm>
          <a:prstGeom prst="ellipse">
            <a:avLst/>
          </a:prstGeom>
          <a:solidFill>
            <a:srgbClr val="E4572E"/>
          </a:solidFill>
          <a:ln w="12700">
            <a:solidFill>
              <a:srgbClr val="E4572E"/>
            </a:solidFill>
            <a:prstDash val="solid"/>
          </a:ln>
        </p:spPr>
      </p:sp>
      <p:sp>
        <p:nvSpPr>
          <p:cNvPr id="17" name="Shape 15"/>
          <p:cNvSpPr/>
          <p:nvPr/>
        </p:nvSpPr>
        <p:spPr>
          <a:xfrm>
            <a:off x="1133856" y="6144768"/>
            <a:ext cx="182880" cy="182880"/>
          </a:xfrm>
          <a:prstGeom prst="ellipse">
            <a:avLst/>
          </a:prstGeom>
          <a:solidFill>
            <a:srgbClr val="2C3F3B"/>
          </a:solidFill>
          <a:ln w="12700">
            <a:solidFill>
              <a:srgbClr val="2C3F3B"/>
            </a:solidFill>
            <a:prstDash val="solid"/>
          </a:ln>
        </p:spPr>
      </p:sp>
      <p:sp>
        <p:nvSpPr>
          <p:cNvPr id="18" name="Shape 16"/>
          <p:cNvSpPr/>
          <p:nvPr/>
        </p:nvSpPr>
        <p:spPr>
          <a:xfrm>
            <a:off x="1426464" y="6144768"/>
            <a:ext cx="182880" cy="182880"/>
          </a:xfrm>
          <a:prstGeom prst="ellipse">
            <a:avLst/>
          </a:prstGeom>
          <a:solidFill>
            <a:srgbClr val="2C3F3B"/>
          </a:solidFill>
          <a:ln w="12700">
            <a:solidFill>
              <a:srgbClr val="2C3F3B"/>
            </a:solidFill>
            <a:prstDash val="solid"/>
          </a:ln>
        </p:spPr>
      </p:sp>
      <p:sp>
        <p:nvSpPr>
          <p:cNvPr id="19" name="Text 17"/>
          <p:cNvSpPr txBox="1"/>
          <p:nvPr/>
        </p:nvSpPr>
        <p:spPr>
          <a:xfrm>
            <a:off x="1828800" y="6080760"/>
            <a:ext cx="5486400" cy="310896"/>
          </a:xfrm>
          <a:prstGeom prst="rect">
            <a:avLst/>
          </a:prstGeom>
          <a:noFill/>
          <a:ln/>
        </p:spPr>
        <p:txBody>
          <a:bodyPr wrap="square" lIns="0" tIns="0" rIns="0" bIns="0" rtlCol="0" anchor="ctr"/>
          <a:lstStyle/>
          <a:p>
            <a:pPr indent="0" marL="0">
              <a:buNone/>
            </a:pPr>
            <a:r>
              <a:rPr lang="en-US" sz="1100" dirty="0">
                <a:solidFill>
                  <a:srgbClr val="B9C6C2"/>
                </a:solidFill>
                <a:latin typeface="Arial" pitchFamily="34" charset="0"/>
                <a:ea typeface="Arial" pitchFamily="34" charset="-122"/>
                <a:cs typeface="Arial" pitchFamily="34" charset="-120"/>
              </a:rPr>
              <a:t>Remember: 1 in 4 trainees is looking to move</a:t>
            </a:r>
            <a:endParaRPr lang="en-US" sz="1100" dirty="0"/>
          </a:p>
        </p:txBody>
      </p:sp>
      <p:sp>
        <p:nvSpPr>
          <p:cNvPr id="20" name="Text 18"/>
          <p:cNvSpPr txBox="1"/>
          <p:nvPr/>
        </p:nvSpPr>
        <p:spPr>
          <a:xfrm>
            <a:off x="11094415" y="6446520"/>
            <a:ext cx="548640" cy="256032"/>
          </a:xfrm>
          <a:prstGeom prst="rect">
            <a:avLst/>
          </a:prstGeom>
          <a:noFill/>
          <a:ln/>
        </p:spPr>
        <p:txBody>
          <a:bodyPr wrap="square" lIns="0" tIns="0" rIns="0" bIns="0" rtlCol="0" anchor="ctr"/>
          <a:lstStyle/>
          <a:p>
            <a:pPr algn="r" indent="0" marL="0">
              <a:buNone/>
            </a:pPr>
            <a:r>
              <a:rPr lang="en-US" sz="1000" dirty="0">
                <a:solidFill>
                  <a:srgbClr val="B9C6C2"/>
                </a:solidFill>
                <a:latin typeface="Arial" pitchFamily="34" charset="0"/>
                <a:ea typeface="Arial" pitchFamily="34" charset="-122"/>
                <a:cs typeface="Arial" pitchFamily="34" charset="-120"/>
              </a:rPr>
              <a:t>10</a:t>
            </a:r>
            <a:endParaRPr lang="en-US" sz="10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610051" cy="310896"/>
          </a:xfrm>
          <a:prstGeom prst="roundRect">
            <a:avLst>
              <a:gd name="adj" fmla="val 50000"/>
            </a:avLst>
          </a:prstGeom>
          <a:solidFill>
            <a:srgbClr val="12211F"/>
          </a:solidFill>
          <a:ln w="12700">
            <a:solidFill>
              <a:srgbClr val="12211F"/>
            </a:solidFill>
            <a:prstDash val="solid"/>
          </a:ln>
        </p:spPr>
      </p:sp>
      <p:sp>
        <p:nvSpPr>
          <p:cNvPr id="3" name="Text 1"/>
          <p:cNvSpPr txBox="1"/>
          <p:nvPr/>
        </p:nvSpPr>
        <p:spPr>
          <a:xfrm>
            <a:off x="548640" y="411480"/>
            <a:ext cx="3610051" cy="310896"/>
          </a:xfrm>
          <a:prstGeom prst="rect">
            <a:avLst/>
          </a:prstGeom>
          <a:noFill/>
          <a:ln/>
        </p:spPr>
        <p:txBody>
          <a:bodyPr wrap="square" lIns="0" tIns="0" rIns="0" bIns="0" rtlCol="0" anchor="ctr"/>
          <a:lstStyle/>
          <a:p>
            <a:pPr algn="ctr" indent="0" marL="0">
              <a:buNone/>
            </a:pPr>
            <a:r>
              <a:rPr lang="en-US" sz="1050" b="1" spc="200" kern="0" dirty="0">
                <a:solidFill>
                  <a:srgbClr val="FFFFFF"/>
                </a:solidFill>
                <a:latin typeface="Arial" pitchFamily="34" charset="0"/>
                <a:ea typeface="Arial" pitchFamily="34" charset="-122"/>
                <a:cs typeface="Arial" pitchFamily="34" charset="-120"/>
              </a:rPr>
              <a:t>PART 4  ·  LIMITATIONS &amp; WAY FORWARD</a:t>
            </a:r>
            <a:endParaRPr lang="en-US" sz="1050" dirty="0"/>
          </a:p>
        </p:txBody>
      </p:sp>
      <p:sp>
        <p:nvSpPr>
          <p:cNvPr id="4" name="Text 2"/>
          <p:cNvSpPr txBox="1"/>
          <p:nvPr/>
        </p:nvSpPr>
        <p:spPr>
          <a:xfrm>
            <a:off x="548640" y="841248"/>
            <a:ext cx="11094415" cy="914400"/>
          </a:xfrm>
          <a:prstGeom prst="rect">
            <a:avLst/>
          </a:prstGeom>
          <a:noFill/>
          <a:ln/>
        </p:spPr>
        <p:txBody>
          <a:bodyPr wrap="square" lIns="0" tIns="0" rIns="0" bIns="0" rtlCol="0" anchor="t"/>
          <a:lstStyle/>
          <a:p>
            <a:pPr indent="0" marL="0">
              <a:buNone/>
            </a:pPr>
            <a:r>
              <a:rPr lang="en-US" sz="3200" b="1" dirty="0">
                <a:solidFill>
                  <a:srgbClr val="16201E"/>
                </a:solidFill>
                <a:latin typeface="Georgia" pitchFamily="34" charset="0"/>
                <a:ea typeface="Georgia" pitchFamily="34" charset="-122"/>
                <a:cs typeface="Georgia" pitchFamily="34" charset="-120"/>
              </a:rPr>
              <a:t>Things our model is bad at, and what we'd do next</a:t>
            </a:r>
            <a:endParaRPr lang="en-US" sz="3200" dirty="0"/>
          </a:p>
        </p:txBody>
      </p:sp>
      <p:sp>
        <p:nvSpPr>
          <p:cNvPr id="5" name="Text 3"/>
          <p:cNvSpPr txBox="1"/>
          <p:nvPr/>
        </p:nvSpPr>
        <p:spPr>
          <a:xfrm>
            <a:off x="548640" y="1874520"/>
            <a:ext cx="5029200" cy="274320"/>
          </a:xfrm>
          <a:prstGeom prst="rect">
            <a:avLst/>
          </a:prstGeom>
          <a:noFill/>
          <a:ln/>
        </p:spPr>
        <p:txBody>
          <a:bodyPr wrap="square" lIns="0" tIns="0" rIns="0" bIns="0" rtlCol="0" anchor="t"/>
          <a:lstStyle/>
          <a:p>
            <a:pPr indent="0" marL="0">
              <a:buNone/>
            </a:pPr>
            <a:r>
              <a:rPr lang="en-US" sz="1100" b="1" spc="200" kern="0" dirty="0">
                <a:solidFill>
                  <a:srgbClr val="E4572E"/>
                </a:solidFill>
                <a:latin typeface="Arial" pitchFamily="34" charset="0"/>
                <a:ea typeface="Arial" pitchFamily="34" charset="-122"/>
                <a:cs typeface="Arial" pitchFamily="34" charset="-120"/>
              </a:rPr>
              <a:t>LIMITATIONS</a:t>
            </a:r>
            <a:endParaRPr lang="en-US" sz="1100" dirty="0"/>
          </a:p>
        </p:txBody>
      </p:sp>
      <p:sp>
        <p:nvSpPr>
          <p:cNvPr id="6" name="Shape 4"/>
          <p:cNvSpPr/>
          <p:nvPr/>
        </p:nvSpPr>
        <p:spPr>
          <a:xfrm>
            <a:off x="548640" y="2386584"/>
            <a:ext cx="512064" cy="512064"/>
          </a:xfrm>
          <a:prstGeom prst="ellipse">
            <a:avLst/>
          </a:prstGeom>
          <a:solidFill>
            <a:srgbClr val="E4572E"/>
          </a:solidFill>
          <a:ln w="12700">
            <a:solidFill>
              <a:srgbClr val="E4572E"/>
            </a:solidFill>
            <a:prstDash val="solid"/>
          </a:ln>
        </p:spPr>
      </p:sp>
      <p:pic>
        <p:nvPicPr>
          <p:cNvPr id="7" name="Image 0" descr="preencoded.png">    </p:cNvPr>
          <p:cNvPicPr>
            <a:picLocks noChangeAspect="1"/>
          </p:cNvPicPr>
          <p:nvPr/>
        </p:nvPicPr>
        <p:blipFill>
          <a:blip r:embed="rId1"/>
          <a:stretch>
            <a:fillRect/>
          </a:stretch>
        </p:blipFill>
        <p:spPr>
          <a:xfrm>
            <a:off x="671535" y="2509479"/>
            <a:ext cx="266273" cy="266273"/>
          </a:xfrm>
          <a:prstGeom prst="rect">
            <a:avLst/>
          </a:prstGeom>
        </p:spPr>
      </p:pic>
      <p:sp>
        <p:nvSpPr>
          <p:cNvPr id="8" name="Text 5"/>
          <p:cNvSpPr txBox="1"/>
          <p:nvPr/>
        </p:nvSpPr>
        <p:spPr>
          <a:xfrm>
            <a:off x="1261872" y="2286000"/>
            <a:ext cx="4663440" cy="777240"/>
          </a:xfrm>
          <a:prstGeom prst="rect">
            <a:avLst/>
          </a:prstGeom>
          <a:noFill/>
          <a:ln/>
        </p:spPr>
        <p:txBody>
          <a:bodyPr wrap="square" lIns="0" tIns="0" rIns="0" bIns="0" rtlCol="0" anchor="ctr"/>
          <a:lstStyle/>
          <a:p>
            <a:pPr indent="0" marL="0">
              <a:buNone/>
            </a:pPr>
            <a:r>
              <a:rPr lang="en-US" sz="1400" b="1" dirty="0">
                <a:solidFill>
                  <a:srgbClr val="16201E"/>
                </a:solidFill>
                <a:latin typeface="Arial" pitchFamily="34" charset="0"/>
                <a:ea typeface="Arial" pitchFamily="34" charset="-122"/>
                <a:cs typeface="Arial" pitchFamily="34" charset="-120"/>
              </a:rPr>
              <a:t>1 in 2 flags is a false positive</a:t>
            </a:r>
            <a:endParaRPr lang="en-US" sz="1400" dirty="0"/>
          </a:p>
          <a:p>
            <a:pPr indent="0" marL="0">
              <a:buNone/>
            </a:pPr>
            <a:r>
              <a:rPr lang="en-US" sz="1200" dirty="0">
                <a:solidFill>
                  <a:srgbClr val="5B6663"/>
                </a:solidFill>
                <a:latin typeface="Arial" pitchFamily="34" charset="0"/>
                <a:ea typeface="Arial" pitchFamily="34" charset="-122"/>
                <a:cs typeface="Arial" pitchFamily="34" charset="-120"/>
              </a:rPr>
              <a:t>Some people just like free courses. A recruiter still reviews every case</a:t>
            </a:r>
            <a:endParaRPr lang="en-US" sz="1400" dirty="0"/>
          </a:p>
        </p:txBody>
      </p:sp>
      <p:sp>
        <p:nvSpPr>
          <p:cNvPr id="9" name="Shape 6"/>
          <p:cNvSpPr/>
          <p:nvPr/>
        </p:nvSpPr>
        <p:spPr>
          <a:xfrm>
            <a:off x="548640" y="3392424"/>
            <a:ext cx="512064" cy="512064"/>
          </a:xfrm>
          <a:prstGeom prst="ellipse">
            <a:avLst/>
          </a:prstGeom>
          <a:solidFill>
            <a:srgbClr val="E4572E"/>
          </a:solidFill>
          <a:ln w="12700">
            <a:solidFill>
              <a:srgbClr val="E4572E"/>
            </a:solidFill>
            <a:prstDash val="solid"/>
          </a:ln>
        </p:spPr>
      </p:sp>
      <p:pic>
        <p:nvPicPr>
          <p:cNvPr id="10" name="Image 1" descr="preencoded.png">    </p:cNvPr>
          <p:cNvPicPr>
            <a:picLocks noChangeAspect="1"/>
          </p:cNvPicPr>
          <p:nvPr/>
        </p:nvPicPr>
        <p:blipFill>
          <a:blip r:embed="rId2"/>
          <a:stretch>
            <a:fillRect/>
          </a:stretch>
        </p:blipFill>
        <p:spPr>
          <a:xfrm>
            <a:off x="671535" y="3515319"/>
            <a:ext cx="266273" cy="266273"/>
          </a:xfrm>
          <a:prstGeom prst="rect">
            <a:avLst/>
          </a:prstGeom>
        </p:spPr>
      </p:pic>
      <p:sp>
        <p:nvSpPr>
          <p:cNvPr id="11" name="Text 7"/>
          <p:cNvSpPr txBox="1"/>
          <p:nvPr/>
        </p:nvSpPr>
        <p:spPr>
          <a:xfrm>
            <a:off x="1261872" y="3291840"/>
            <a:ext cx="4663440" cy="777240"/>
          </a:xfrm>
          <a:prstGeom prst="rect">
            <a:avLst/>
          </a:prstGeom>
          <a:noFill/>
          <a:ln/>
        </p:spPr>
        <p:txBody>
          <a:bodyPr wrap="square" lIns="0" tIns="0" rIns="0" bIns="0" rtlCol="0" anchor="ctr"/>
          <a:lstStyle/>
          <a:p>
            <a:pPr indent="0" marL="0">
              <a:buNone/>
            </a:pPr>
            <a:r>
              <a:rPr lang="en-US" sz="1400" b="1" dirty="0">
                <a:solidFill>
                  <a:srgbClr val="16201E"/>
                </a:solidFill>
                <a:latin typeface="Arial" pitchFamily="34" charset="0"/>
                <a:ea typeface="Arial" pitchFamily="34" charset="-122"/>
                <a:cs typeface="Arial" pitchFamily="34" charset="-120"/>
              </a:rPr>
              <a:t>Possible proxy bias</a:t>
            </a:r>
            <a:endParaRPr lang="en-US" sz="1400" dirty="0"/>
          </a:p>
          <a:p>
            <a:pPr indent="0" marL="0">
              <a:buNone/>
            </a:pPr>
            <a:r>
              <a:rPr lang="en-US" sz="1200" dirty="0">
                <a:solidFill>
                  <a:srgbClr val="5B6663"/>
                </a:solidFill>
                <a:latin typeface="Arial" pitchFamily="34" charset="0"/>
                <a:ea typeface="Arial" pitchFamily="34" charset="-122"/>
                <a:cs typeface="Arial" pitchFamily="34" charset="-120"/>
              </a:rPr>
              <a:t>Gender and city can stand in for background, so a fairness check is needed</a:t>
            </a:r>
            <a:endParaRPr lang="en-US" sz="1400" dirty="0"/>
          </a:p>
        </p:txBody>
      </p:sp>
      <p:sp>
        <p:nvSpPr>
          <p:cNvPr id="12" name="Shape 8"/>
          <p:cNvSpPr/>
          <p:nvPr/>
        </p:nvSpPr>
        <p:spPr>
          <a:xfrm>
            <a:off x="548640" y="4398264"/>
            <a:ext cx="512064" cy="512064"/>
          </a:xfrm>
          <a:prstGeom prst="ellipse">
            <a:avLst/>
          </a:prstGeom>
          <a:solidFill>
            <a:srgbClr val="E4572E"/>
          </a:solidFill>
          <a:ln w="12700">
            <a:solidFill>
              <a:srgbClr val="E4572E"/>
            </a:solidFill>
            <a:prstDash val="solid"/>
          </a:ln>
        </p:spPr>
      </p:sp>
      <p:pic>
        <p:nvPicPr>
          <p:cNvPr id="13" name="Image 2" descr="preencoded.png">    </p:cNvPr>
          <p:cNvPicPr>
            <a:picLocks noChangeAspect="1"/>
          </p:cNvPicPr>
          <p:nvPr/>
        </p:nvPicPr>
        <p:blipFill>
          <a:blip r:embed="rId3"/>
          <a:stretch>
            <a:fillRect/>
          </a:stretch>
        </p:blipFill>
        <p:spPr>
          <a:xfrm>
            <a:off x="671535" y="4521159"/>
            <a:ext cx="266273" cy="266273"/>
          </a:xfrm>
          <a:prstGeom prst="rect">
            <a:avLst/>
          </a:prstGeom>
        </p:spPr>
      </p:pic>
      <p:sp>
        <p:nvSpPr>
          <p:cNvPr id="14" name="Text 9"/>
          <p:cNvSpPr txBox="1"/>
          <p:nvPr/>
        </p:nvSpPr>
        <p:spPr>
          <a:xfrm>
            <a:off x="1261872" y="4297680"/>
            <a:ext cx="4663440" cy="777240"/>
          </a:xfrm>
          <a:prstGeom prst="rect">
            <a:avLst/>
          </a:prstGeom>
          <a:noFill/>
          <a:ln/>
        </p:spPr>
        <p:txBody>
          <a:bodyPr wrap="square" lIns="0" tIns="0" rIns="0" bIns="0" rtlCol="0" anchor="ctr"/>
          <a:lstStyle/>
          <a:p>
            <a:pPr indent="0" marL="0">
              <a:buNone/>
            </a:pPr>
            <a:r>
              <a:rPr lang="en-US" sz="1400" b="1" dirty="0">
                <a:solidFill>
                  <a:srgbClr val="16201E"/>
                </a:solidFill>
                <a:latin typeface="Arial" pitchFamily="34" charset="0"/>
                <a:ea typeface="Arial" pitchFamily="34" charset="-122"/>
                <a:cs typeface="Arial" pitchFamily="34" charset="-120"/>
              </a:rPr>
              <a:t>One programme, one point in time</a:t>
            </a:r>
            <a:endParaRPr lang="en-US" sz="1400" dirty="0"/>
          </a:p>
          <a:p>
            <a:pPr indent="0" marL="0">
              <a:buNone/>
            </a:pPr>
            <a:r>
              <a:rPr lang="en-US" sz="1200" dirty="0">
                <a:solidFill>
                  <a:srgbClr val="5B6663"/>
                </a:solidFill>
                <a:latin typeface="Arial" pitchFamily="34" charset="0"/>
                <a:ea typeface="Arial" pitchFamily="34" charset="-122"/>
                <a:cs typeface="Arial" pitchFamily="34" charset="-120"/>
              </a:rPr>
              <a:t>The model has to be re-checked on newer cohorts</a:t>
            </a:r>
            <a:endParaRPr lang="en-US" sz="1400" dirty="0"/>
          </a:p>
        </p:txBody>
      </p:sp>
      <p:sp>
        <p:nvSpPr>
          <p:cNvPr id="15" name="Shape 10"/>
          <p:cNvSpPr/>
          <p:nvPr/>
        </p:nvSpPr>
        <p:spPr>
          <a:xfrm>
            <a:off x="548640" y="5404104"/>
            <a:ext cx="512064" cy="512064"/>
          </a:xfrm>
          <a:prstGeom prst="ellipse">
            <a:avLst/>
          </a:prstGeom>
          <a:solidFill>
            <a:srgbClr val="E4572E"/>
          </a:solidFill>
          <a:ln w="12700">
            <a:solidFill>
              <a:srgbClr val="E4572E"/>
            </a:solidFill>
            <a:prstDash val="solid"/>
          </a:ln>
        </p:spPr>
      </p:sp>
      <p:pic>
        <p:nvPicPr>
          <p:cNvPr id="16" name="Image 3" descr="preencoded.png">    </p:cNvPr>
          <p:cNvPicPr>
            <a:picLocks noChangeAspect="1"/>
          </p:cNvPicPr>
          <p:nvPr/>
        </p:nvPicPr>
        <p:blipFill>
          <a:blip r:embed="rId4"/>
          <a:stretch>
            <a:fillRect/>
          </a:stretch>
        </p:blipFill>
        <p:spPr>
          <a:xfrm>
            <a:off x="671535" y="5526999"/>
            <a:ext cx="266273" cy="266273"/>
          </a:xfrm>
          <a:prstGeom prst="rect">
            <a:avLst/>
          </a:prstGeom>
        </p:spPr>
      </p:pic>
      <p:sp>
        <p:nvSpPr>
          <p:cNvPr id="17" name="Text 11"/>
          <p:cNvSpPr txBox="1"/>
          <p:nvPr/>
        </p:nvSpPr>
        <p:spPr>
          <a:xfrm>
            <a:off x="1261872" y="5303520"/>
            <a:ext cx="4663440" cy="777240"/>
          </a:xfrm>
          <a:prstGeom prst="rect">
            <a:avLst/>
          </a:prstGeom>
          <a:noFill/>
          <a:ln/>
        </p:spPr>
        <p:txBody>
          <a:bodyPr wrap="square" lIns="0" tIns="0" rIns="0" bIns="0" rtlCol="0" anchor="ctr"/>
          <a:lstStyle/>
          <a:p>
            <a:pPr indent="0" marL="0">
              <a:buNone/>
            </a:pPr>
            <a:r>
              <a:rPr lang="en-US" sz="1400" b="1" dirty="0">
                <a:solidFill>
                  <a:srgbClr val="16201E"/>
                </a:solidFill>
                <a:latin typeface="Arial" pitchFamily="34" charset="0"/>
                <a:ea typeface="Arial" pitchFamily="34" charset="-122"/>
                <a:cs typeface="Arial" pitchFamily="34" charset="-120"/>
              </a:rPr>
              <a:t>Cut-off shown on test data</a:t>
            </a:r>
            <a:endParaRPr lang="en-US" sz="1400" dirty="0"/>
          </a:p>
          <a:p>
            <a:pPr indent="0" marL="0">
              <a:buNone/>
            </a:pPr>
            <a:r>
              <a:rPr lang="en-US" sz="1200" dirty="0">
                <a:solidFill>
                  <a:srgbClr val="5B6663"/>
                </a:solidFill>
                <a:latin typeface="Arial" pitchFamily="34" charset="0"/>
                <a:ea typeface="Arial" pitchFamily="34" charset="-122"/>
                <a:cs typeface="Arial" pitchFamily="34" charset="-120"/>
              </a:rPr>
              <a:t>A real threshold should be chosen on validation data</a:t>
            </a:r>
            <a:endParaRPr lang="en-US" sz="1400" dirty="0"/>
          </a:p>
        </p:txBody>
      </p:sp>
      <p:sp>
        <p:nvSpPr>
          <p:cNvPr id="18" name="Text 12"/>
          <p:cNvSpPr txBox="1"/>
          <p:nvPr/>
        </p:nvSpPr>
        <p:spPr>
          <a:xfrm>
            <a:off x="6217920" y="1874520"/>
            <a:ext cx="5029200" cy="274320"/>
          </a:xfrm>
          <a:prstGeom prst="rect">
            <a:avLst/>
          </a:prstGeom>
          <a:noFill/>
          <a:ln/>
        </p:spPr>
        <p:txBody>
          <a:bodyPr wrap="square" lIns="0" tIns="0" rIns="0" bIns="0" rtlCol="0" anchor="t"/>
          <a:lstStyle/>
          <a:p>
            <a:pPr indent="0" marL="0">
              <a:buNone/>
            </a:pPr>
            <a:r>
              <a:rPr lang="en-US" sz="1100" b="1" spc="200" kern="0" dirty="0">
                <a:solidFill>
                  <a:srgbClr val="2E6B5E"/>
                </a:solidFill>
                <a:latin typeface="Arial" pitchFamily="34" charset="0"/>
                <a:ea typeface="Arial" pitchFamily="34" charset="-122"/>
                <a:cs typeface="Arial" pitchFamily="34" charset="-120"/>
              </a:rPr>
              <a:t>WAY FORWARD</a:t>
            </a:r>
            <a:endParaRPr lang="en-US" sz="1100" dirty="0"/>
          </a:p>
        </p:txBody>
      </p:sp>
      <p:sp>
        <p:nvSpPr>
          <p:cNvPr id="19" name="Shape 13"/>
          <p:cNvSpPr/>
          <p:nvPr/>
        </p:nvSpPr>
        <p:spPr>
          <a:xfrm>
            <a:off x="6217920" y="2386584"/>
            <a:ext cx="512064" cy="512064"/>
          </a:xfrm>
          <a:prstGeom prst="ellipse">
            <a:avLst/>
          </a:prstGeom>
          <a:solidFill>
            <a:srgbClr val="2E6B5E"/>
          </a:solidFill>
          <a:ln w="12700">
            <a:solidFill>
              <a:srgbClr val="2E6B5E"/>
            </a:solidFill>
            <a:prstDash val="solid"/>
          </a:ln>
        </p:spPr>
      </p:sp>
      <p:pic>
        <p:nvPicPr>
          <p:cNvPr id="20" name="Image 4" descr="preencoded.png">    </p:cNvPr>
          <p:cNvPicPr>
            <a:picLocks noChangeAspect="1"/>
          </p:cNvPicPr>
          <p:nvPr/>
        </p:nvPicPr>
        <p:blipFill>
          <a:blip r:embed="rId5"/>
          <a:stretch>
            <a:fillRect/>
          </a:stretch>
        </p:blipFill>
        <p:spPr>
          <a:xfrm>
            <a:off x="6340815" y="2509479"/>
            <a:ext cx="266273" cy="266273"/>
          </a:xfrm>
          <a:prstGeom prst="rect">
            <a:avLst/>
          </a:prstGeom>
        </p:spPr>
      </p:pic>
      <p:sp>
        <p:nvSpPr>
          <p:cNvPr id="21" name="Text 14"/>
          <p:cNvSpPr txBox="1"/>
          <p:nvPr/>
        </p:nvSpPr>
        <p:spPr>
          <a:xfrm>
            <a:off x="6931152" y="2286000"/>
            <a:ext cx="4663440" cy="777240"/>
          </a:xfrm>
          <a:prstGeom prst="rect">
            <a:avLst/>
          </a:prstGeom>
          <a:noFill/>
          <a:ln/>
        </p:spPr>
        <p:txBody>
          <a:bodyPr wrap="square" lIns="0" tIns="0" rIns="0" bIns="0" rtlCol="0" anchor="ctr"/>
          <a:lstStyle/>
          <a:p>
            <a:pPr indent="0" marL="0">
              <a:buNone/>
            </a:pPr>
            <a:r>
              <a:rPr lang="en-US" sz="1400" b="1" dirty="0">
                <a:solidFill>
                  <a:srgbClr val="16201E"/>
                </a:solidFill>
                <a:latin typeface="Arial" pitchFamily="34" charset="0"/>
                <a:ea typeface="Arial" pitchFamily="34" charset="-122"/>
                <a:cs typeface="Arial" pitchFamily="34" charset="-120"/>
              </a:rPr>
              <a:t>Try gradient boosting</a:t>
            </a:r>
            <a:endParaRPr lang="en-US" sz="1400" dirty="0"/>
          </a:p>
          <a:p>
            <a:pPr indent="0" marL="0">
              <a:buNone/>
            </a:pPr>
            <a:r>
              <a:rPr lang="en-US" sz="1200" dirty="0">
                <a:solidFill>
                  <a:srgbClr val="5B6663"/>
                </a:solidFill>
                <a:latin typeface="Arial" pitchFamily="34" charset="0"/>
                <a:ea typeface="Arial" pitchFamily="34" charset="-122"/>
                <a:cs typeface="Arial" pitchFamily="34" charset="-120"/>
              </a:rPr>
              <a:t>LightGBM or CatBoost, plus target encoding for the 123 cities</a:t>
            </a:r>
            <a:endParaRPr lang="en-US" sz="1400" dirty="0"/>
          </a:p>
        </p:txBody>
      </p:sp>
      <p:sp>
        <p:nvSpPr>
          <p:cNvPr id="22" name="Shape 15"/>
          <p:cNvSpPr/>
          <p:nvPr/>
        </p:nvSpPr>
        <p:spPr>
          <a:xfrm>
            <a:off x="6217920" y="3392424"/>
            <a:ext cx="512064" cy="512064"/>
          </a:xfrm>
          <a:prstGeom prst="ellipse">
            <a:avLst/>
          </a:prstGeom>
          <a:solidFill>
            <a:srgbClr val="2E6B5E"/>
          </a:solidFill>
          <a:ln w="12700">
            <a:solidFill>
              <a:srgbClr val="2E6B5E"/>
            </a:solidFill>
            <a:prstDash val="solid"/>
          </a:ln>
        </p:spPr>
      </p:sp>
      <p:pic>
        <p:nvPicPr>
          <p:cNvPr id="23" name="Image 5" descr="preencoded.png">    </p:cNvPr>
          <p:cNvPicPr>
            <a:picLocks noChangeAspect="1"/>
          </p:cNvPicPr>
          <p:nvPr/>
        </p:nvPicPr>
        <p:blipFill>
          <a:blip r:embed="rId6"/>
          <a:stretch>
            <a:fillRect/>
          </a:stretch>
        </p:blipFill>
        <p:spPr>
          <a:xfrm>
            <a:off x="6340815" y="3515319"/>
            <a:ext cx="266273" cy="266273"/>
          </a:xfrm>
          <a:prstGeom prst="rect">
            <a:avLst/>
          </a:prstGeom>
        </p:spPr>
      </p:pic>
      <p:sp>
        <p:nvSpPr>
          <p:cNvPr id="24" name="Text 16"/>
          <p:cNvSpPr txBox="1"/>
          <p:nvPr/>
        </p:nvSpPr>
        <p:spPr>
          <a:xfrm>
            <a:off x="6931152" y="3291840"/>
            <a:ext cx="4663440" cy="777240"/>
          </a:xfrm>
          <a:prstGeom prst="rect">
            <a:avLst/>
          </a:prstGeom>
          <a:noFill/>
          <a:ln/>
        </p:spPr>
        <p:txBody>
          <a:bodyPr wrap="square" lIns="0" tIns="0" rIns="0" bIns="0" rtlCol="0" anchor="ctr"/>
          <a:lstStyle/>
          <a:p>
            <a:pPr indent="0" marL="0">
              <a:buNone/>
            </a:pPr>
            <a:r>
              <a:rPr lang="en-US" sz="1400" b="1" dirty="0">
                <a:solidFill>
                  <a:srgbClr val="16201E"/>
                </a:solidFill>
                <a:latin typeface="Arial" pitchFamily="34" charset="0"/>
                <a:ea typeface="Arial" pitchFamily="34" charset="-122"/>
                <a:cs typeface="Arial" pitchFamily="34" charset="-120"/>
              </a:rPr>
              <a:t>Drop gender, audit errors by group</a:t>
            </a:r>
            <a:endParaRPr lang="en-US" sz="1400" dirty="0"/>
          </a:p>
          <a:p>
            <a:pPr indent="0" marL="0">
              <a:buNone/>
            </a:pPr>
            <a:r>
              <a:rPr lang="en-US" sz="1200" dirty="0">
                <a:solidFill>
                  <a:srgbClr val="5B6663"/>
                </a:solidFill>
                <a:latin typeface="Arial" pitchFamily="34" charset="0"/>
                <a:ea typeface="Arial" pitchFamily="34" charset="-122"/>
                <a:cs typeface="Arial" pitchFamily="34" charset="-120"/>
              </a:rPr>
              <a:t>Compare recall and precision across cities and genders</a:t>
            </a:r>
            <a:endParaRPr lang="en-US" sz="1400" dirty="0"/>
          </a:p>
        </p:txBody>
      </p:sp>
      <p:sp>
        <p:nvSpPr>
          <p:cNvPr id="25" name="Shape 17"/>
          <p:cNvSpPr/>
          <p:nvPr/>
        </p:nvSpPr>
        <p:spPr>
          <a:xfrm>
            <a:off x="6217920" y="4398264"/>
            <a:ext cx="512064" cy="512064"/>
          </a:xfrm>
          <a:prstGeom prst="ellipse">
            <a:avLst/>
          </a:prstGeom>
          <a:solidFill>
            <a:srgbClr val="2E6B5E"/>
          </a:solidFill>
          <a:ln w="12700">
            <a:solidFill>
              <a:srgbClr val="2E6B5E"/>
            </a:solidFill>
            <a:prstDash val="solid"/>
          </a:ln>
        </p:spPr>
      </p:sp>
      <p:pic>
        <p:nvPicPr>
          <p:cNvPr id="26" name="Image 6" descr="preencoded.png">    </p:cNvPr>
          <p:cNvPicPr>
            <a:picLocks noChangeAspect="1"/>
          </p:cNvPicPr>
          <p:nvPr/>
        </p:nvPicPr>
        <p:blipFill>
          <a:blip r:embed="rId7"/>
          <a:stretch>
            <a:fillRect/>
          </a:stretch>
        </p:blipFill>
        <p:spPr>
          <a:xfrm>
            <a:off x="6340815" y="4521159"/>
            <a:ext cx="266273" cy="266273"/>
          </a:xfrm>
          <a:prstGeom prst="rect">
            <a:avLst/>
          </a:prstGeom>
        </p:spPr>
      </p:pic>
      <p:sp>
        <p:nvSpPr>
          <p:cNvPr id="27" name="Text 18"/>
          <p:cNvSpPr txBox="1"/>
          <p:nvPr/>
        </p:nvSpPr>
        <p:spPr>
          <a:xfrm>
            <a:off x="6931152" y="4297680"/>
            <a:ext cx="4663440" cy="777240"/>
          </a:xfrm>
          <a:prstGeom prst="rect">
            <a:avLst/>
          </a:prstGeom>
          <a:noFill/>
          <a:ln/>
        </p:spPr>
        <p:txBody>
          <a:bodyPr wrap="square" lIns="0" tIns="0" rIns="0" bIns="0" rtlCol="0" anchor="ctr"/>
          <a:lstStyle/>
          <a:p>
            <a:pPr indent="0" marL="0">
              <a:buNone/>
            </a:pPr>
            <a:r>
              <a:rPr lang="en-US" sz="1400" b="1" dirty="0">
                <a:solidFill>
                  <a:srgbClr val="16201E"/>
                </a:solidFill>
                <a:latin typeface="Arial" pitchFamily="34" charset="0"/>
                <a:ea typeface="Arial" pitchFamily="34" charset="-122"/>
                <a:cs typeface="Arial" pitchFamily="34" charset="-120"/>
              </a:rPr>
              <a:t>Calibrate, then cost the cut-off</a:t>
            </a:r>
            <a:endParaRPr lang="en-US" sz="1400" dirty="0"/>
          </a:p>
          <a:p>
            <a:pPr indent="0" marL="0">
              <a:buNone/>
            </a:pPr>
            <a:r>
              <a:rPr lang="en-US" sz="1200" dirty="0">
                <a:solidFill>
                  <a:srgbClr val="5B6663"/>
                </a:solidFill>
                <a:latin typeface="Arial" pitchFamily="34" charset="0"/>
                <a:ea typeface="Arial" pitchFamily="34" charset="-122"/>
                <a:cs typeface="Arial" pitchFamily="34" charset="-120"/>
              </a:rPr>
              <a:t>Class weighting inflates scores; calibrate, then pick the threshold from recruiter cost</a:t>
            </a:r>
            <a:endParaRPr lang="en-US" sz="1400" dirty="0"/>
          </a:p>
        </p:txBody>
      </p:sp>
      <p:sp>
        <p:nvSpPr>
          <p:cNvPr id="28" name="Shape 19"/>
          <p:cNvSpPr/>
          <p:nvPr/>
        </p:nvSpPr>
        <p:spPr>
          <a:xfrm>
            <a:off x="6217920" y="5404104"/>
            <a:ext cx="512064" cy="512064"/>
          </a:xfrm>
          <a:prstGeom prst="ellipse">
            <a:avLst/>
          </a:prstGeom>
          <a:solidFill>
            <a:srgbClr val="2E6B5E"/>
          </a:solidFill>
          <a:ln w="12700">
            <a:solidFill>
              <a:srgbClr val="2E6B5E"/>
            </a:solidFill>
            <a:prstDash val="solid"/>
          </a:ln>
        </p:spPr>
      </p:sp>
      <p:pic>
        <p:nvPicPr>
          <p:cNvPr id="29" name="Image 7" descr="preencoded.png">    </p:cNvPr>
          <p:cNvPicPr>
            <a:picLocks noChangeAspect="1"/>
          </p:cNvPicPr>
          <p:nvPr/>
        </p:nvPicPr>
        <p:blipFill>
          <a:blip r:embed="rId8"/>
          <a:stretch>
            <a:fillRect/>
          </a:stretch>
        </p:blipFill>
        <p:spPr>
          <a:xfrm>
            <a:off x="6340815" y="5526999"/>
            <a:ext cx="266273" cy="266273"/>
          </a:xfrm>
          <a:prstGeom prst="rect">
            <a:avLst/>
          </a:prstGeom>
        </p:spPr>
      </p:pic>
      <p:sp>
        <p:nvSpPr>
          <p:cNvPr id="30" name="Text 20"/>
          <p:cNvSpPr txBox="1"/>
          <p:nvPr/>
        </p:nvSpPr>
        <p:spPr>
          <a:xfrm>
            <a:off x="6931152" y="5303520"/>
            <a:ext cx="4663440" cy="777240"/>
          </a:xfrm>
          <a:prstGeom prst="rect">
            <a:avLst/>
          </a:prstGeom>
          <a:noFill/>
          <a:ln/>
        </p:spPr>
        <p:txBody>
          <a:bodyPr wrap="square" lIns="0" tIns="0" rIns="0" bIns="0" rtlCol="0" anchor="ctr"/>
          <a:lstStyle/>
          <a:p>
            <a:pPr indent="0" marL="0">
              <a:buNone/>
            </a:pPr>
            <a:r>
              <a:rPr lang="en-US" sz="1400" b="1" dirty="0">
                <a:solidFill>
                  <a:srgbClr val="16201E"/>
                </a:solidFill>
                <a:latin typeface="Arial" pitchFamily="34" charset="0"/>
                <a:ea typeface="Arial" pitchFamily="34" charset="-122"/>
                <a:cs typeface="Arial" pitchFamily="34" charset="-120"/>
              </a:rPr>
              <a:t>Retrain with every cohort</a:t>
            </a:r>
            <a:endParaRPr lang="en-US" sz="1400" dirty="0"/>
          </a:p>
          <a:p>
            <a:pPr indent="0" marL="0">
              <a:buNone/>
            </a:pPr>
            <a:r>
              <a:rPr lang="en-US" sz="1200" dirty="0">
                <a:solidFill>
                  <a:srgbClr val="5B6663"/>
                </a:solidFill>
                <a:latin typeface="Arial" pitchFamily="34" charset="0"/>
                <a:ea typeface="Arial" pitchFamily="34" charset="-122"/>
                <a:cs typeface="Arial" pitchFamily="34" charset="-120"/>
              </a:rPr>
              <a:t>Track recall and precision against what people actually did</a:t>
            </a:r>
            <a:endParaRPr lang="en-US" sz="1400" dirty="0"/>
          </a:p>
        </p:txBody>
      </p:sp>
      <p:sp>
        <p:nvSpPr>
          <p:cNvPr id="31" name="Text 21"/>
          <p:cNvSpPr txBox="1"/>
          <p:nvPr/>
        </p:nvSpPr>
        <p:spPr>
          <a:xfrm>
            <a:off x="11094415" y="6446520"/>
            <a:ext cx="548640" cy="256032"/>
          </a:xfrm>
          <a:prstGeom prst="rect">
            <a:avLst/>
          </a:prstGeom>
          <a:noFill/>
          <a:ln/>
        </p:spPr>
        <p:txBody>
          <a:bodyPr wrap="square" lIns="0" tIns="0" rIns="0" bIns="0" rtlCol="0" anchor="ctr"/>
          <a:lstStyle/>
          <a:p>
            <a:pPr algn="r" indent="0" marL="0">
              <a:buNone/>
            </a:pPr>
            <a:r>
              <a:rPr lang="en-US" sz="1000" dirty="0">
                <a:solidFill>
                  <a:srgbClr val="5B6663"/>
                </a:solidFill>
                <a:latin typeface="Arial" pitchFamily="34" charset="0"/>
                <a:ea typeface="Arial" pitchFamily="34" charset="-122"/>
                <a:cs typeface="Arial" pitchFamily="34" charset="-120"/>
              </a:rPr>
              <a:t>11</a:t>
            </a:r>
            <a:endParaRPr lang="en-US" sz="10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011326" cy="310896"/>
          </a:xfrm>
          <a:prstGeom prst="roundRect">
            <a:avLst>
              <a:gd name="adj" fmla="val 50000"/>
            </a:avLst>
          </a:prstGeom>
          <a:solidFill>
            <a:srgbClr val="12211F"/>
          </a:solidFill>
          <a:ln w="12700">
            <a:solidFill>
              <a:srgbClr val="12211F"/>
            </a:solidFill>
            <a:prstDash val="solid"/>
          </a:ln>
        </p:spPr>
      </p:sp>
      <p:sp>
        <p:nvSpPr>
          <p:cNvPr id="3" name="Text 1"/>
          <p:cNvSpPr txBox="1"/>
          <p:nvPr/>
        </p:nvSpPr>
        <p:spPr>
          <a:xfrm>
            <a:off x="548640" y="411480"/>
            <a:ext cx="1011326" cy="310896"/>
          </a:xfrm>
          <a:prstGeom prst="rect">
            <a:avLst/>
          </a:prstGeom>
          <a:noFill/>
          <a:ln/>
        </p:spPr>
        <p:txBody>
          <a:bodyPr wrap="square" lIns="0" tIns="0" rIns="0" bIns="0" rtlCol="0" anchor="ctr"/>
          <a:lstStyle/>
          <a:p>
            <a:pPr algn="ctr" indent="0" marL="0">
              <a:buNone/>
            </a:pPr>
            <a:r>
              <a:rPr lang="en-US" sz="1050" b="1" spc="200" kern="0" dirty="0">
                <a:solidFill>
                  <a:srgbClr val="FFFFFF"/>
                </a:solidFill>
                <a:latin typeface="Arial" pitchFamily="34" charset="0"/>
                <a:ea typeface="Arial" pitchFamily="34" charset="-122"/>
                <a:cs typeface="Arial" pitchFamily="34" charset="-120"/>
              </a:rPr>
              <a:t>GROUP 9</a:t>
            </a:r>
            <a:endParaRPr lang="en-US" sz="1050" dirty="0"/>
          </a:p>
        </p:txBody>
      </p:sp>
      <p:sp>
        <p:nvSpPr>
          <p:cNvPr id="4" name="Text 2"/>
          <p:cNvSpPr txBox="1"/>
          <p:nvPr/>
        </p:nvSpPr>
        <p:spPr>
          <a:xfrm>
            <a:off x="548640" y="841248"/>
            <a:ext cx="11094415" cy="914400"/>
          </a:xfrm>
          <a:prstGeom prst="rect">
            <a:avLst/>
          </a:prstGeom>
          <a:noFill/>
          <a:ln/>
        </p:spPr>
        <p:txBody>
          <a:bodyPr wrap="square" lIns="0" tIns="0" rIns="0" bIns="0" rtlCol="0" anchor="t"/>
          <a:lstStyle/>
          <a:p>
            <a:pPr indent="0" marL="0">
              <a:buNone/>
            </a:pPr>
            <a:r>
              <a:rPr lang="en-US" sz="3200" b="1" dirty="0">
                <a:solidFill>
                  <a:srgbClr val="16201E"/>
                </a:solidFill>
                <a:latin typeface="Georgia" pitchFamily="34" charset="0"/>
                <a:ea typeface="Georgia" pitchFamily="34" charset="-122"/>
                <a:cs typeface="Georgia" pitchFamily="34" charset="-120"/>
              </a:rPr>
              <a:t>Who did what</a:t>
            </a:r>
            <a:endParaRPr lang="en-US" sz="3200" dirty="0"/>
          </a:p>
        </p:txBody>
      </p:sp>
      <p:sp>
        <p:nvSpPr>
          <p:cNvPr id="5" name="Shape 3"/>
          <p:cNvSpPr/>
          <p:nvPr/>
        </p:nvSpPr>
        <p:spPr>
          <a:xfrm>
            <a:off x="548640" y="1965960"/>
            <a:ext cx="2103120" cy="3840480"/>
          </a:xfrm>
          <a:prstGeom prst="roundRect">
            <a:avLst>
              <a:gd name="adj" fmla="val 4348"/>
            </a:avLst>
          </a:prstGeom>
          <a:solidFill>
            <a:srgbClr val="F1F4F2"/>
          </a:solidFill>
          <a:ln w="12700">
            <a:solidFill>
              <a:srgbClr val="F1F4F2"/>
            </a:solidFill>
            <a:prstDash val="solid"/>
          </a:ln>
        </p:spPr>
      </p:sp>
      <p:sp>
        <p:nvSpPr>
          <p:cNvPr id="6" name="Shape 4"/>
          <p:cNvSpPr/>
          <p:nvPr/>
        </p:nvSpPr>
        <p:spPr>
          <a:xfrm>
            <a:off x="822960" y="2286000"/>
            <a:ext cx="658368" cy="658368"/>
          </a:xfrm>
          <a:prstGeom prst="ellipse">
            <a:avLst/>
          </a:prstGeom>
          <a:solidFill>
            <a:srgbClr val="2E6B5E"/>
          </a:solidFill>
          <a:ln w="12700">
            <a:solidFill>
              <a:srgbClr val="2E6B5E"/>
            </a:solidFill>
            <a:prstDash val="solid"/>
          </a:ln>
        </p:spPr>
      </p:sp>
      <p:pic>
        <p:nvPicPr>
          <p:cNvPr id="7" name="Image 0" descr="preencoded.png">    </p:cNvPr>
          <p:cNvPicPr>
            <a:picLocks noChangeAspect="1"/>
          </p:cNvPicPr>
          <p:nvPr/>
        </p:nvPicPr>
        <p:blipFill>
          <a:blip r:embed="rId1"/>
          <a:stretch>
            <a:fillRect/>
          </a:stretch>
        </p:blipFill>
        <p:spPr>
          <a:xfrm>
            <a:off x="980968" y="2444008"/>
            <a:ext cx="342351" cy="342351"/>
          </a:xfrm>
          <a:prstGeom prst="rect">
            <a:avLst/>
          </a:prstGeom>
        </p:spPr>
      </p:pic>
      <p:sp>
        <p:nvSpPr>
          <p:cNvPr id="8" name="Text 5"/>
          <p:cNvSpPr txBox="1"/>
          <p:nvPr/>
        </p:nvSpPr>
        <p:spPr>
          <a:xfrm>
            <a:off x="822960" y="3154680"/>
            <a:ext cx="1645920" cy="457200"/>
          </a:xfrm>
          <a:prstGeom prst="rect">
            <a:avLst/>
          </a:prstGeom>
          <a:noFill/>
          <a:ln/>
        </p:spPr>
        <p:txBody>
          <a:bodyPr wrap="square" lIns="0" tIns="0" rIns="0" bIns="0" rtlCol="0" anchor="t"/>
          <a:lstStyle/>
          <a:p>
            <a:pPr indent="0" marL="0">
              <a:buNone/>
            </a:pPr>
            <a:r>
              <a:rPr lang="en-US" sz="2000" b="1" dirty="0">
                <a:solidFill>
                  <a:srgbClr val="16201E"/>
                </a:solidFill>
                <a:latin typeface="Georgia" pitchFamily="34" charset="0"/>
                <a:ea typeface="Georgia" pitchFamily="34" charset="-122"/>
                <a:cs typeface="Georgia" pitchFamily="34" charset="-120"/>
              </a:rPr>
              <a:t>[Name]</a:t>
            </a:r>
            <a:endParaRPr lang="en-US" sz="2000" dirty="0"/>
          </a:p>
        </p:txBody>
      </p:sp>
      <p:sp>
        <p:nvSpPr>
          <p:cNvPr id="9" name="Text 6"/>
          <p:cNvSpPr txBox="1"/>
          <p:nvPr/>
        </p:nvSpPr>
        <p:spPr>
          <a:xfrm>
            <a:off x="822960" y="3630168"/>
            <a:ext cx="1737360" cy="457200"/>
          </a:xfrm>
          <a:prstGeom prst="rect">
            <a:avLst/>
          </a:prstGeom>
          <a:noFill/>
          <a:ln/>
        </p:spPr>
        <p:txBody>
          <a:bodyPr wrap="square" lIns="0" tIns="0" rIns="0" bIns="0" rtlCol="0" anchor="t"/>
          <a:lstStyle/>
          <a:p>
            <a:pPr indent="0" marL="0">
              <a:buNone/>
            </a:pPr>
            <a:r>
              <a:rPr lang="en-US" sz="950" b="1" spc="100" kern="0" dirty="0">
                <a:solidFill>
                  <a:srgbClr val="2E6B5E"/>
                </a:solidFill>
                <a:latin typeface="Arial" pitchFamily="34" charset="0"/>
                <a:ea typeface="Arial" pitchFamily="34" charset="-122"/>
                <a:cs typeface="Arial" pitchFamily="34" charset="-120"/>
              </a:rPr>
              <a:t>THE DETECTIVE</a:t>
            </a:r>
            <a:endParaRPr lang="en-US" sz="950" dirty="0"/>
          </a:p>
          <a:p>
            <a:pPr indent="0" marL="0">
              <a:buNone/>
            </a:pPr>
            <a:r>
              <a:rPr lang="en-US" sz="950" b="1" spc="100" kern="0" dirty="0">
                <a:solidFill>
                  <a:srgbClr val="2E6B5E"/>
                </a:solidFill>
                <a:latin typeface="Arial" pitchFamily="34" charset="0"/>
                <a:ea typeface="Arial" pitchFamily="34" charset="-122"/>
                <a:cs typeface="Arial" pitchFamily="34" charset="-120"/>
              </a:rPr>
              <a:t>PART 1</a:t>
            </a:r>
            <a:endParaRPr lang="en-US" sz="950" dirty="0"/>
          </a:p>
        </p:txBody>
      </p:sp>
      <p:sp>
        <p:nvSpPr>
          <p:cNvPr id="10" name="Text 7"/>
          <p:cNvSpPr txBox="1"/>
          <p:nvPr/>
        </p:nvSpPr>
        <p:spPr>
          <a:xfrm>
            <a:off x="822960" y="4206240"/>
            <a:ext cx="1600200" cy="1463040"/>
          </a:xfrm>
          <a:prstGeom prst="rect">
            <a:avLst/>
          </a:prstGeom>
          <a:noFill/>
          <a:ln/>
        </p:spPr>
        <p:txBody>
          <a:bodyPr wrap="square" lIns="0" tIns="0" rIns="0" bIns="0" rtlCol="0" anchor="t"/>
          <a:lstStyle/>
          <a:p>
            <a:pPr indent="0" marL="0">
              <a:buNone/>
            </a:pPr>
            <a:r>
              <a:rPr lang="en-US" sz="1400" dirty="0">
                <a:solidFill>
                  <a:srgbClr val="16201E"/>
                </a:solidFill>
                <a:latin typeface="Arial" pitchFamily="34" charset="0"/>
                <a:ea typeface="Arial" pitchFamily="34" charset="-122"/>
                <a:cs typeface="Arial" pitchFamily="34" charset="-120"/>
              </a:rPr>
              <a:t>Business question, data understanding and the data dictionary</a:t>
            </a:r>
            <a:endParaRPr lang="en-US" sz="1400" dirty="0"/>
          </a:p>
        </p:txBody>
      </p:sp>
      <p:sp>
        <p:nvSpPr>
          <p:cNvPr id="11" name="Shape 8"/>
          <p:cNvSpPr/>
          <p:nvPr/>
        </p:nvSpPr>
        <p:spPr>
          <a:xfrm>
            <a:off x="2795321" y="1965960"/>
            <a:ext cx="2103120" cy="3840480"/>
          </a:xfrm>
          <a:prstGeom prst="roundRect">
            <a:avLst>
              <a:gd name="adj" fmla="val 4348"/>
            </a:avLst>
          </a:prstGeom>
          <a:solidFill>
            <a:srgbClr val="F1F4F2"/>
          </a:solidFill>
          <a:ln w="12700">
            <a:solidFill>
              <a:srgbClr val="F1F4F2"/>
            </a:solidFill>
            <a:prstDash val="solid"/>
          </a:ln>
        </p:spPr>
      </p:sp>
      <p:sp>
        <p:nvSpPr>
          <p:cNvPr id="12" name="Shape 9"/>
          <p:cNvSpPr/>
          <p:nvPr/>
        </p:nvSpPr>
        <p:spPr>
          <a:xfrm>
            <a:off x="3069641" y="2286000"/>
            <a:ext cx="658368" cy="658368"/>
          </a:xfrm>
          <a:prstGeom prst="ellipse">
            <a:avLst/>
          </a:prstGeom>
          <a:solidFill>
            <a:srgbClr val="2E6B5E"/>
          </a:solidFill>
          <a:ln w="12700">
            <a:solidFill>
              <a:srgbClr val="2E6B5E"/>
            </a:solidFill>
            <a:prstDash val="solid"/>
          </a:ln>
        </p:spPr>
      </p:sp>
      <p:pic>
        <p:nvPicPr>
          <p:cNvPr id="13" name="Image 1" descr="preencoded.png">    </p:cNvPr>
          <p:cNvPicPr>
            <a:picLocks noChangeAspect="1"/>
          </p:cNvPicPr>
          <p:nvPr/>
        </p:nvPicPr>
        <p:blipFill>
          <a:blip r:embed="rId2"/>
          <a:stretch>
            <a:fillRect/>
          </a:stretch>
        </p:blipFill>
        <p:spPr>
          <a:xfrm>
            <a:off x="3227649" y="2444008"/>
            <a:ext cx="342351" cy="342351"/>
          </a:xfrm>
          <a:prstGeom prst="rect">
            <a:avLst/>
          </a:prstGeom>
        </p:spPr>
      </p:pic>
      <p:sp>
        <p:nvSpPr>
          <p:cNvPr id="14" name="Text 10"/>
          <p:cNvSpPr txBox="1"/>
          <p:nvPr/>
        </p:nvSpPr>
        <p:spPr>
          <a:xfrm>
            <a:off x="3069641" y="3154680"/>
            <a:ext cx="1645920" cy="457200"/>
          </a:xfrm>
          <a:prstGeom prst="rect">
            <a:avLst/>
          </a:prstGeom>
          <a:noFill/>
          <a:ln/>
        </p:spPr>
        <p:txBody>
          <a:bodyPr wrap="square" lIns="0" tIns="0" rIns="0" bIns="0" rtlCol="0" anchor="t"/>
          <a:lstStyle/>
          <a:p>
            <a:pPr indent="0" marL="0">
              <a:buNone/>
            </a:pPr>
            <a:r>
              <a:rPr lang="en-US" sz="2000" b="1" dirty="0">
                <a:solidFill>
                  <a:srgbClr val="16201E"/>
                </a:solidFill>
                <a:latin typeface="Georgia" pitchFamily="34" charset="0"/>
                <a:ea typeface="Georgia" pitchFamily="34" charset="-122"/>
                <a:cs typeface="Georgia" pitchFamily="34" charset="-120"/>
              </a:rPr>
              <a:t>[Name]</a:t>
            </a:r>
            <a:endParaRPr lang="en-US" sz="2000" dirty="0"/>
          </a:p>
        </p:txBody>
      </p:sp>
      <p:sp>
        <p:nvSpPr>
          <p:cNvPr id="15" name="Text 11"/>
          <p:cNvSpPr txBox="1"/>
          <p:nvPr/>
        </p:nvSpPr>
        <p:spPr>
          <a:xfrm>
            <a:off x="3069641" y="3630168"/>
            <a:ext cx="1737360" cy="457200"/>
          </a:xfrm>
          <a:prstGeom prst="rect">
            <a:avLst/>
          </a:prstGeom>
          <a:noFill/>
          <a:ln/>
        </p:spPr>
        <p:txBody>
          <a:bodyPr wrap="square" lIns="0" tIns="0" rIns="0" bIns="0" rtlCol="0" anchor="t"/>
          <a:lstStyle/>
          <a:p>
            <a:pPr indent="0" marL="0">
              <a:buNone/>
            </a:pPr>
            <a:r>
              <a:rPr lang="en-US" sz="950" b="1" spc="100" kern="0" dirty="0">
                <a:solidFill>
                  <a:srgbClr val="2E6B5E"/>
                </a:solidFill>
                <a:latin typeface="Arial" pitchFamily="34" charset="0"/>
                <a:ea typeface="Arial" pitchFamily="34" charset="-122"/>
                <a:cs typeface="Arial" pitchFamily="34" charset="-120"/>
              </a:rPr>
              <a:t>THE CLEANER</a:t>
            </a:r>
            <a:endParaRPr lang="en-US" sz="950" dirty="0"/>
          </a:p>
          <a:p>
            <a:pPr indent="0" marL="0">
              <a:buNone/>
            </a:pPr>
            <a:r>
              <a:rPr lang="en-US" sz="950" b="1" spc="100" kern="0" dirty="0">
                <a:solidFill>
                  <a:srgbClr val="2E6B5E"/>
                </a:solidFill>
                <a:latin typeface="Arial" pitchFamily="34" charset="0"/>
                <a:ea typeface="Arial" pitchFamily="34" charset="-122"/>
                <a:cs typeface="Arial" pitchFamily="34" charset="-120"/>
              </a:rPr>
              <a:t>PART 2</a:t>
            </a:r>
            <a:endParaRPr lang="en-US" sz="950" dirty="0"/>
          </a:p>
        </p:txBody>
      </p:sp>
      <p:sp>
        <p:nvSpPr>
          <p:cNvPr id="16" name="Text 12"/>
          <p:cNvSpPr txBox="1"/>
          <p:nvPr/>
        </p:nvSpPr>
        <p:spPr>
          <a:xfrm>
            <a:off x="3069641" y="4206240"/>
            <a:ext cx="1600200" cy="1463040"/>
          </a:xfrm>
          <a:prstGeom prst="rect">
            <a:avLst/>
          </a:prstGeom>
          <a:noFill/>
          <a:ln/>
        </p:spPr>
        <p:txBody>
          <a:bodyPr wrap="square" lIns="0" tIns="0" rIns="0" bIns="0" rtlCol="0" anchor="t"/>
          <a:lstStyle/>
          <a:p>
            <a:pPr indent="0" marL="0">
              <a:buNone/>
            </a:pPr>
            <a:r>
              <a:rPr lang="en-US" sz="1400" dirty="0">
                <a:solidFill>
                  <a:srgbClr val="16201E"/>
                </a:solidFill>
                <a:latin typeface="Arial" pitchFamily="34" charset="0"/>
                <a:ea typeface="Arial" pitchFamily="34" charset="-122"/>
                <a:cs typeface="Arial" pitchFamily="34" charset="-120"/>
              </a:rPr>
              <a:t>Missing values, data cleaning and the encoding pipeline</a:t>
            </a:r>
            <a:endParaRPr lang="en-US" sz="1400" dirty="0"/>
          </a:p>
        </p:txBody>
      </p:sp>
      <p:sp>
        <p:nvSpPr>
          <p:cNvPr id="17" name="Shape 13"/>
          <p:cNvSpPr/>
          <p:nvPr/>
        </p:nvSpPr>
        <p:spPr>
          <a:xfrm>
            <a:off x="5042002" y="1965960"/>
            <a:ext cx="2103120" cy="3840480"/>
          </a:xfrm>
          <a:prstGeom prst="roundRect">
            <a:avLst>
              <a:gd name="adj" fmla="val 4348"/>
            </a:avLst>
          </a:prstGeom>
          <a:solidFill>
            <a:srgbClr val="F1F4F2"/>
          </a:solidFill>
          <a:ln w="12700">
            <a:solidFill>
              <a:srgbClr val="F1F4F2"/>
            </a:solidFill>
            <a:prstDash val="solid"/>
          </a:ln>
        </p:spPr>
      </p:sp>
      <p:sp>
        <p:nvSpPr>
          <p:cNvPr id="18" name="Shape 14"/>
          <p:cNvSpPr/>
          <p:nvPr/>
        </p:nvSpPr>
        <p:spPr>
          <a:xfrm>
            <a:off x="5316322" y="2286000"/>
            <a:ext cx="658368" cy="658368"/>
          </a:xfrm>
          <a:prstGeom prst="ellipse">
            <a:avLst/>
          </a:prstGeom>
          <a:solidFill>
            <a:srgbClr val="2E6B5E"/>
          </a:solidFill>
          <a:ln w="12700">
            <a:solidFill>
              <a:srgbClr val="2E6B5E"/>
            </a:solidFill>
            <a:prstDash val="solid"/>
          </a:ln>
        </p:spPr>
      </p:sp>
      <p:pic>
        <p:nvPicPr>
          <p:cNvPr id="19" name="Image 2" descr="preencoded.png">    </p:cNvPr>
          <p:cNvPicPr>
            <a:picLocks noChangeAspect="1"/>
          </p:cNvPicPr>
          <p:nvPr/>
        </p:nvPicPr>
        <p:blipFill>
          <a:blip r:embed="rId3"/>
          <a:stretch>
            <a:fillRect/>
          </a:stretch>
        </p:blipFill>
        <p:spPr>
          <a:xfrm>
            <a:off x="5474330" y="2444008"/>
            <a:ext cx="342351" cy="342351"/>
          </a:xfrm>
          <a:prstGeom prst="rect">
            <a:avLst/>
          </a:prstGeom>
        </p:spPr>
      </p:pic>
      <p:sp>
        <p:nvSpPr>
          <p:cNvPr id="20" name="Text 15"/>
          <p:cNvSpPr txBox="1"/>
          <p:nvPr/>
        </p:nvSpPr>
        <p:spPr>
          <a:xfrm>
            <a:off x="5316322" y="3154680"/>
            <a:ext cx="1645920" cy="457200"/>
          </a:xfrm>
          <a:prstGeom prst="rect">
            <a:avLst/>
          </a:prstGeom>
          <a:noFill/>
          <a:ln/>
        </p:spPr>
        <p:txBody>
          <a:bodyPr wrap="square" lIns="0" tIns="0" rIns="0" bIns="0" rtlCol="0" anchor="t"/>
          <a:lstStyle/>
          <a:p>
            <a:pPr indent="0" marL="0">
              <a:buNone/>
            </a:pPr>
            <a:r>
              <a:rPr lang="en-US" sz="2000" b="1" dirty="0">
                <a:solidFill>
                  <a:srgbClr val="16201E"/>
                </a:solidFill>
                <a:latin typeface="Georgia" pitchFamily="34" charset="0"/>
                <a:ea typeface="Georgia" pitchFamily="34" charset="-122"/>
                <a:cs typeface="Georgia" pitchFamily="34" charset="-120"/>
              </a:rPr>
              <a:t>[Name]</a:t>
            </a:r>
            <a:endParaRPr lang="en-US" sz="2000" dirty="0"/>
          </a:p>
        </p:txBody>
      </p:sp>
      <p:sp>
        <p:nvSpPr>
          <p:cNvPr id="21" name="Text 16"/>
          <p:cNvSpPr txBox="1"/>
          <p:nvPr/>
        </p:nvSpPr>
        <p:spPr>
          <a:xfrm>
            <a:off x="5316322" y="3630168"/>
            <a:ext cx="1737360" cy="457200"/>
          </a:xfrm>
          <a:prstGeom prst="rect">
            <a:avLst/>
          </a:prstGeom>
          <a:noFill/>
          <a:ln/>
        </p:spPr>
        <p:txBody>
          <a:bodyPr wrap="square" lIns="0" tIns="0" rIns="0" bIns="0" rtlCol="0" anchor="t"/>
          <a:lstStyle/>
          <a:p>
            <a:pPr indent="0" marL="0">
              <a:buNone/>
            </a:pPr>
            <a:r>
              <a:rPr lang="en-US" sz="950" b="1" spc="100" kern="0" dirty="0">
                <a:solidFill>
                  <a:srgbClr val="2E6B5E"/>
                </a:solidFill>
                <a:latin typeface="Arial" pitchFamily="34" charset="0"/>
                <a:ea typeface="Arial" pitchFamily="34" charset="-122"/>
                <a:cs typeface="Arial" pitchFamily="34" charset="-120"/>
              </a:rPr>
              <a:t>THE TRAINER</a:t>
            </a:r>
            <a:endParaRPr lang="en-US" sz="950" dirty="0"/>
          </a:p>
          <a:p>
            <a:pPr indent="0" marL="0">
              <a:buNone/>
            </a:pPr>
            <a:r>
              <a:rPr lang="en-US" sz="950" b="1" spc="100" kern="0" dirty="0">
                <a:solidFill>
                  <a:srgbClr val="2E6B5E"/>
                </a:solidFill>
                <a:latin typeface="Arial" pitchFamily="34" charset="0"/>
                <a:ea typeface="Arial" pitchFamily="34" charset="-122"/>
                <a:cs typeface="Arial" pitchFamily="34" charset="-120"/>
              </a:rPr>
              <a:t>PART 3</a:t>
            </a:r>
            <a:endParaRPr lang="en-US" sz="950" dirty="0"/>
          </a:p>
        </p:txBody>
      </p:sp>
      <p:sp>
        <p:nvSpPr>
          <p:cNvPr id="22" name="Text 17"/>
          <p:cNvSpPr txBox="1"/>
          <p:nvPr/>
        </p:nvSpPr>
        <p:spPr>
          <a:xfrm>
            <a:off x="5316322" y="4206240"/>
            <a:ext cx="1600200" cy="1463040"/>
          </a:xfrm>
          <a:prstGeom prst="rect">
            <a:avLst/>
          </a:prstGeom>
          <a:noFill/>
          <a:ln/>
        </p:spPr>
        <p:txBody>
          <a:bodyPr wrap="square" lIns="0" tIns="0" rIns="0" bIns="0" rtlCol="0" anchor="t"/>
          <a:lstStyle/>
          <a:p>
            <a:pPr indent="0" marL="0">
              <a:buNone/>
            </a:pPr>
            <a:r>
              <a:rPr lang="en-US" sz="1400" dirty="0">
                <a:solidFill>
                  <a:srgbClr val="16201E"/>
                </a:solidFill>
                <a:latin typeface="Arial" pitchFamily="34" charset="0"/>
                <a:ea typeface="Arial" pitchFamily="34" charset="-122"/>
                <a:cs typeface="Arial" pitchFamily="34" charset="-120"/>
              </a:rPr>
              <a:t>Model comparison and hyperparameter tuning</a:t>
            </a:r>
            <a:endParaRPr lang="en-US" sz="1400" dirty="0"/>
          </a:p>
        </p:txBody>
      </p:sp>
      <p:sp>
        <p:nvSpPr>
          <p:cNvPr id="23" name="Shape 18"/>
          <p:cNvSpPr/>
          <p:nvPr/>
        </p:nvSpPr>
        <p:spPr>
          <a:xfrm>
            <a:off x="7288682" y="1965960"/>
            <a:ext cx="2103120" cy="3840480"/>
          </a:xfrm>
          <a:prstGeom prst="roundRect">
            <a:avLst>
              <a:gd name="adj" fmla="val 4348"/>
            </a:avLst>
          </a:prstGeom>
          <a:solidFill>
            <a:srgbClr val="F1F4F2"/>
          </a:solidFill>
          <a:ln w="12700">
            <a:solidFill>
              <a:srgbClr val="F1F4F2"/>
            </a:solidFill>
            <a:prstDash val="solid"/>
          </a:ln>
        </p:spPr>
      </p:sp>
      <p:sp>
        <p:nvSpPr>
          <p:cNvPr id="24" name="Shape 19"/>
          <p:cNvSpPr/>
          <p:nvPr/>
        </p:nvSpPr>
        <p:spPr>
          <a:xfrm>
            <a:off x="7563002" y="2286000"/>
            <a:ext cx="658368" cy="658368"/>
          </a:xfrm>
          <a:prstGeom prst="ellipse">
            <a:avLst/>
          </a:prstGeom>
          <a:solidFill>
            <a:srgbClr val="2E6B5E"/>
          </a:solidFill>
          <a:ln w="12700">
            <a:solidFill>
              <a:srgbClr val="2E6B5E"/>
            </a:solidFill>
            <a:prstDash val="solid"/>
          </a:ln>
        </p:spPr>
      </p:sp>
      <p:pic>
        <p:nvPicPr>
          <p:cNvPr id="25" name="Image 3" descr="preencoded.png">    </p:cNvPr>
          <p:cNvPicPr>
            <a:picLocks noChangeAspect="1"/>
          </p:cNvPicPr>
          <p:nvPr/>
        </p:nvPicPr>
        <p:blipFill>
          <a:blip r:embed="rId4"/>
          <a:stretch>
            <a:fillRect/>
          </a:stretch>
        </p:blipFill>
        <p:spPr>
          <a:xfrm>
            <a:off x="7721011" y="2444008"/>
            <a:ext cx="342351" cy="342351"/>
          </a:xfrm>
          <a:prstGeom prst="rect">
            <a:avLst/>
          </a:prstGeom>
        </p:spPr>
      </p:pic>
      <p:sp>
        <p:nvSpPr>
          <p:cNvPr id="26" name="Text 20"/>
          <p:cNvSpPr txBox="1"/>
          <p:nvPr/>
        </p:nvSpPr>
        <p:spPr>
          <a:xfrm>
            <a:off x="7563002" y="3154680"/>
            <a:ext cx="1645920" cy="457200"/>
          </a:xfrm>
          <a:prstGeom prst="rect">
            <a:avLst/>
          </a:prstGeom>
          <a:noFill/>
          <a:ln/>
        </p:spPr>
        <p:txBody>
          <a:bodyPr wrap="square" lIns="0" tIns="0" rIns="0" bIns="0" rtlCol="0" anchor="t"/>
          <a:lstStyle/>
          <a:p>
            <a:pPr indent="0" marL="0">
              <a:buNone/>
            </a:pPr>
            <a:r>
              <a:rPr lang="en-US" sz="2000" b="1" dirty="0">
                <a:solidFill>
                  <a:srgbClr val="16201E"/>
                </a:solidFill>
                <a:latin typeface="Georgia" pitchFamily="34" charset="0"/>
                <a:ea typeface="Georgia" pitchFamily="34" charset="-122"/>
                <a:cs typeface="Georgia" pitchFamily="34" charset="-120"/>
              </a:rPr>
              <a:t>[Name]</a:t>
            </a:r>
            <a:endParaRPr lang="en-US" sz="2000" dirty="0"/>
          </a:p>
        </p:txBody>
      </p:sp>
      <p:sp>
        <p:nvSpPr>
          <p:cNvPr id="27" name="Text 21"/>
          <p:cNvSpPr txBox="1"/>
          <p:nvPr/>
        </p:nvSpPr>
        <p:spPr>
          <a:xfrm>
            <a:off x="7563002" y="3630168"/>
            <a:ext cx="1737360" cy="457200"/>
          </a:xfrm>
          <a:prstGeom prst="rect">
            <a:avLst/>
          </a:prstGeom>
          <a:noFill/>
          <a:ln/>
        </p:spPr>
        <p:txBody>
          <a:bodyPr wrap="square" lIns="0" tIns="0" rIns="0" bIns="0" rtlCol="0" anchor="t"/>
          <a:lstStyle/>
          <a:p>
            <a:pPr indent="0" marL="0">
              <a:buNone/>
            </a:pPr>
            <a:r>
              <a:rPr lang="en-US" sz="950" b="1" spc="100" kern="0" dirty="0">
                <a:solidFill>
                  <a:srgbClr val="2E6B5E"/>
                </a:solidFill>
                <a:latin typeface="Arial" pitchFamily="34" charset="0"/>
                <a:ea typeface="Arial" pitchFamily="34" charset="-122"/>
                <a:cs typeface="Arial" pitchFamily="34" charset="-120"/>
              </a:rPr>
              <a:t>THE JUDGE</a:t>
            </a:r>
            <a:endParaRPr lang="en-US" sz="950" dirty="0"/>
          </a:p>
          <a:p>
            <a:pPr indent="0" marL="0">
              <a:buNone/>
            </a:pPr>
            <a:r>
              <a:rPr lang="en-US" sz="950" b="1" spc="100" kern="0" dirty="0">
                <a:solidFill>
                  <a:srgbClr val="2E6B5E"/>
                </a:solidFill>
                <a:latin typeface="Arial" pitchFamily="34" charset="0"/>
                <a:ea typeface="Arial" pitchFamily="34" charset="-122"/>
                <a:cs typeface="Arial" pitchFamily="34" charset="-120"/>
              </a:rPr>
              <a:t>PART 3</a:t>
            </a:r>
            <a:endParaRPr lang="en-US" sz="950" dirty="0"/>
          </a:p>
        </p:txBody>
      </p:sp>
      <p:sp>
        <p:nvSpPr>
          <p:cNvPr id="28" name="Text 22"/>
          <p:cNvSpPr txBox="1"/>
          <p:nvPr/>
        </p:nvSpPr>
        <p:spPr>
          <a:xfrm>
            <a:off x="7563002" y="4206240"/>
            <a:ext cx="1600200" cy="1463040"/>
          </a:xfrm>
          <a:prstGeom prst="rect">
            <a:avLst/>
          </a:prstGeom>
          <a:noFill/>
          <a:ln/>
        </p:spPr>
        <p:txBody>
          <a:bodyPr wrap="square" lIns="0" tIns="0" rIns="0" bIns="0" rtlCol="0" anchor="t"/>
          <a:lstStyle/>
          <a:p>
            <a:pPr indent="0" marL="0">
              <a:buNone/>
            </a:pPr>
            <a:r>
              <a:rPr lang="en-US" sz="1400" dirty="0">
                <a:solidFill>
                  <a:srgbClr val="16201E"/>
                </a:solidFill>
                <a:latin typeface="Arial" pitchFamily="34" charset="0"/>
                <a:ea typeface="Arial" pitchFamily="34" charset="-122"/>
                <a:cs typeface="Arial" pitchFamily="34" charset="-120"/>
              </a:rPr>
              <a:t>Test evaluation, thresholds and feature importance</a:t>
            </a:r>
            <a:endParaRPr lang="en-US" sz="1400" dirty="0"/>
          </a:p>
        </p:txBody>
      </p:sp>
      <p:sp>
        <p:nvSpPr>
          <p:cNvPr id="29" name="Shape 23"/>
          <p:cNvSpPr/>
          <p:nvPr/>
        </p:nvSpPr>
        <p:spPr>
          <a:xfrm>
            <a:off x="9535363" y="1965960"/>
            <a:ext cx="2103120" cy="3840480"/>
          </a:xfrm>
          <a:prstGeom prst="roundRect">
            <a:avLst>
              <a:gd name="adj" fmla="val 4348"/>
            </a:avLst>
          </a:prstGeom>
          <a:solidFill>
            <a:srgbClr val="F1F4F2"/>
          </a:solidFill>
          <a:ln w="12700">
            <a:solidFill>
              <a:srgbClr val="F1F4F2"/>
            </a:solidFill>
            <a:prstDash val="solid"/>
          </a:ln>
        </p:spPr>
      </p:sp>
      <p:sp>
        <p:nvSpPr>
          <p:cNvPr id="30" name="Shape 24"/>
          <p:cNvSpPr/>
          <p:nvPr/>
        </p:nvSpPr>
        <p:spPr>
          <a:xfrm>
            <a:off x="9809683" y="2286000"/>
            <a:ext cx="658368" cy="658368"/>
          </a:xfrm>
          <a:prstGeom prst="ellipse">
            <a:avLst/>
          </a:prstGeom>
          <a:solidFill>
            <a:srgbClr val="E4572E"/>
          </a:solidFill>
          <a:ln w="12700">
            <a:solidFill>
              <a:srgbClr val="E4572E"/>
            </a:solidFill>
            <a:prstDash val="solid"/>
          </a:ln>
        </p:spPr>
      </p:sp>
      <p:pic>
        <p:nvPicPr>
          <p:cNvPr id="31" name="Image 4" descr="preencoded.png">    </p:cNvPr>
          <p:cNvPicPr>
            <a:picLocks noChangeAspect="1"/>
          </p:cNvPicPr>
          <p:nvPr/>
        </p:nvPicPr>
        <p:blipFill>
          <a:blip r:embed="rId5"/>
          <a:stretch>
            <a:fillRect/>
          </a:stretch>
        </p:blipFill>
        <p:spPr>
          <a:xfrm>
            <a:off x="9967692" y="2444008"/>
            <a:ext cx="342351" cy="342351"/>
          </a:xfrm>
          <a:prstGeom prst="rect">
            <a:avLst/>
          </a:prstGeom>
        </p:spPr>
      </p:pic>
      <p:sp>
        <p:nvSpPr>
          <p:cNvPr id="32" name="Text 25"/>
          <p:cNvSpPr txBox="1"/>
          <p:nvPr/>
        </p:nvSpPr>
        <p:spPr>
          <a:xfrm>
            <a:off x="9809683" y="3154680"/>
            <a:ext cx="1645920" cy="457200"/>
          </a:xfrm>
          <a:prstGeom prst="rect">
            <a:avLst/>
          </a:prstGeom>
          <a:noFill/>
          <a:ln/>
        </p:spPr>
        <p:txBody>
          <a:bodyPr wrap="square" lIns="0" tIns="0" rIns="0" bIns="0" rtlCol="0" anchor="t"/>
          <a:lstStyle/>
          <a:p>
            <a:pPr indent="0" marL="0">
              <a:buNone/>
            </a:pPr>
            <a:r>
              <a:rPr lang="en-US" sz="2000" b="1" dirty="0">
                <a:solidFill>
                  <a:srgbClr val="16201E"/>
                </a:solidFill>
                <a:latin typeface="Georgia" pitchFamily="34" charset="0"/>
                <a:ea typeface="Georgia" pitchFamily="34" charset="-122"/>
                <a:cs typeface="Georgia" pitchFamily="34" charset="-120"/>
              </a:rPr>
              <a:t>[Name]</a:t>
            </a:r>
            <a:endParaRPr lang="en-US" sz="2000" dirty="0"/>
          </a:p>
        </p:txBody>
      </p:sp>
      <p:sp>
        <p:nvSpPr>
          <p:cNvPr id="33" name="Text 26"/>
          <p:cNvSpPr txBox="1"/>
          <p:nvPr/>
        </p:nvSpPr>
        <p:spPr>
          <a:xfrm>
            <a:off x="9809683" y="3630168"/>
            <a:ext cx="1737360" cy="457200"/>
          </a:xfrm>
          <a:prstGeom prst="rect">
            <a:avLst/>
          </a:prstGeom>
          <a:noFill/>
          <a:ln/>
        </p:spPr>
        <p:txBody>
          <a:bodyPr wrap="square" lIns="0" tIns="0" rIns="0" bIns="0" rtlCol="0" anchor="t"/>
          <a:lstStyle/>
          <a:p>
            <a:pPr indent="0" marL="0">
              <a:buNone/>
            </a:pPr>
            <a:r>
              <a:rPr lang="en-US" sz="950" b="1" spc="100" kern="0" dirty="0">
                <a:solidFill>
                  <a:srgbClr val="E4572E"/>
                </a:solidFill>
                <a:latin typeface="Arial" pitchFamily="34" charset="0"/>
                <a:ea typeface="Arial" pitchFamily="34" charset="-122"/>
                <a:cs typeface="Arial" pitchFamily="34" charset="-120"/>
              </a:rPr>
              <a:t>THE STORYTELLER</a:t>
            </a:r>
            <a:endParaRPr lang="en-US" sz="950" dirty="0"/>
          </a:p>
          <a:p>
            <a:pPr indent="0" marL="0">
              <a:buNone/>
            </a:pPr>
            <a:r>
              <a:rPr lang="en-US" sz="950" b="1" spc="100" kern="0" dirty="0">
                <a:solidFill>
                  <a:srgbClr val="E4572E"/>
                </a:solidFill>
                <a:latin typeface="Arial" pitchFamily="34" charset="0"/>
                <a:ea typeface="Arial" pitchFamily="34" charset="-122"/>
                <a:cs typeface="Arial" pitchFamily="34" charset="-120"/>
              </a:rPr>
              <a:t>PART 4</a:t>
            </a:r>
            <a:endParaRPr lang="en-US" sz="950" dirty="0"/>
          </a:p>
        </p:txBody>
      </p:sp>
      <p:sp>
        <p:nvSpPr>
          <p:cNvPr id="34" name="Text 27"/>
          <p:cNvSpPr txBox="1"/>
          <p:nvPr/>
        </p:nvSpPr>
        <p:spPr>
          <a:xfrm>
            <a:off x="9809683" y="4206240"/>
            <a:ext cx="1600200" cy="1463040"/>
          </a:xfrm>
          <a:prstGeom prst="rect">
            <a:avLst/>
          </a:prstGeom>
          <a:noFill/>
          <a:ln/>
        </p:spPr>
        <p:txBody>
          <a:bodyPr wrap="square" lIns="0" tIns="0" rIns="0" bIns="0" rtlCol="0" anchor="t"/>
          <a:lstStyle/>
          <a:p>
            <a:pPr indent="0" marL="0">
              <a:buNone/>
            </a:pPr>
            <a:r>
              <a:rPr lang="en-US" sz="1400" dirty="0">
                <a:solidFill>
                  <a:srgbClr val="16201E"/>
                </a:solidFill>
                <a:latin typeface="Arial" pitchFamily="34" charset="0"/>
                <a:ea typeface="Arial" pitchFamily="34" charset="-122"/>
                <a:cs typeface="Arial" pitchFamily="34" charset="-120"/>
              </a:rPr>
              <a:t>Conclusions, recommendations and this deck</a:t>
            </a:r>
            <a:endParaRPr lang="en-US" sz="1400" dirty="0"/>
          </a:p>
        </p:txBody>
      </p:sp>
      <p:sp>
        <p:nvSpPr>
          <p:cNvPr id="35" name="Text 28"/>
          <p:cNvSpPr txBox="1"/>
          <p:nvPr/>
        </p:nvSpPr>
        <p:spPr>
          <a:xfrm>
            <a:off x="11094415" y="6446520"/>
            <a:ext cx="548640" cy="256032"/>
          </a:xfrm>
          <a:prstGeom prst="rect">
            <a:avLst/>
          </a:prstGeom>
          <a:noFill/>
          <a:ln/>
        </p:spPr>
        <p:txBody>
          <a:bodyPr wrap="square" lIns="0" tIns="0" rIns="0" bIns="0" rtlCol="0" anchor="ctr"/>
          <a:lstStyle/>
          <a:p>
            <a:pPr algn="r" indent="0" marL="0">
              <a:buNone/>
            </a:pPr>
            <a:r>
              <a:rPr lang="en-US" sz="1000" dirty="0">
                <a:solidFill>
                  <a:srgbClr val="5B6663"/>
                </a:solidFill>
                <a:latin typeface="Arial" pitchFamily="34" charset="0"/>
                <a:ea typeface="Arial" pitchFamily="34" charset="-122"/>
                <a:cs typeface="Arial" pitchFamily="34" charset="-120"/>
              </a:rPr>
              <a:t>12</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is about to leave?</dc:title>
  <dc:subject>PptxGenJS Presentation</dc:subject>
  <dc:creator>Group 9</dc:creator>
  <cp:lastModifiedBy>Group 9</cp:lastModifiedBy>
  <cp:revision>1</cp:revision>
  <dcterms:created xsi:type="dcterms:W3CDTF">2026-09-25T19:41:28Z</dcterms:created>
  <dcterms:modified xsi:type="dcterms:W3CDTF">2026-09-25T19:41:28Z</dcterms:modified>
</cp:coreProperties>
</file>